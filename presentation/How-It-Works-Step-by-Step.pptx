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6402aef-6d06-3d95-be7f-656111e20b0f}">
          <p14:sldIdLst>
            <p14:sldId id="256"/>
            <p14:sldId id="257"/>
            <p14:sldId id="258"/>
          </p14:sldIdLst>
        </p14:section>
        <p14:section name="The seven steps" id="{3d782e81-9a2e-41db-b70e-1ab9e28bd038}">
          <p14:sldIdLst>
            <p14:sldId id="259"/>
            <p14:sldId id="260"/>
            <p14:sldId id="261"/>
            <p14:sldId id="262"/>
            <p14:sldId id="263"/>
            <p14:sldId id="264"/>
            <p14:sldId id="265"/>
            <p14:sldId id="266"/>
            <p14:sldId id="267"/>
          </p14:sldIdLst>
        </p14:section>
        <p14:section name="Putting it together" id="{451bf500-c169-e89b-2471-8d79970fd596}">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
          <c:y val="0.05"/>
          <c:w val="0.94"/>
          <c:h val="0.8"/>
        </c:manualLayout>
      </c:layout>
      <c:lineChart>
        <c:varyColors val="0"/>
        <c:ser>
          <c:idx val="0"/>
          <c:order val="0"/>
          <c:tx>
            <c:strRef>
              <c:f>Sheet1!$B$1</c:f>
              <c:strCache>
                <c:ptCount val="1"/>
                <c:pt idx="0">
                  <c:v>Pay-later R500 voucher · Beta(220, 856)</c:v>
                </c:pt>
              </c:strCache>
            </c:strRef>
          </c:tx>
          <c:spPr>
            <a:solidFill>
              <a:srgbClr val="0D6987"/>
            </a:solidFill>
            <a:ln w="38100" cap="flat">
              <a:solidFill>
                <a:srgbClr val="0D698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6987"/>
              </a:solidFill>
              <a:ln w="9525" cap="flat">
                <a:solidFill>
                  <a:srgbClr val="0D6987"/>
                </a:solidFill>
                <a:prstDash val="solid"/>
                <a:round/>
              </a:ln>
              <a:effectLst/>
            </c:spPr>
          </c:marker>
          <c:cat>
            <c:multiLvlStrRef>
              <c:f>Sheet1!$A$2:$A$72</c:f>
              <c:multiLvlStrCache>
                <c:ptCount val="71"/>
                <c:lvl>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14%</c:v>
                  </c:pt>
                  <c:pt idx="30">
                    <c:v>15%</c:v>
                  </c:pt>
                  <c:pt idx="31">
                    <c:v>16%</c:v>
                  </c:pt>
                  <c:pt idx="32">
                    <c:v>16%</c:v>
                  </c:pt>
                  <c:pt idx="33">
                    <c:v>17%</c:v>
                  </c:pt>
                  <c:pt idx="34">
                    <c:v>17%</c:v>
                  </c:pt>
                  <c:pt idx="35">
                    <c:v>18%</c:v>
                  </c:pt>
                  <c:pt idx="36">
                    <c:v>18%</c:v>
                  </c:pt>
                  <c:pt idx="37">
                    <c:v>19%</c:v>
                  </c:pt>
                  <c:pt idx="38">
                    <c:v>19%</c:v>
                  </c:pt>
                  <c:pt idx="39">
                    <c:v>20%</c:v>
                  </c:pt>
                  <c:pt idx="40">
                    <c:v>20%</c:v>
                  </c:pt>
                  <c:pt idx="41">
                    <c:v>21%</c:v>
                  </c:pt>
                  <c:pt idx="42">
                    <c:v>21%</c:v>
                  </c:pt>
                  <c:pt idx="43">
                    <c:v>22%</c:v>
                  </c:pt>
                  <c:pt idx="44">
                    <c:v>22%</c:v>
                  </c:pt>
                  <c:pt idx="45">
                    <c:v>23%</c:v>
                  </c:pt>
                  <c:pt idx="46">
                    <c:v>23%</c:v>
                  </c:pt>
                  <c:pt idx="47">
                    <c:v>24%</c:v>
                  </c:pt>
                  <c:pt idx="48">
                    <c:v>24%</c:v>
                  </c:pt>
                  <c:pt idx="49">
                    <c:v>25%</c:v>
                  </c:pt>
                  <c:pt idx="50">
                    <c:v>25%</c:v>
                  </c:pt>
                  <c:pt idx="51">
                    <c:v>26%</c:v>
                  </c:pt>
                  <c:pt idx="52">
                    <c:v>26%</c:v>
                  </c:pt>
                  <c:pt idx="53">
                    <c:v>27%</c:v>
                  </c:pt>
                  <c:pt idx="54">
                    <c:v>27%</c:v>
                  </c:pt>
                  <c:pt idx="55">
                    <c:v>28%</c:v>
                  </c:pt>
                  <c:pt idx="56">
                    <c:v>28%</c:v>
                  </c:pt>
                  <c:pt idx="57">
                    <c:v>29%</c:v>
                  </c:pt>
                  <c:pt idx="58">
                    <c:v>29%</c:v>
                  </c:pt>
                  <c:pt idx="59">
                    <c:v>30%</c:v>
                  </c:pt>
                  <c:pt idx="60">
                    <c:v>30%</c:v>
                  </c:pt>
                  <c:pt idx="61">
                    <c:v>31%</c:v>
                  </c:pt>
                  <c:pt idx="62">
                    <c:v>31%</c:v>
                  </c:pt>
                  <c:pt idx="63">
                    <c:v>32%</c:v>
                  </c:pt>
                  <c:pt idx="64">
                    <c:v>32%</c:v>
                  </c:pt>
                  <c:pt idx="65">
                    <c:v>33%</c:v>
                  </c:pt>
                  <c:pt idx="66">
                    <c:v>33%</c:v>
                  </c:pt>
                  <c:pt idx="67">
                    <c:v>34%</c:v>
                  </c:pt>
                  <c:pt idx="68">
                    <c:v>34%</c:v>
                  </c:pt>
                  <c:pt idx="69">
                    <c:v>35%</c:v>
                  </c:pt>
                  <c:pt idx="70">
                    <c:v>35%</c:v>
                  </c:pt>
                </c:lvl>
              </c:multiLvlStrCache>
            </c:multiLvlStrRef>
          </c:cat>
          <c: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0.003</c:v>
                </c:pt>
                <c:pt idx="32">
                  <c:v>0.022</c:v>
                </c:pt>
                <c:pt idx="33">
                  <c:v>0.114</c:v>
                </c:pt>
                <c:pt idx="34">
                  <c:v>0.467</c:v>
                </c:pt>
                <c:pt idx="35">
                  <c:v>1.542</c:v>
                </c:pt>
                <c:pt idx="36">
                  <c:v>4.122</c:v>
                </c:pt>
                <c:pt idx="37">
                  <c:v>9.011</c:v>
                </c:pt>
                <c:pt idx="38">
                  <c:v>16.248</c:v>
                </c:pt>
                <c:pt idx="39">
                  <c:v>24.36</c:v>
                </c:pt>
                <c:pt idx="40">
                  <c:v>30.589</c:v>
                </c:pt>
                <c:pt idx="41">
                  <c:v>32.387</c:v>
                </c:pt>
                <c:pt idx="42">
                  <c:v>29.094</c:v>
                </c:pt>
                <c:pt idx="43">
                  <c:v>22.302</c:v>
                </c:pt>
                <c:pt idx="44">
                  <c:v>14.664</c:v>
                </c:pt>
                <c:pt idx="45">
                  <c:v>8.312</c:v>
                </c:pt>
                <c:pt idx="46">
                  <c:v>4.08</c:v>
                </c:pt>
                <c:pt idx="47">
                  <c:v>1.741</c:v>
                </c:pt>
                <c:pt idx="48">
                  <c:v>0.649</c:v>
                </c:pt>
                <c:pt idx="49">
                  <c:v>0.212</c:v>
                </c:pt>
                <c:pt idx="50">
                  <c:v>0.061</c:v>
                </c:pt>
                <c:pt idx="51">
                  <c:v>0.015</c:v>
                </c:pt>
                <c:pt idx="52">
                  <c:v>0.003</c:v>
                </c:pt>
                <c:pt idx="53">
                  <c:v>0.001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numCache>
            </c:numRef>
          </c:val>
          <c:smooth val="0"/>
        </c:ser>
        <c:ser>
          <c:idx val="1"/>
          <c:order val="1"/>
          <c:tx>
            <c:strRef>
              <c:f>Sheet1!$C$1</c:f>
              <c:strCache>
                <c:ptCount val="1"/>
                <c:pt idx="0">
                  <c:v>20GB data bundle · Beta(63, 395)</c:v>
                </c:pt>
              </c:strCache>
            </c:strRef>
          </c:tx>
          <c:spPr>
            <a:solidFill>
              <a:srgbClr val="5BB6D6"/>
            </a:solidFill>
            <a:ln w="38100" cap="flat">
              <a:solidFill>
                <a:srgbClr val="5BB6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B6D6"/>
              </a:solidFill>
              <a:ln w="9525" cap="flat">
                <a:solidFill>
                  <a:srgbClr val="5BB6D6"/>
                </a:solidFill>
                <a:prstDash val="solid"/>
                <a:round/>
              </a:ln>
              <a:effectLst/>
            </c:spPr>
          </c:marker>
          <c:cat>
            <c:multiLvlStrRef>
              <c:f>Sheet1!$A$2:$A$72</c:f>
              <c:multiLvlStrCache>
                <c:ptCount val="71"/>
                <c:lvl>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14%</c:v>
                  </c:pt>
                  <c:pt idx="30">
                    <c:v>15%</c:v>
                  </c:pt>
                  <c:pt idx="31">
                    <c:v>16%</c:v>
                  </c:pt>
                  <c:pt idx="32">
                    <c:v>16%</c:v>
                  </c:pt>
                  <c:pt idx="33">
                    <c:v>17%</c:v>
                  </c:pt>
                  <c:pt idx="34">
                    <c:v>17%</c:v>
                  </c:pt>
                  <c:pt idx="35">
                    <c:v>18%</c:v>
                  </c:pt>
                  <c:pt idx="36">
                    <c:v>18%</c:v>
                  </c:pt>
                  <c:pt idx="37">
                    <c:v>19%</c:v>
                  </c:pt>
                  <c:pt idx="38">
                    <c:v>19%</c:v>
                  </c:pt>
                  <c:pt idx="39">
                    <c:v>20%</c:v>
                  </c:pt>
                  <c:pt idx="40">
                    <c:v>20%</c:v>
                  </c:pt>
                  <c:pt idx="41">
                    <c:v>21%</c:v>
                  </c:pt>
                  <c:pt idx="42">
                    <c:v>21%</c:v>
                  </c:pt>
                  <c:pt idx="43">
                    <c:v>22%</c:v>
                  </c:pt>
                  <c:pt idx="44">
                    <c:v>22%</c:v>
                  </c:pt>
                  <c:pt idx="45">
                    <c:v>23%</c:v>
                  </c:pt>
                  <c:pt idx="46">
                    <c:v>23%</c:v>
                  </c:pt>
                  <c:pt idx="47">
                    <c:v>24%</c:v>
                  </c:pt>
                  <c:pt idx="48">
                    <c:v>24%</c:v>
                  </c:pt>
                  <c:pt idx="49">
                    <c:v>25%</c:v>
                  </c:pt>
                  <c:pt idx="50">
                    <c:v>25%</c:v>
                  </c:pt>
                  <c:pt idx="51">
                    <c:v>26%</c:v>
                  </c:pt>
                  <c:pt idx="52">
                    <c:v>26%</c:v>
                  </c:pt>
                  <c:pt idx="53">
                    <c:v>27%</c:v>
                  </c:pt>
                  <c:pt idx="54">
                    <c:v>27%</c:v>
                  </c:pt>
                  <c:pt idx="55">
                    <c:v>28%</c:v>
                  </c:pt>
                  <c:pt idx="56">
                    <c:v>28%</c:v>
                  </c:pt>
                  <c:pt idx="57">
                    <c:v>29%</c:v>
                  </c:pt>
                  <c:pt idx="58">
                    <c:v>29%</c:v>
                  </c:pt>
                  <c:pt idx="59">
                    <c:v>30%</c:v>
                  </c:pt>
                  <c:pt idx="60">
                    <c:v>30%</c:v>
                  </c:pt>
                  <c:pt idx="61">
                    <c:v>31%</c:v>
                  </c:pt>
                  <c:pt idx="62">
                    <c:v>31%</c:v>
                  </c:pt>
                  <c:pt idx="63">
                    <c:v>32%</c:v>
                  </c:pt>
                  <c:pt idx="64">
                    <c:v>32%</c:v>
                  </c:pt>
                  <c:pt idx="65">
                    <c:v>33%</c:v>
                  </c:pt>
                  <c:pt idx="66">
                    <c:v>33%</c:v>
                  </c:pt>
                  <c:pt idx="67">
                    <c:v>34%</c:v>
                  </c:pt>
                  <c:pt idx="68">
                    <c:v>34%</c:v>
                  </c:pt>
                  <c:pt idx="69">
                    <c:v>35%</c:v>
                  </c:pt>
                  <c:pt idx="70">
                    <c:v>35%</c:v>
                  </c:pt>
                </c:lvl>
              </c:multiLvlStrCache>
            </c:multiLvlStrRef>
          </c:cat>
          <c:val>
            <c:numRef>
              <c:f>Sheet1!$C$2:$C$72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0.001</c:v>
                </c:pt>
                <c:pt idx="16">
                  <c:v>0.008</c:v>
                </c:pt>
                <c:pt idx="17">
                  <c:v>0.039</c:v>
                </c:pt>
                <c:pt idx="18">
                  <c:v>0.156</c:v>
                </c:pt>
                <c:pt idx="19">
                  <c:v>0.502</c:v>
                </c:pt>
                <c:pt idx="20">
                  <c:v>1.346</c:v>
                </c:pt>
                <c:pt idx="21">
                  <c:v>3.055</c:v>
                </c:pt>
                <c:pt idx="22">
                  <c:v>5.954</c:v>
                </c:pt>
                <c:pt idx="23">
                  <c:v>10.087</c:v>
                </c:pt>
                <c:pt idx="24">
                  <c:v>15.014</c:v>
                </c:pt>
                <c:pt idx="25">
                  <c:v>19.819</c:v>
                </c:pt>
                <c:pt idx="26">
                  <c:v>23.395</c:v>
                </c:pt>
                <c:pt idx="27">
                  <c:v>24.877</c:v>
                </c:pt>
                <c:pt idx="28">
                  <c:v>23.985</c:v>
                </c:pt>
                <c:pt idx="29">
                  <c:v>21.089</c:v>
                </c:pt>
                <c:pt idx="30">
                  <c:v>16.998</c:v>
                </c:pt>
                <c:pt idx="31">
                  <c:v>12.618</c:v>
                </c:pt>
                <c:pt idx="32">
                  <c:v>8.663</c:v>
                </c:pt>
                <c:pt idx="33">
                  <c:v>5.522</c:v>
                </c:pt>
                <c:pt idx="34">
                  <c:v>3.279</c:v>
                </c:pt>
                <c:pt idx="35">
                  <c:v>1.819</c:v>
                </c:pt>
                <c:pt idx="36">
                  <c:v>0.946</c:v>
                </c:pt>
                <c:pt idx="37">
                  <c:v>0.462</c:v>
                </c:pt>
                <c:pt idx="38">
                  <c:v>0.213</c:v>
                </c:pt>
                <c:pt idx="39">
                  <c:v>0.092</c:v>
                </c:pt>
                <c:pt idx="40">
                  <c:v>0.038</c:v>
                </c:pt>
                <c:pt idx="41">
                  <c:v>0.015</c:v>
                </c:pt>
                <c:pt idx="42">
                  <c:v>0.005</c:v>
                </c:pt>
                <c:pt idx="43">
                  <c:v>0.002</c:v>
                </c:pt>
                <c:pt idx="44">
                  <c:v>0.001</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numCache>
            </c:numRef>
          </c:val>
          <c:smooth val="0"/>
        </c:ser>
        <c:ser>
          <c:idx val="2"/>
          <c:order val="2"/>
          <c:tx>
            <c:strRef>
              <c:f>Sheet1!$D$1</c:f>
              <c:strCache>
                <c:ptCount val="1"/>
                <c:pt idx="0">
                  <c:v>SADC roaming pack · Beta(15, 137)</c:v>
                </c:pt>
              </c:strCache>
            </c:strRef>
          </c:tx>
          <c:spPr>
            <a:solidFill>
              <a:srgbClr val="9AA9B4"/>
            </a:solidFill>
            <a:ln w="38100" cap="flat">
              <a:solidFill>
                <a:srgbClr val="9AA9B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9B4"/>
              </a:solidFill>
              <a:ln w="9525" cap="flat">
                <a:solidFill>
                  <a:srgbClr val="9AA9B4"/>
                </a:solidFill>
                <a:prstDash val="solid"/>
                <a:round/>
              </a:ln>
              <a:effectLst/>
            </c:spPr>
          </c:marker>
          <c:cat>
            <c:multiLvlStrRef>
              <c:f>Sheet1!$A$2:$A$72</c:f>
              <c:multiLvlStrCache>
                <c:ptCount val="71"/>
                <c:lvl>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14%</c:v>
                  </c:pt>
                  <c:pt idx="30">
                    <c:v>15%</c:v>
                  </c:pt>
                  <c:pt idx="31">
                    <c:v>16%</c:v>
                  </c:pt>
                  <c:pt idx="32">
                    <c:v>16%</c:v>
                  </c:pt>
                  <c:pt idx="33">
                    <c:v>17%</c:v>
                  </c:pt>
                  <c:pt idx="34">
                    <c:v>17%</c:v>
                  </c:pt>
                  <c:pt idx="35">
                    <c:v>18%</c:v>
                  </c:pt>
                  <c:pt idx="36">
                    <c:v>18%</c:v>
                  </c:pt>
                  <c:pt idx="37">
                    <c:v>19%</c:v>
                  </c:pt>
                  <c:pt idx="38">
                    <c:v>19%</c:v>
                  </c:pt>
                  <c:pt idx="39">
                    <c:v>20%</c:v>
                  </c:pt>
                  <c:pt idx="40">
                    <c:v>20%</c:v>
                  </c:pt>
                  <c:pt idx="41">
                    <c:v>21%</c:v>
                  </c:pt>
                  <c:pt idx="42">
                    <c:v>21%</c:v>
                  </c:pt>
                  <c:pt idx="43">
                    <c:v>22%</c:v>
                  </c:pt>
                  <c:pt idx="44">
                    <c:v>22%</c:v>
                  </c:pt>
                  <c:pt idx="45">
                    <c:v>23%</c:v>
                  </c:pt>
                  <c:pt idx="46">
                    <c:v>23%</c:v>
                  </c:pt>
                  <c:pt idx="47">
                    <c:v>24%</c:v>
                  </c:pt>
                  <c:pt idx="48">
                    <c:v>24%</c:v>
                  </c:pt>
                  <c:pt idx="49">
                    <c:v>25%</c:v>
                  </c:pt>
                  <c:pt idx="50">
                    <c:v>25%</c:v>
                  </c:pt>
                  <c:pt idx="51">
                    <c:v>26%</c:v>
                  </c:pt>
                  <c:pt idx="52">
                    <c:v>26%</c:v>
                  </c:pt>
                  <c:pt idx="53">
                    <c:v>27%</c:v>
                  </c:pt>
                  <c:pt idx="54">
                    <c:v>27%</c:v>
                  </c:pt>
                  <c:pt idx="55">
                    <c:v>28%</c:v>
                  </c:pt>
                  <c:pt idx="56">
                    <c:v>28%</c:v>
                  </c:pt>
                  <c:pt idx="57">
                    <c:v>29%</c:v>
                  </c:pt>
                  <c:pt idx="58">
                    <c:v>29%</c:v>
                  </c:pt>
                  <c:pt idx="59">
                    <c:v>30%</c:v>
                  </c:pt>
                  <c:pt idx="60">
                    <c:v>30%</c:v>
                  </c:pt>
                  <c:pt idx="61">
                    <c:v>31%</c:v>
                  </c:pt>
                  <c:pt idx="62">
                    <c:v>31%</c:v>
                  </c:pt>
                  <c:pt idx="63">
                    <c:v>32%</c:v>
                  </c:pt>
                  <c:pt idx="64">
                    <c:v>32%</c:v>
                  </c:pt>
                  <c:pt idx="65">
                    <c:v>33%</c:v>
                  </c:pt>
                  <c:pt idx="66">
                    <c:v>33%</c:v>
                  </c:pt>
                  <c:pt idx="67">
                    <c:v>34%</c:v>
                  </c:pt>
                  <c:pt idx="68">
                    <c:v>34%</c:v>
                  </c:pt>
                  <c:pt idx="69">
                    <c:v>35%</c:v>
                  </c:pt>
                  <c:pt idx="70">
                    <c:v>35%</c:v>
                  </c:pt>
                </c:lvl>
              </c:multiLvlStrCache>
            </c:multiLvlStrRef>
          </c:cat>
          <c:val>
            <c:numRef>
              <c:f>Sheet1!$D$2:$D$72</c:f>
              <c:numCache>
                <c:formatCode>General</c:formatCode>
                <c:ptCount val="71"/>
                <c:pt idx="0">
                  <c:v>0</c:v>
                </c:pt>
                <c:pt idx="1">
                  <c:v>0</c:v>
                </c:pt>
                <c:pt idx="2">
                  <c:v>0</c:v>
                </c:pt>
                <c:pt idx="3">
                  <c:v>0</c:v>
                </c:pt>
                <c:pt idx="4">
                  <c:v>0</c:v>
                </c:pt>
                <c:pt idx="5">
                  <c:v>0.004</c:v>
                </c:pt>
                <c:pt idx="6">
                  <c:v>0.022</c:v>
                </c:pt>
                <c:pt idx="7">
                  <c:v>0.094</c:v>
                </c:pt>
                <c:pt idx="8">
                  <c:v>0.298</c:v>
                </c:pt>
                <c:pt idx="9">
                  <c:v>0.756</c:v>
                </c:pt>
                <c:pt idx="10">
                  <c:v>1.607</c:v>
                </c:pt>
                <c:pt idx="11">
                  <c:v>2.958</c:v>
                </c:pt>
                <c:pt idx="12">
                  <c:v>4.834</c:v>
                </c:pt>
                <c:pt idx="13">
                  <c:v>7.14</c:v>
                </c:pt>
                <c:pt idx="14">
                  <c:v>9.672</c:v>
                </c:pt>
                <c:pt idx="15">
                  <c:v>12.153</c:v>
                </c:pt>
                <c:pt idx="16">
                  <c:v>14.294</c:v>
                </c:pt>
                <c:pt idx="17">
                  <c:v>15.858</c:v>
                </c:pt>
                <c:pt idx="18">
                  <c:v>16.695</c:v>
                </c:pt>
                <c:pt idx="19">
                  <c:v>16.766</c:v>
                </c:pt>
                <c:pt idx="20">
                  <c:v>16.133</c:v>
                </c:pt>
                <c:pt idx="21">
                  <c:v>14.929</c:v>
                </c:pt>
                <c:pt idx="22">
                  <c:v>13.328</c:v>
                </c:pt>
                <c:pt idx="23">
                  <c:v>11.512</c:v>
                </c:pt>
                <c:pt idx="24">
                  <c:v>9.642</c:v>
                </c:pt>
                <c:pt idx="25">
                  <c:v>7.849</c:v>
                </c:pt>
                <c:pt idx="26">
                  <c:v>6.22</c:v>
                </c:pt>
                <c:pt idx="27">
                  <c:v>4.807</c:v>
                </c:pt>
                <c:pt idx="28">
                  <c:v>3.629</c:v>
                </c:pt>
                <c:pt idx="29">
                  <c:v>2.678</c:v>
                </c:pt>
                <c:pt idx="30">
                  <c:v>1.935</c:v>
                </c:pt>
                <c:pt idx="31">
                  <c:v>1.37</c:v>
                </c:pt>
                <c:pt idx="32">
                  <c:v>0.952</c:v>
                </c:pt>
                <c:pt idx="33">
                  <c:v>0.649</c:v>
                </c:pt>
                <c:pt idx="34">
                  <c:v>0.435</c:v>
                </c:pt>
                <c:pt idx="35">
                  <c:v>0.287</c:v>
                </c:pt>
                <c:pt idx="36">
                  <c:v>0.186</c:v>
                </c:pt>
                <c:pt idx="37">
                  <c:v>0.118</c:v>
                </c:pt>
                <c:pt idx="38">
                  <c:v>0.074</c:v>
                </c:pt>
                <c:pt idx="39">
                  <c:v>0.046</c:v>
                </c:pt>
                <c:pt idx="40">
                  <c:v>0.028</c:v>
                </c:pt>
                <c:pt idx="41">
                  <c:v>0.017</c:v>
                </c:pt>
                <c:pt idx="42">
                  <c:v>0.01</c:v>
                </c:pt>
                <c:pt idx="43">
                  <c:v>0.006</c:v>
                </c:pt>
                <c:pt idx="44">
                  <c:v>0.003</c:v>
                </c:pt>
                <c:pt idx="45">
                  <c:v>0.002</c:v>
                </c:pt>
                <c:pt idx="46">
                  <c:v>0.001</c:v>
                </c:pt>
                <c:pt idx="47">
                  <c:v>0.001</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numCache>
            </c:numRef>
          </c:val>
          <c:smooth val="0"/>
        </c:ser>
        <c:ser>
          <c:idx val="3"/>
          <c:order val="3"/>
          <c:tx>
            <c:strRef>
              <c:f>Sheet1!$E$1</c:f>
              <c:strCache>
                <c:ptCount val="1"/>
                <c:pt idx="0">
                  <c:v>Smartphone insurance · Beta(6, 83)</c:v>
                </c:pt>
              </c:strCache>
            </c:strRef>
          </c:tx>
          <c:spPr>
            <a:solidFill>
              <a:srgbClr val="D98E2B"/>
            </a:solidFill>
            <a:ln w="38100" cap="flat">
              <a:solidFill>
                <a:srgbClr val="D98E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E2B"/>
              </a:solidFill>
              <a:ln w="9525" cap="flat">
                <a:solidFill>
                  <a:srgbClr val="D98E2B"/>
                </a:solidFill>
                <a:prstDash val="solid"/>
                <a:round/>
              </a:ln>
              <a:effectLst/>
            </c:spPr>
          </c:marker>
          <c:cat>
            <c:multiLvlStrRef>
              <c:f>Sheet1!$A$2:$A$72</c:f>
              <c:multiLvlStrCache>
                <c:ptCount val="71"/>
                <c:lvl>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14%</c:v>
                  </c:pt>
                  <c:pt idx="30">
                    <c:v>15%</c:v>
                  </c:pt>
                  <c:pt idx="31">
                    <c:v>16%</c:v>
                  </c:pt>
                  <c:pt idx="32">
                    <c:v>16%</c:v>
                  </c:pt>
                  <c:pt idx="33">
                    <c:v>17%</c:v>
                  </c:pt>
                  <c:pt idx="34">
                    <c:v>17%</c:v>
                  </c:pt>
                  <c:pt idx="35">
                    <c:v>18%</c:v>
                  </c:pt>
                  <c:pt idx="36">
                    <c:v>18%</c:v>
                  </c:pt>
                  <c:pt idx="37">
                    <c:v>19%</c:v>
                  </c:pt>
                  <c:pt idx="38">
                    <c:v>19%</c:v>
                  </c:pt>
                  <c:pt idx="39">
                    <c:v>20%</c:v>
                  </c:pt>
                  <c:pt idx="40">
                    <c:v>20%</c:v>
                  </c:pt>
                  <c:pt idx="41">
                    <c:v>21%</c:v>
                  </c:pt>
                  <c:pt idx="42">
                    <c:v>21%</c:v>
                  </c:pt>
                  <c:pt idx="43">
                    <c:v>22%</c:v>
                  </c:pt>
                  <c:pt idx="44">
                    <c:v>22%</c:v>
                  </c:pt>
                  <c:pt idx="45">
                    <c:v>23%</c:v>
                  </c:pt>
                  <c:pt idx="46">
                    <c:v>23%</c:v>
                  </c:pt>
                  <c:pt idx="47">
                    <c:v>24%</c:v>
                  </c:pt>
                  <c:pt idx="48">
                    <c:v>24%</c:v>
                  </c:pt>
                  <c:pt idx="49">
                    <c:v>25%</c:v>
                  </c:pt>
                  <c:pt idx="50">
                    <c:v>25%</c:v>
                  </c:pt>
                  <c:pt idx="51">
                    <c:v>26%</c:v>
                  </c:pt>
                  <c:pt idx="52">
                    <c:v>26%</c:v>
                  </c:pt>
                  <c:pt idx="53">
                    <c:v>27%</c:v>
                  </c:pt>
                  <c:pt idx="54">
                    <c:v>27%</c:v>
                  </c:pt>
                  <c:pt idx="55">
                    <c:v>28%</c:v>
                  </c:pt>
                  <c:pt idx="56">
                    <c:v>28%</c:v>
                  </c:pt>
                  <c:pt idx="57">
                    <c:v>29%</c:v>
                  </c:pt>
                  <c:pt idx="58">
                    <c:v>29%</c:v>
                  </c:pt>
                  <c:pt idx="59">
                    <c:v>30%</c:v>
                  </c:pt>
                  <c:pt idx="60">
                    <c:v>30%</c:v>
                  </c:pt>
                  <c:pt idx="61">
                    <c:v>31%</c:v>
                  </c:pt>
                  <c:pt idx="62">
                    <c:v>31%</c:v>
                  </c:pt>
                  <c:pt idx="63">
                    <c:v>32%</c:v>
                  </c:pt>
                  <c:pt idx="64">
                    <c:v>32%</c:v>
                  </c:pt>
                  <c:pt idx="65">
                    <c:v>33%</c:v>
                  </c:pt>
                  <c:pt idx="66">
                    <c:v>33%</c:v>
                  </c:pt>
                  <c:pt idx="67">
                    <c:v>34%</c:v>
                  </c:pt>
                  <c:pt idx="68">
                    <c:v>34%</c:v>
                  </c:pt>
                  <c:pt idx="69">
                    <c:v>35%</c:v>
                  </c:pt>
                  <c:pt idx="70">
                    <c:v>35%</c:v>
                  </c:pt>
                </c:lvl>
              </c:multiLvlStrCache>
            </c:multiLvlStrRef>
          </c:cat>
          <c:val>
            <c:numRef>
              <c:f>Sheet1!$E$2:$E$72</c:f>
              <c:numCache>
                <c:formatCode>General</c:formatCode>
                <c:ptCount val="71"/>
                <c:pt idx="0">
                  <c:v>0</c:v>
                </c:pt>
                <c:pt idx="1">
                  <c:v>0.002</c:v>
                </c:pt>
                <c:pt idx="2">
                  <c:v>0.064</c:v>
                </c:pt>
                <c:pt idx="3">
                  <c:v>0.382</c:v>
                </c:pt>
                <c:pt idx="4">
                  <c:v>1.199</c:v>
                </c:pt>
                <c:pt idx="5">
                  <c:v>2.648</c:v>
                </c:pt>
                <c:pt idx="6">
                  <c:v>4.676</c:v>
                </c:pt>
                <c:pt idx="7">
                  <c:v>7.068</c:v>
                </c:pt>
                <c:pt idx="8">
                  <c:v>9.533</c:v>
                </c:pt>
                <c:pt idx="9">
                  <c:v>11.777</c:v>
                </c:pt>
                <c:pt idx="10">
                  <c:v>13.57</c:v>
                </c:pt>
                <c:pt idx="11">
                  <c:v>14.772</c:v>
                </c:pt>
                <c:pt idx="12">
                  <c:v>15.337</c:v>
                </c:pt>
                <c:pt idx="13">
                  <c:v>15.297</c:v>
                </c:pt>
                <c:pt idx="14">
                  <c:v>14.739</c:v>
                </c:pt>
                <c:pt idx="15">
                  <c:v>13.779</c:v>
                </c:pt>
                <c:pt idx="16">
                  <c:v>12.544</c:v>
                </c:pt>
                <c:pt idx="17">
                  <c:v>11.153</c:v>
                </c:pt>
                <c:pt idx="18">
                  <c:v>9.707</c:v>
                </c:pt>
                <c:pt idx="19">
                  <c:v>8.287</c:v>
                </c:pt>
                <c:pt idx="20">
                  <c:v>6.952</c:v>
                </c:pt>
                <c:pt idx="21">
                  <c:v>5.739</c:v>
                </c:pt>
                <c:pt idx="22">
                  <c:v>4.668</c:v>
                </c:pt>
                <c:pt idx="23">
                  <c:v>3.744</c:v>
                </c:pt>
                <c:pt idx="24">
                  <c:v>2.965</c:v>
                </c:pt>
                <c:pt idx="25">
                  <c:v>2.32</c:v>
                </c:pt>
                <c:pt idx="26">
                  <c:v>1.794</c:v>
                </c:pt>
                <c:pt idx="27">
                  <c:v>1.373</c:v>
                </c:pt>
                <c:pt idx="28">
                  <c:v>1.04</c:v>
                </c:pt>
                <c:pt idx="29">
                  <c:v>0.78</c:v>
                </c:pt>
                <c:pt idx="30">
                  <c:v>0.58</c:v>
                </c:pt>
                <c:pt idx="31">
                  <c:v>0.427</c:v>
                </c:pt>
                <c:pt idx="32">
                  <c:v>0.312</c:v>
                </c:pt>
                <c:pt idx="33">
                  <c:v>0.226</c:v>
                </c:pt>
                <c:pt idx="34">
                  <c:v>0.162</c:v>
                </c:pt>
                <c:pt idx="35">
                  <c:v>0.116</c:v>
                </c:pt>
                <c:pt idx="36">
                  <c:v>0.082</c:v>
                </c:pt>
                <c:pt idx="37">
                  <c:v>0.058</c:v>
                </c:pt>
                <c:pt idx="38">
                  <c:v>0.04</c:v>
                </c:pt>
                <c:pt idx="39">
                  <c:v>0.028</c:v>
                </c:pt>
                <c:pt idx="40">
                  <c:v>0.019</c:v>
                </c:pt>
                <c:pt idx="41">
                  <c:v>0.013</c:v>
                </c:pt>
                <c:pt idx="42">
                  <c:v>0.009</c:v>
                </c:pt>
                <c:pt idx="43">
                  <c:v>0.006</c:v>
                </c:pt>
                <c:pt idx="44">
                  <c:v>0.004</c:v>
                </c:pt>
                <c:pt idx="45">
                  <c:v>0.003</c:v>
                </c:pt>
                <c:pt idx="46">
                  <c:v>0.002</c:v>
                </c:pt>
                <c:pt idx="47">
                  <c:v>0.001</c:v>
                </c:pt>
                <c:pt idx="48">
                  <c:v>0.001</c:v>
                </c:pt>
                <c:pt idx="49">
                  <c:v>0.001</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66773"/>
                    </a:solidFill>
                    <a:latin typeface="Arial"/>
                  </a:defRPr>
                </a:pPr>
                <a:r>
                  <a:rPr sz="1100" b="0" i="0" u="none" strike="noStrike">
                    <a:solidFill>
                      <a:srgbClr val="566773"/>
                    </a:solidFill>
                    <a:latin typeface="Arial"/>
                  </a:rPr>
                  <a:t>take-up rate</a:t>
                </a:r>
              </a:p>
            </c:rich>
          </c:tx>
          <c:layout/>
          <c:overlay val="0"/>
        </c:title>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tickLblSkip val="10"/>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
          <c:y val="0.05"/>
          <c:w val="0.94"/>
          <c:h val="0.8"/>
        </c:manualLayout>
      </c:layout>
      <c:lineChart>
        <c:varyColors val="0"/>
        <c:ser>
          <c:idx val="0"/>
          <c:order val="0"/>
          <c:tx>
            <c:strRef>
              <c:f>Sheet1!$B$1</c:f>
              <c:strCache>
                <c:ptCount val="1"/>
                <c:pt idx="0">
                  <c:v>Weight of one response</c:v>
                </c:pt>
              </c:strCache>
            </c:strRef>
          </c:tx>
          <c:spPr>
            <a:solidFill>
              <a:srgbClr val="0D6987"/>
            </a:solidFill>
            <a:ln w="44450" cap="flat">
              <a:solidFill>
                <a:srgbClr val="0D698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6987"/>
              </a:solidFill>
              <a:ln w="9525" cap="flat">
                <a:solidFill>
                  <a:srgbClr val="0D6987"/>
                </a:solidFill>
                <a:prstDash val="solid"/>
                <a:round/>
              </a:ln>
              <a:effectLst/>
            </c:spPr>
          </c:marker>
          <c:cat>
            <c:multiLvlStrRef>
              <c:f>Sheet1!$A$2:$A$62</c:f>
              <c:multiLvlStrCache>
                <c:ptCount val="61"/>
                <c:lvl>
                  <c:pt idx="0">
                    <c:v>0</c:v>
                  </c:pt>
                  <c:pt idx="1">
                    <c:v>0.25k</c:v>
                  </c:pt>
                  <c:pt idx="2">
                    <c:v>0.5k</c:v>
                  </c:pt>
                  <c:pt idx="3">
                    <c:v>0.75k</c:v>
                  </c:pt>
                  <c:pt idx="4">
                    <c:v>1k</c:v>
                  </c:pt>
                  <c:pt idx="5">
                    <c:v>1.25k</c:v>
                  </c:pt>
                  <c:pt idx="6">
                    <c:v>1.5k</c:v>
                  </c:pt>
                  <c:pt idx="7">
                    <c:v>1.75k</c:v>
                  </c:pt>
                  <c:pt idx="8">
                    <c:v>2k</c:v>
                  </c:pt>
                  <c:pt idx="9">
                    <c:v>2.25k</c:v>
                  </c:pt>
                  <c:pt idx="10">
                    <c:v>2.5k</c:v>
                  </c:pt>
                  <c:pt idx="11">
                    <c:v>2.75k</c:v>
                  </c:pt>
                  <c:pt idx="12">
                    <c:v>3k</c:v>
                  </c:pt>
                  <c:pt idx="13">
                    <c:v>3.25k</c:v>
                  </c:pt>
                  <c:pt idx="14">
                    <c:v>3.5k</c:v>
                  </c:pt>
                  <c:pt idx="15">
                    <c:v>3.75k</c:v>
                  </c:pt>
                  <c:pt idx="16">
                    <c:v>4k</c:v>
                  </c:pt>
                  <c:pt idx="17">
                    <c:v>4.25k</c:v>
                  </c:pt>
                  <c:pt idx="18">
                    <c:v>4.5k</c:v>
                  </c:pt>
                  <c:pt idx="19">
                    <c:v>4.75k</c:v>
                  </c:pt>
                  <c:pt idx="20">
                    <c:v>5k</c:v>
                  </c:pt>
                  <c:pt idx="21">
                    <c:v>5.25k</c:v>
                  </c:pt>
                  <c:pt idx="22">
                    <c:v>5.5k</c:v>
                  </c:pt>
                  <c:pt idx="23">
                    <c:v>5.75k</c:v>
                  </c:pt>
                  <c:pt idx="24">
                    <c:v>6k</c:v>
                  </c:pt>
                  <c:pt idx="25">
                    <c:v>6.25k</c:v>
                  </c:pt>
                  <c:pt idx="26">
                    <c:v>6.5k</c:v>
                  </c:pt>
                  <c:pt idx="27">
                    <c:v>6.75k</c:v>
                  </c:pt>
                  <c:pt idx="28">
                    <c:v>7k</c:v>
                  </c:pt>
                  <c:pt idx="29">
                    <c:v>7.25k</c:v>
                  </c:pt>
                  <c:pt idx="30">
                    <c:v>7.5k</c:v>
                  </c:pt>
                  <c:pt idx="31">
                    <c:v>7.75k</c:v>
                  </c:pt>
                  <c:pt idx="32">
                    <c:v>8k</c:v>
                  </c:pt>
                  <c:pt idx="33">
                    <c:v>8.25k</c:v>
                  </c:pt>
                  <c:pt idx="34">
                    <c:v>8.5k</c:v>
                  </c:pt>
                  <c:pt idx="35">
                    <c:v>8.75k</c:v>
                  </c:pt>
                  <c:pt idx="36">
                    <c:v>9k</c:v>
                  </c:pt>
                  <c:pt idx="37">
                    <c:v>9.25k</c:v>
                  </c:pt>
                  <c:pt idx="38">
                    <c:v>9.5k</c:v>
                  </c:pt>
                  <c:pt idx="39">
                    <c:v>9.75k</c:v>
                  </c:pt>
                  <c:pt idx="40">
                    <c:v>10k</c:v>
                  </c:pt>
                  <c:pt idx="41">
                    <c:v>10.25k</c:v>
                  </c:pt>
                  <c:pt idx="42">
                    <c:v>10.5k</c:v>
                  </c:pt>
                  <c:pt idx="43">
                    <c:v>10.75k</c:v>
                  </c:pt>
                  <c:pt idx="44">
                    <c:v>11k</c:v>
                  </c:pt>
                  <c:pt idx="45">
                    <c:v>11.25k</c:v>
                  </c:pt>
                  <c:pt idx="46">
                    <c:v>11.5k</c:v>
                  </c:pt>
                  <c:pt idx="47">
                    <c:v>11.75k</c:v>
                  </c:pt>
                  <c:pt idx="48">
                    <c:v>12k</c:v>
                  </c:pt>
                  <c:pt idx="49">
                    <c:v>12.25k</c:v>
                  </c:pt>
                  <c:pt idx="50">
                    <c:v>12.5k</c:v>
                  </c:pt>
                  <c:pt idx="51">
                    <c:v>12.75k</c:v>
                  </c:pt>
                  <c:pt idx="52">
                    <c:v>13k</c:v>
                  </c:pt>
                  <c:pt idx="53">
                    <c:v>13.25k</c:v>
                  </c:pt>
                  <c:pt idx="54">
                    <c:v>13.5k</c:v>
                  </c:pt>
                  <c:pt idx="55">
                    <c:v>13.75k</c:v>
                  </c:pt>
                  <c:pt idx="56">
                    <c:v>14k</c:v>
                  </c:pt>
                  <c:pt idx="57">
                    <c:v>14.25k</c:v>
                  </c:pt>
                  <c:pt idx="58">
                    <c:v>14.5k</c:v>
                  </c:pt>
                  <c:pt idx="59">
                    <c:v>14.75k</c:v>
                  </c:pt>
                  <c:pt idx="60">
                    <c:v>15k</c:v>
                  </c:pt>
                </c:lvl>
              </c:multiLvlStrCache>
            </c:multiLvlStrRef>
          </c:cat>
          <c:val>
            <c:numRef>
              <c:f>Sheet1!$B$2:$B$62</c:f>
              <c:numCache>
                <c:formatCode>General</c:formatCode>
                <c:ptCount val="61"/>
                <c:pt idx="0">
                  <c:v>100</c:v>
                </c:pt>
                <c:pt idx="1">
                  <c:v>95.12</c:v>
                </c:pt>
                <c:pt idx="2">
                  <c:v>90.48</c:v>
                </c:pt>
                <c:pt idx="3">
                  <c:v>86.07</c:v>
                </c:pt>
                <c:pt idx="4">
                  <c:v>81.87</c:v>
                </c:pt>
                <c:pt idx="5">
                  <c:v>77.88</c:v>
                </c:pt>
                <c:pt idx="6">
                  <c:v>74.08</c:v>
                </c:pt>
                <c:pt idx="7">
                  <c:v>70.47</c:v>
                </c:pt>
                <c:pt idx="8">
                  <c:v>67.03</c:v>
                </c:pt>
                <c:pt idx="9">
                  <c:v>63.76</c:v>
                </c:pt>
                <c:pt idx="10">
                  <c:v>60.65</c:v>
                </c:pt>
                <c:pt idx="11">
                  <c:v>57.69</c:v>
                </c:pt>
                <c:pt idx="12">
                  <c:v>54.88</c:v>
                </c:pt>
                <c:pt idx="13">
                  <c:v>52.2</c:v>
                </c:pt>
                <c:pt idx="14">
                  <c:v>49.66</c:v>
                </c:pt>
                <c:pt idx="15">
                  <c:v>47.23</c:v>
                </c:pt>
                <c:pt idx="16">
                  <c:v>44.93</c:v>
                </c:pt>
                <c:pt idx="17">
                  <c:v>42.74</c:v>
                </c:pt>
                <c:pt idx="18">
                  <c:v>40.65</c:v>
                </c:pt>
                <c:pt idx="19">
                  <c:v>38.67</c:v>
                </c:pt>
                <c:pt idx="20">
                  <c:v>36.78</c:v>
                </c:pt>
                <c:pt idx="21">
                  <c:v>34.99</c:v>
                </c:pt>
                <c:pt idx="22">
                  <c:v>33.28</c:v>
                </c:pt>
                <c:pt idx="23">
                  <c:v>31.66</c:v>
                </c:pt>
                <c:pt idx="24">
                  <c:v>30.12</c:v>
                </c:pt>
                <c:pt idx="25">
                  <c:v>28.65</c:v>
                </c:pt>
                <c:pt idx="26">
                  <c:v>27.25</c:v>
                </c:pt>
                <c:pt idx="27">
                  <c:v>25.92</c:v>
                </c:pt>
                <c:pt idx="28">
                  <c:v>24.66</c:v>
                </c:pt>
                <c:pt idx="29">
                  <c:v>23.45</c:v>
                </c:pt>
                <c:pt idx="30">
                  <c:v>22.31</c:v>
                </c:pt>
                <c:pt idx="31">
                  <c:v>21.22</c:v>
                </c:pt>
                <c:pt idx="32">
                  <c:v>20.19</c:v>
                </c:pt>
                <c:pt idx="33">
                  <c:v>19.2</c:v>
                </c:pt>
                <c:pt idx="34">
                  <c:v>18.27</c:v>
                </c:pt>
                <c:pt idx="35">
                  <c:v>17.37</c:v>
                </c:pt>
                <c:pt idx="36">
                  <c:v>16.53</c:v>
                </c:pt>
                <c:pt idx="37">
                  <c:v>15.72</c:v>
                </c:pt>
                <c:pt idx="38">
                  <c:v>14.95</c:v>
                </c:pt>
                <c:pt idx="39">
                  <c:v>14.22</c:v>
                </c:pt>
                <c:pt idx="40">
                  <c:v>13.53</c:v>
                </c:pt>
                <c:pt idx="41">
                  <c:v>12.87</c:v>
                </c:pt>
                <c:pt idx="42">
                  <c:v>12.24</c:v>
                </c:pt>
                <c:pt idx="43">
                  <c:v>11.65</c:v>
                </c:pt>
                <c:pt idx="44">
                  <c:v>11.08</c:v>
                </c:pt>
                <c:pt idx="45">
                  <c:v>10.54</c:v>
                </c:pt>
                <c:pt idx="46">
                  <c:v>10.02</c:v>
                </c:pt>
                <c:pt idx="47">
                  <c:v>9.53</c:v>
                </c:pt>
                <c:pt idx="48">
                  <c:v>9.07</c:v>
                </c:pt>
                <c:pt idx="49">
                  <c:v>8.63</c:v>
                </c:pt>
                <c:pt idx="50">
                  <c:v>8.21</c:v>
                </c:pt>
                <c:pt idx="51">
                  <c:v>7.81</c:v>
                </c:pt>
                <c:pt idx="52">
                  <c:v>7.43</c:v>
                </c:pt>
                <c:pt idx="53">
                  <c:v>7.06</c:v>
                </c:pt>
                <c:pt idx="54">
                  <c:v>6.72</c:v>
                </c:pt>
                <c:pt idx="55">
                  <c:v>6.39</c:v>
                </c:pt>
                <c:pt idx="56">
                  <c:v>6.08</c:v>
                </c:pt>
                <c:pt idx="57">
                  <c:v>5.78</c:v>
                </c:pt>
                <c:pt idx="58">
                  <c:v>5.5</c:v>
                </c:pt>
                <c:pt idx="59">
                  <c:v>5.23</c:v>
                </c:pt>
                <c:pt idx="60">
                  <c:v>4.98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66773"/>
                    </a:solidFill>
                    <a:latin typeface="Arial"/>
                  </a:defRPr>
                </a:pPr>
                <a:r>
                  <a:rPr sz="1100" b="0" i="0" u="none" strike="noStrike">
                    <a:solidFill>
                      <a:srgbClr val="566773"/>
                    </a:solidFill>
                    <a:latin typeface="Arial"/>
                  </a:rPr>
                  <a:t>later updates in the same segment</a:t>
                </a:r>
              </a:p>
            </c:rich>
          </c:tx>
          <c:layout/>
          <c:overlay val="0"/>
        </c:title>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tickLblSkip val="10"/>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follows a single app open through the system, slowly. For each of the seven steps there are three layers: what happens in plain words, what actually happens in the code and the database, and why it was built that way.
Everything is real: a customer called C00042 opened the app on a Wednesday evening, the API ranked offers, the customer took one up, and the model learned. The numbers on the slides are what the system actually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analogy throughout. The assistant is the API. The notebook is the options store: one page per segment, one line per offer. The receipt book is the event log. The regulars' file is the customers table.
For technical listeners, the right-hand column names the real mechanism for each step. For non-technical listeners, the left-hand column is enough to follow the whole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app and the API talk over HTTP. The API reads and writes three tables in one database.
Two of those hold the learning (in blue): the options store is the model itself, a belief for every segment and offer; the event log is the record of everything that happened, which the model is derived from. The customers table is just the profiles.
Because the beliefs live in the shared database rather than inside the API process, any copy of the API sees the same model, and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the app only says who is here and asks for offers.
Go deeper: it's an HTTP POST with a small JSON body. Pydantic validates it, and unknown fields are rejected rather than ignored, so a typo fails loudly. The policy defaults to the configured serving policy, thompson_segment_decay; ?policy= lets an A/B test route traffic to another one, and that policy then learns only from its own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it looks the customer up, checks the time, and works out whether it's payday week for them.
Go deeper: one primary-key lookup in the customers table gives the static profile. The moment comes from the server clock in Africa/Johannesburg: day of week, a time-of-day bucket (morning 5 to 12, afternoon 12 to 17, evening 17 to 22, night otherwise), and payday week, which depends on the segment. The two are combined into one Context object. Then the offers are filtered to those this segment is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it makes a guess for each offer, bolder where it's unsure, and shows the three best guesses.
Go deeper: the policy pools evidence per segment, so the context key is 'small_business'. It reads that segment's beliefs from the options store: one Beta(alpha, beta) distribution per offer. It draws one random sample from each and sorts. This is Thompson sampling: an offer is shown first roughly as often as it might be the best.
In this real app open, pay-later drew 22.7%, 20GB data 18.3% and smartphone insurance 12.6%, beating three offers with higher averages, because its belief is wide. A per-policy lock guards the draws, because NumPy's random generators aren't thread-safe.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the model doesn't hold one number per offer, it holds a range of plausible values. Narrow means sure, wide means unsure. A guess is a random pick from that range.
Go deeper: each curve is a Beta distribution. Pay-later's is tall and narrow around 20%: about 1,074 responses' worth of evidence. Insurance's is low and wide: about 87. The dots are this app open's actual draws. Insurance's draw landed out in its right-hand tail, which is how a weaker-looking offer occasionally wins a slot.
The percentages on the right come from drawing 200,000 times from these exact beliefs: pay-later first 99% of the time, 20GB data in the top three 95%, insurance 11%. Sending 2,000 more real app opens through the API gave the same picture (insurance in the top three 11.5% of the time).
If someone notices: the 20GB draw of 18.3% was unusually high for its belief, about 1 draw in 250. Draws are random; that's the point. On average, the API's draws match the beliefs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it writes down what it showed before it shows it, and gives the app a ticket number for this visit.
Go deeper: one transaction inserts a row into invocations (with a fresh UUID, the customer, the policy and the full context as JSON) and one row per offer into impressions (position and the draw it was ranked by). Normalised tables mean plain SQL can answer questions like take-up by position, with no JSON unpacking. Only then does the API reply. The invocation_id is the ticket the app must quote in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the customer buys, looks, or doesn't notice, and the app tells the server which.
Go deeper: the app sends one POST /response per offer, quoting the invocation_id from step 4. In this project the customers are simulated: they scan from the top with falling attention (1.0, 0.6, 0.4), take up a noticed offer with its hidden true probability, and stop at the first take-up. Anything after a take-up, or never noticed, is 'ignored'. The recommender never sees those true probabilities; it only sees the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it checks the ticket, scores the outcome, and writes it down once; a second copy is refused.
Go deeper: the API reads the invocation back, so the policy and context used for learning are the ones logged at step 4, never anything the response claims. A response for an offer that wasn't shown is a 422. The reward function maps the outcome to a number between 0 and 1, or no update for 'ignored'. The insert uses the table's primary key with ON CONFLICT DO NOTHING and RETURNING: no row back means a duplicate, answered with 409. (On Postgres, rowcount can't be trusted here; that was a real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it fades all of that segment's old notes a tiny bit, then adds the new sale.
Go deeper: two SQL statements in one transaction. The UPDATE multiplies every small-business row's counts by 0.9998. The upsert adds one pull and the reward to the offer that was responded to. Both compute from the stored values inside the database, so two responses arriving together can't overwrite each other.
The real numbers: pay-later's alpha went from 220.386 to 221.342. That's 1 + 219.386 × 0.9998 + 1. Its beta went from 855.928 to 855.757: the old non-take-ups faded and nothing was added, because this was a take-up. Every other small-business offer only faded.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old lessons fade slowly, so when customers change their minds, the model can change with them.
Go deeper: each update multiplies every count in the segment by 0.9998. After about 3,465 later updates a response carries half its original weight; after 5,000, about a third. So the belief is built from roughly the last 5,000 responses in that segment.
It matters when tastes shift: halfway through the simulated run young professionals turned to streaming. With forgetting, their new favourite led within 1,460 app opens; without it, 5,601. It isn't free, though: in worlds that never change, forgetting costs a little, so in production the rate is a dial to tune on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journey in one place, with what actually happened at each step. Steps 3 and 7 are highlighted: that's where the learning lives, in the draw and in the update.
From the customer's point of view it took a moment: the ranking reply comes back in around 11 milliseconds at the 95th percentile.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the range a belief covers; the white dot is its average. Early on, after 2,500 app opens, both are wide: the model is unsure. As responses add up, pay-later, which is shown constantly, narrows to a few points: the model knows. Insurance, shown rarely, stays wide.
This is the loop working: every turn through steps 1 to 7 adds a little evidence, and the ranking in step 3 becomes more confident where the evidence is strong, while still testing the offers it knows less about. Forgetting stops the bars from ever collapsing to a single point, so a change in taste can still be noticed.
Why pay-later's bar sits further right at 10,000: the simulated calendar runs 60 days from 1 September, so 10,000 app opens is 13 September, deep in the small-business cash squeeze, when pay-later is most wanted. 25,000 is 1 October, just after payday week, and 50,000 is the end of October's payday week, when small businesses buy data instead. Across all 20 snapshots the belief rises through each mid-month and dips around each payday, a few days behind the calendar, because it remembers roughly the last 5,000 responses. The payday-aware policy learns the two moments separately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both kinds of audience tend to ask. Each answer maps to a step: exploring is step 3; duplicates are step 6; concurrent learning and new offers are steps 7 and 3; ignored offers are steps 5 and 6; and the hidden truth is the reason the simulator exists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during questions: the middle column is for non-technical listeners, the right-hand column for technical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remembers one sentence, make it this one. Steps 3 and 7, the guess and the update, are the two that make it a learning system rather than a fixed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400800" cy="320040"/>
          </a:xfrm>
          <a:prstGeom prst="rect">
            <a:avLst/>
          </a:prstGeom>
          <a:noFill/>
          <a:ln/>
        </p:spPr>
        <p:txBody>
          <a:bodyPr wrap="square" rtlCol="0"/>
          <a:lstStyle>
            <a:lvl1pPr indent="0" marL="0">
              <a:buNone/>
              <a:defRPr lang="en-US" sz="1200" b="1" spc="15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1600200"/>
            <a:ext cx="64008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520440"/>
            <a:ext cx="6035040" cy="137160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
        <p:nvSpPr>
          <p:cNvPr id="5" name="Text 0"/>
          <p:cNvSpPr/>
          <p:nvPr>
            <p:ph idx="103" type="body" hasCustomPrompt="1"/>
          </p:nvPr>
        </p:nvSpPr>
        <p:spPr>
          <a:xfrm>
            <a:off x="548640" y="5486400"/>
            <a:ext cx="6400800" cy="365760"/>
          </a:xfrm>
          <a:prstGeom prst="rect">
            <a:avLst/>
          </a:prstGeom>
          <a:noFill/>
          <a:ln/>
        </p:spPr>
        <p:txBody>
          <a:bodyPr wrap="square" rtlCol="0"/>
          <a:lstStyle>
            <a:lvl1pPr indent="0" marL="0">
              <a:buNone/>
              <a:defRPr lang="en-US" sz="1400" b="1"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How it works, step by step  ·  Sean Mukariri</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400800" cy="320040"/>
          </a:xfrm>
          <a:prstGeom prst="rect">
            <a:avLst/>
          </a:prstGeom>
          <a:noFill/>
          <a:ln/>
        </p:spPr>
        <p:txBody>
          <a:bodyPr wrap="square" lIns="0" tIns="0" rIns="0" bIns="0" rtlCol="0" anchor="t"/>
          <a:lstStyle/>
          <a:p>
            <a:pPr indent="0" marL="0">
              <a:buNone/>
            </a:pPr>
            <a:r>
              <a:rPr lang="en-US" sz="1200" b="1" spc="150" kern="0" dirty="0">
                <a:solidFill>
                  <a:schemeClr val="accent5"/>
                </a:solidFill>
              </a:rPr>
              <a:t>A GUIDE FOR TECHNICAL AND NON-TECHNICAL READERS</a:t>
            </a:r>
            <a:endParaRPr lang="en-US" sz="1200" dirty="0"/>
          </a:p>
        </p:txBody>
      </p:sp>
      <p:sp>
        <p:nvSpPr>
          <p:cNvPr id="3" name="Text 0"/>
          <p:cNvSpPr/>
          <p:nvPr>
            <p:ph idx="101" type="title" hasCustomPrompt="1"/>
          </p:nvPr>
        </p:nvSpPr>
        <p:spPr>
          <a:xfrm>
            <a:off x="548640" y="1600200"/>
            <a:ext cx="6400800" cy="1737360"/>
          </a:xfrm>
          <a:prstGeom prst="rect">
            <a:avLst/>
          </a:prstGeom>
          <a:noFill/>
          <a:ln/>
        </p:spPr>
        <p:txBody>
          <a:bodyPr wrap="square" lIns="0" tIns="0" rIns="0" bIns="0" rtlCol="0" anchor="t"/>
          <a:lstStyle/>
          <a:p>
            <a:pPr algn="l" indent="0" marL="0">
              <a:buNone/>
            </a:pPr>
            <a:r>
              <a:rPr lang="en-US" sz="4400" b="1" dirty="0">
                <a:solidFill>
                  <a:schemeClr val="bg1"/>
                </a:solidFill>
              </a:rPr>
              <a:t>How it works, step by step</a:t>
            </a:r>
            <a:endParaRPr lang="en-US" sz="4400" dirty="0"/>
          </a:p>
        </p:txBody>
      </p:sp>
      <p:sp>
        <p:nvSpPr>
          <p:cNvPr id="4" name="Text 0"/>
          <p:cNvSpPr/>
          <p:nvPr>
            <p:ph idx="102" type="body" hasCustomPrompt="1"/>
          </p:nvPr>
        </p:nvSpPr>
        <p:spPr>
          <a:xfrm>
            <a:off x="548640" y="3520440"/>
            <a:ext cx="6035040" cy="1371600"/>
          </a:xfrm>
          <a:prstGeom prst="rect">
            <a:avLst/>
          </a:prstGeom>
          <a:noFill/>
          <a:ln/>
        </p:spPr>
        <p:txBody>
          <a:bodyPr wrap="square" lIns="0" tIns="0" rIns="0" bIns="0" rtlCol="0" anchor="t"/>
          <a:lstStyle/>
          <a:p>
            <a:pPr indent="0" marL="0">
              <a:buNone/>
            </a:pPr>
            <a:r>
              <a:rPr lang="en-US" sz="1700" dirty="0">
                <a:solidFill>
                  <a:schemeClr val="bg2"/>
                </a:solidFill>
              </a:rPr>
              <a:t>One app open, followed from the customer's tap to the lesson the model learns: in plain words, under the hood, and why. Every example comes from a real run of the system.</a:t>
            </a:r>
            <a:endParaRPr lang="en-US" sz="1700" dirty="0"/>
          </a:p>
        </p:txBody>
      </p:sp>
      <p:sp>
        <p:nvSpPr>
          <p:cNvPr id="5" name="Text 0"/>
          <p:cNvSpPr/>
          <p:nvPr>
            <p:ph idx="103" type="body" hasCustomPrompt="1"/>
          </p:nvPr>
        </p:nvSpPr>
        <p:spPr>
          <a:xfrm>
            <a:off x="548640" y="5486400"/>
            <a:ext cx="6400800" cy="365760"/>
          </a:xfrm>
          <a:prstGeom prst="rect">
            <a:avLst/>
          </a:prstGeom>
          <a:noFill/>
          <a:ln/>
        </p:spPr>
        <p:txBody>
          <a:bodyPr wrap="square" lIns="0" tIns="0" rIns="0" bIns="0" rtlCol="0" anchor="t"/>
          <a:lstStyle/>
          <a:p>
            <a:pPr indent="0" marL="0">
              <a:buNone/>
            </a:pPr>
            <a:r>
              <a:rPr lang="en-US" sz="1400" b="1" dirty="0">
                <a:solidFill>
                  <a:schemeClr val="accent5"/>
                </a:solidFill>
              </a:rPr>
              <a:t>Sean Mukariri  ·  Telco dynamic offer recommender</a:t>
            </a:r>
            <a:endParaRPr lang="en-US" sz="1400" dirty="0"/>
          </a:p>
        </p:txBody>
      </p:sp>
      <p:sp>
        <p:nvSpPr>
          <p:cNvPr id="6" name="Text 1"/>
          <p:cNvSpPr txBox="1"/>
          <p:nvPr/>
        </p:nvSpPr>
        <p:spPr>
          <a:xfrm>
            <a:off x="7772400" y="1234440"/>
            <a:ext cx="384048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THE SEVEN STEPS</a:t>
            </a:r>
            <a:endParaRPr lang="en-US" sz="1200" dirty="0"/>
          </a:p>
        </p:txBody>
      </p:sp>
      <p:sp>
        <p:nvSpPr>
          <p:cNvPr id="7" name="Step 2"/>
          <p:cNvSpPr txBox="1"/>
          <p:nvPr/>
        </p:nvSpPr>
        <p:spPr>
          <a:xfrm>
            <a:off x="7772400" y="1691640"/>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3"/>
          <p:cNvSpPr txBox="1"/>
          <p:nvPr/>
        </p:nvSpPr>
        <p:spPr>
          <a:xfrm>
            <a:off x="8339328" y="1746504"/>
            <a:ext cx="3291840" cy="329184"/>
          </a:xfrm>
          <a:prstGeom prst="rect">
            <a:avLst/>
          </a:prstGeom>
          <a:noFill/>
          <a:ln/>
        </p:spPr>
        <p:txBody>
          <a:bodyPr wrap="square" lIns="0" tIns="0" rIns="0" bIns="0" rtlCol="0" anchor="t"/>
          <a:lstStyle/>
          <a:p>
            <a:pPr indent="0" marL="0">
              <a:buNone/>
            </a:pPr>
            <a:r>
              <a:rPr lang="en-US" sz="1700" b="1" dirty="0">
                <a:solidFill>
                  <a:schemeClr val="bg1"/>
                </a:solidFill>
              </a:rPr>
              <a:t>Opens the app</a:t>
            </a:r>
            <a:endParaRPr lang="en-US" sz="1700" dirty="0"/>
          </a:p>
        </p:txBody>
      </p:sp>
      <p:sp>
        <p:nvSpPr>
          <p:cNvPr id="9" name="Step 4"/>
          <p:cNvSpPr txBox="1"/>
          <p:nvPr/>
        </p:nvSpPr>
        <p:spPr>
          <a:xfrm>
            <a:off x="7772400" y="2258568"/>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5"/>
          <p:cNvSpPr txBox="1"/>
          <p:nvPr/>
        </p:nvSpPr>
        <p:spPr>
          <a:xfrm>
            <a:off x="8339328" y="2313432"/>
            <a:ext cx="3291840" cy="329184"/>
          </a:xfrm>
          <a:prstGeom prst="rect">
            <a:avLst/>
          </a:prstGeom>
          <a:noFill/>
          <a:ln/>
        </p:spPr>
        <p:txBody>
          <a:bodyPr wrap="square" lIns="0" tIns="0" rIns="0" bIns="0" rtlCol="0" anchor="t"/>
          <a:lstStyle/>
          <a:p>
            <a:pPr indent="0" marL="0">
              <a:buNone/>
            </a:pPr>
            <a:r>
              <a:rPr lang="en-US" sz="1700" b="1" dirty="0">
                <a:solidFill>
                  <a:schemeClr val="bg1"/>
                </a:solidFill>
              </a:rPr>
              <a:t>Build the moment</a:t>
            </a:r>
            <a:endParaRPr lang="en-US" sz="1700" dirty="0"/>
          </a:p>
        </p:txBody>
      </p:sp>
      <p:sp>
        <p:nvSpPr>
          <p:cNvPr id="11" name="Step 6"/>
          <p:cNvSpPr txBox="1"/>
          <p:nvPr/>
        </p:nvSpPr>
        <p:spPr>
          <a:xfrm>
            <a:off x="7772400" y="2825496"/>
            <a:ext cx="402336" cy="402336"/>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Text 7"/>
          <p:cNvSpPr txBox="1"/>
          <p:nvPr/>
        </p:nvSpPr>
        <p:spPr>
          <a:xfrm>
            <a:off x="8339328" y="2880360"/>
            <a:ext cx="3291840" cy="329184"/>
          </a:xfrm>
          <a:prstGeom prst="rect">
            <a:avLst/>
          </a:prstGeom>
          <a:noFill/>
          <a:ln/>
        </p:spPr>
        <p:txBody>
          <a:bodyPr wrap="square" lIns="0" tIns="0" rIns="0" bIns="0" rtlCol="0" anchor="t"/>
          <a:lstStyle/>
          <a:p>
            <a:pPr indent="0" marL="0">
              <a:buNone/>
            </a:pPr>
            <a:r>
              <a:rPr lang="en-US" sz="1700" b="1" dirty="0">
                <a:solidFill>
                  <a:schemeClr val="bg1"/>
                </a:solidFill>
              </a:rPr>
              <a:t>Rank by drawing</a:t>
            </a:r>
            <a:endParaRPr lang="en-US" sz="1700" dirty="0"/>
          </a:p>
        </p:txBody>
      </p:sp>
      <p:sp>
        <p:nvSpPr>
          <p:cNvPr id="13" name="Step 8"/>
          <p:cNvSpPr txBox="1"/>
          <p:nvPr/>
        </p:nvSpPr>
        <p:spPr>
          <a:xfrm>
            <a:off x="7772400" y="3392424"/>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Text 9"/>
          <p:cNvSpPr txBox="1"/>
          <p:nvPr/>
        </p:nvSpPr>
        <p:spPr>
          <a:xfrm>
            <a:off x="8339328" y="3447288"/>
            <a:ext cx="3291840" cy="329184"/>
          </a:xfrm>
          <a:prstGeom prst="rect">
            <a:avLst/>
          </a:prstGeom>
          <a:noFill/>
          <a:ln/>
        </p:spPr>
        <p:txBody>
          <a:bodyPr wrap="square" lIns="0" tIns="0" rIns="0" bIns="0" rtlCol="0" anchor="t"/>
          <a:lstStyle/>
          <a:p>
            <a:pPr indent="0" marL="0">
              <a:buNone/>
            </a:pPr>
            <a:r>
              <a:rPr lang="en-US" sz="1700" b="1" dirty="0">
                <a:solidFill>
                  <a:schemeClr val="bg1"/>
                </a:solidFill>
              </a:rPr>
              <a:t>Log, then reply</a:t>
            </a:r>
            <a:endParaRPr lang="en-US" sz="1700" dirty="0"/>
          </a:p>
        </p:txBody>
      </p:sp>
      <p:sp>
        <p:nvSpPr>
          <p:cNvPr id="15" name="Step 10"/>
          <p:cNvSpPr txBox="1"/>
          <p:nvPr/>
        </p:nvSpPr>
        <p:spPr>
          <a:xfrm>
            <a:off x="7772400" y="3959352"/>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6" name="Text 11"/>
          <p:cNvSpPr txBox="1"/>
          <p:nvPr/>
        </p:nvSpPr>
        <p:spPr>
          <a:xfrm>
            <a:off x="8339328" y="4014216"/>
            <a:ext cx="3291840" cy="329184"/>
          </a:xfrm>
          <a:prstGeom prst="rect">
            <a:avLst/>
          </a:prstGeom>
          <a:noFill/>
          <a:ln/>
        </p:spPr>
        <p:txBody>
          <a:bodyPr wrap="square" lIns="0" tIns="0" rIns="0" bIns="0" rtlCol="0" anchor="t"/>
          <a:lstStyle/>
          <a:p>
            <a:pPr indent="0" marL="0">
              <a:buNone/>
            </a:pPr>
            <a:r>
              <a:rPr lang="en-US" sz="1700" b="1" dirty="0">
                <a:solidFill>
                  <a:schemeClr val="bg1"/>
                </a:solidFill>
              </a:rPr>
              <a:t>Responds</a:t>
            </a:r>
            <a:endParaRPr lang="en-US" sz="1700" dirty="0"/>
          </a:p>
        </p:txBody>
      </p:sp>
      <p:sp>
        <p:nvSpPr>
          <p:cNvPr id="17" name="Step 12"/>
          <p:cNvSpPr txBox="1"/>
          <p:nvPr/>
        </p:nvSpPr>
        <p:spPr>
          <a:xfrm>
            <a:off x="7772400" y="4526280"/>
            <a:ext cx="402336" cy="40233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8" name="Text 13"/>
          <p:cNvSpPr txBox="1"/>
          <p:nvPr/>
        </p:nvSpPr>
        <p:spPr>
          <a:xfrm>
            <a:off x="8339328" y="4581144"/>
            <a:ext cx="3291840" cy="329184"/>
          </a:xfrm>
          <a:prstGeom prst="rect">
            <a:avLst/>
          </a:prstGeom>
          <a:noFill/>
          <a:ln/>
        </p:spPr>
        <p:txBody>
          <a:bodyPr wrap="square" lIns="0" tIns="0" rIns="0" bIns="0" rtlCol="0" anchor="t"/>
          <a:lstStyle/>
          <a:p>
            <a:pPr indent="0" marL="0">
              <a:buNone/>
            </a:pPr>
            <a:r>
              <a:rPr lang="en-US" sz="1700" b="1" dirty="0">
                <a:solidFill>
                  <a:schemeClr val="bg1"/>
                </a:solidFill>
              </a:rPr>
              <a:t>Score, log once</a:t>
            </a:r>
            <a:endParaRPr lang="en-US" sz="1700" dirty="0"/>
          </a:p>
        </p:txBody>
      </p:sp>
      <p:sp>
        <p:nvSpPr>
          <p:cNvPr id="19" name="Step 14"/>
          <p:cNvSpPr txBox="1"/>
          <p:nvPr/>
        </p:nvSpPr>
        <p:spPr>
          <a:xfrm>
            <a:off x="7772400" y="5093208"/>
            <a:ext cx="402336" cy="402336"/>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20" name="Text 15"/>
          <p:cNvSpPr txBox="1"/>
          <p:nvPr/>
        </p:nvSpPr>
        <p:spPr>
          <a:xfrm>
            <a:off x="8339328" y="5148072"/>
            <a:ext cx="3291840" cy="329184"/>
          </a:xfrm>
          <a:prstGeom prst="rect">
            <a:avLst/>
          </a:prstGeom>
          <a:noFill/>
          <a:ln/>
        </p:spPr>
        <p:txBody>
          <a:bodyPr wrap="square" lIns="0" tIns="0" rIns="0" bIns="0" rtlCol="0" anchor="t"/>
          <a:lstStyle/>
          <a:p>
            <a:pPr indent="0" marL="0">
              <a:buNone/>
            </a:pPr>
            <a:r>
              <a:rPr lang="en-US" sz="1700" b="1" dirty="0">
                <a:solidFill>
                  <a:schemeClr val="bg1"/>
                </a:solidFill>
              </a:rPr>
              <a:t>Learn and forget</a:t>
            </a:r>
            <a:endParaRPr lang="en-US" sz="1700" dirty="0"/>
          </a:p>
        </p:txBody>
      </p:sp>
      <p:sp>
        <p:nvSpPr>
          <p:cNvPr id="21" name="Text 16"/>
          <p:cNvSpPr txBox="1"/>
          <p:nvPr/>
        </p:nvSpPr>
        <p:spPr>
          <a:xfrm>
            <a:off x="7772400" y="5715000"/>
            <a:ext cx="3867912" cy="457200"/>
          </a:xfrm>
          <a:prstGeom prst="rect">
            <a:avLst/>
          </a:prstGeom>
          <a:noFill/>
          <a:ln/>
        </p:spPr>
        <p:txBody>
          <a:bodyPr wrap="square" lIns="0" tIns="0" rIns="0" bIns="0" rtlCol="0" anchor="t"/>
          <a:lstStyle/>
          <a:p>
            <a:pPr indent="0" marL="0">
              <a:buNone/>
            </a:pPr>
            <a:r>
              <a:rPr lang="en-US" sz="1200" i="1" dirty="0">
                <a:solidFill>
                  <a:schemeClr val="bg2"/>
                </a:solidFill>
              </a:rPr>
              <a:t>Steps 3 and 7 are where the learning happens; each gets a closer look.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BIG PICTURE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Think of a shop assistant with a notebook</a:t>
            </a:r>
            <a:endParaRPr lang="en-US" sz="3600" dirty="0"/>
          </a:p>
        </p:txBody>
      </p:sp>
      <p:sp>
        <p:nvSpPr>
          <p:cNvPr id="4" name="Card 17"/>
          <p:cNvSpPr/>
          <p:nvPr/>
        </p:nvSpPr>
        <p:spPr>
          <a:xfrm>
            <a:off x="548640" y="1645920"/>
            <a:ext cx="4206240" cy="4526280"/>
          </a:xfrm>
          <a:prstGeom prst="roundRect">
            <a:avLst>
              <a:gd name="adj" fmla="val 1739"/>
            </a:avLst>
          </a:prstGeom>
          <a:solidFill>
            <a:schemeClr val="tx1"/>
          </a:solidFill>
          <a:ln/>
        </p:spPr>
      </p:sp>
      <p:sp>
        <p:nvSpPr>
          <p:cNvPr id="5" name="Text 18"/>
          <p:cNvSpPr txBox="1"/>
          <p:nvPr/>
        </p:nvSpPr>
        <p:spPr>
          <a:xfrm>
            <a:off x="868680" y="1920240"/>
            <a:ext cx="3566160" cy="4023360"/>
          </a:xfrm>
          <a:prstGeom prst="rect">
            <a:avLst/>
          </a:prstGeom>
          <a:noFill/>
          <a:ln/>
        </p:spPr>
        <p:txBody>
          <a:bodyPr wrap="square" lIns="0" tIns="0" rIns="0" bIns="0" rtlCol="0" anchor="t"/>
          <a:lstStyle/>
          <a:p>
            <a:pPr indent="0" marL="0">
              <a:buNone/>
            </a:pPr>
            <a:r>
              <a:rPr lang="en-US" sz="1700" dirty="0">
                <a:solidFill>
                  <a:schemeClr val="bg1"/>
                </a:solidFill>
              </a:rPr>
              <a:t>Picture an assistant at a phone-shop counter with room for three products.</a:t>
            </a:r>
            <a:endParaRPr lang="en-US" sz="1700" dirty="0"/>
          </a:p>
          <a:p>
            <a:pPr indent="0" marL="0">
              <a:buNone/>
            </a:pPr>
            <a:r>
              <a:rPr lang="en-US" sz="800" dirty="0">
                <a:solidFill>
                  <a:schemeClr val="bg1"/>
                </a:solidFill>
              </a:rPr>
              <a:t> </a:t>
            </a:r>
            <a:endParaRPr lang="en-US" sz="1700" dirty="0"/>
          </a:p>
          <a:p>
            <a:pPr indent="0" marL="0">
              <a:buNone/>
            </a:pPr>
            <a:r>
              <a:rPr lang="en-US" sz="1700" dirty="0">
                <a:solidFill>
                  <a:schemeClr val="bg1"/>
                </a:solidFill>
              </a:rPr>
              <a:t>They keep a notebook with one page for each kind of customer: students, pensioners, small businesses and so on. Each page has a line per product: how often it was offered, and how often someone bought it.</a:t>
            </a:r>
            <a:endParaRPr lang="en-US" sz="1700" dirty="0"/>
          </a:p>
          <a:p>
            <a:pPr indent="0" marL="0">
              <a:buNone/>
            </a:pPr>
            <a:r>
              <a:rPr lang="en-US" sz="800" dirty="0">
                <a:solidFill>
                  <a:schemeClr val="bg1"/>
                </a:solidFill>
              </a:rPr>
              <a:t> </a:t>
            </a:r>
            <a:endParaRPr lang="en-US" sz="1700" dirty="0"/>
          </a:p>
          <a:p>
            <a:pPr indent="0" marL="0">
              <a:buNone/>
            </a:pPr>
            <a:r>
              <a:rPr lang="en-US" sz="1700" b="1" dirty="0">
                <a:solidFill>
                  <a:schemeClr val="accent5"/>
                </a:solidFill>
              </a:rPr>
              <a:t>Every sale, and every shrug, teaches them something. That notebook is the model.</a:t>
            </a:r>
            <a:endParaRPr lang="en-US" sz="1700" dirty="0"/>
          </a:p>
        </p:txBody>
      </p:sp>
      <p:sp>
        <p:nvSpPr>
          <p:cNvPr id="6" name="Text 19"/>
          <p:cNvSpPr txBox="1"/>
          <p:nvPr/>
        </p:nvSpPr>
        <p:spPr>
          <a:xfrm>
            <a:off x="5577840" y="1664208"/>
            <a:ext cx="315468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At the counter</a:t>
            </a:r>
            <a:endParaRPr lang="en-US" sz="1200" dirty="0"/>
          </a:p>
        </p:txBody>
      </p:sp>
      <p:sp>
        <p:nvSpPr>
          <p:cNvPr id="7" name="Text 20"/>
          <p:cNvSpPr txBox="1"/>
          <p:nvPr/>
        </p:nvSpPr>
        <p:spPr>
          <a:xfrm>
            <a:off x="8915400" y="1664208"/>
            <a:ext cx="291053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 the system</a:t>
            </a:r>
            <a:endParaRPr lang="en-US" sz="1200" dirty="0"/>
          </a:p>
        </p:txBody>
      </p:sp>
      <p:sp>
        <p:nvSpPr>
          <p:cNvPr id="8" name="Card 21"/>
          <p:cNvSpPr/>
          <p:nvPr/>
        </p:nvSpPr>
        <p:spPr>
          <a:xfrm>
            <a:off x="5074920" y="1975104"/>
            <a:ext cx="6568135" cy="548640"/>
          </a:xfrm>
          <a:prstGeom prst="roundRect">
            <a:avLst>
              <a:gd name="adj" fmla="val 8333"/>
            </a:avLst>
          </a:prstGeom>
          <a:solidFill>
            <a:schemeClr val="bg2"/>
          </a:solidFill>
          <a:ln/>
        </p:spPr>
      </p:sp>
      <p:sp>
        <p:nvSpPr>
          <p:cNvPr id="9" name="Step 22"/>
          <p:cNvSpPr txBox="1"/>
          <p:nvPr/>
        </p:nvSpPr>
        <p:spPr>
          <a:xfrm>
            <a:off x="5166360" y="210312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Text 23"/>
          <p:cNvSpPr txBox="1"/>
          <p:nvPr/>
        </p:nvSpPr>
        <p:spPr>
          <a:xfrm>
            <a:off x="5577840" y="203911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A customer walks up</a:t>
            </a:r>
            <a:endParaRPr lang="en-US" sz="1300" dirty="0"/>
          </a:p>
        </p:txBody>
      </p:sp>
      <p:sp>
        <p:nvSpPr>
          <p:cNvPr id="11" name="Text 24"/>
          <p:cNvSpPr txBox="1"/>
          <p:nvPr/>
        </p:nvSpPr>
        <p:spPr>
          <a:xfrm>
            <a:off x="8915400" y="2039112"/>
            <a:ext cx="2910535" cy="457200"/>
          </a:xfrm>
          <a:prstGeom prst="rect">
            <a:avLst/>
          </a:prstGeom>
          <a:noFill/>
          <a:ln/>
        </p:spPr>
        <p:txBody>
          <a:bodyPr wrap="square" lIns="0" tIns="0" rIns="0" bIns="0" rtlCol="0" anchor="ctr"/>
          <a:lstStyle/>
          <a:p>
            <a:pPr indent="0" marL="0">
              <a:buNone/>
            </a:pPr>
            <a:r>
              <a:rPr lang="en-US" sz="1300" dirty="0">
                <a:solidFill>
                  <a:schemeClr val="tx2"/>
                </a:solidFill>
              </a:rPr>
              <a:t>The app calls POST /invocations</a:t>
            </a:r>
            <a:endParaRPr lang="en-US" sz="1300" dirty="0"/>
          </a:p>
        </p:txBody>
      </p:sp>
      <p:sp>
        <p:nvSpPr>
          <p:cNvPr id="12" name="Step 25"/>
          <p:cNvSpPr txBox="1"/>
          <p:nvPr/>
        </p:nvSpPr>
        <p:spPr>
          <a:xfrm>
            <a:off x="5166360" y="269748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Text 26"/>
          <p:cNvSpPr txBox="1"/>
          <p:nvPr/>
        </p:nvSpPr>
        <p:spPr>
          <a:xfrm>
            <a:off x="5577840" y="263347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They note who it is, and when</a:t>
            </a:r>
            <a:endParaRPr lang="en-US" sz="1300" dirty="0"/>
          </a:p>
        </p:txBody>
      </p:sp>
      <p:sp>
        <p:nvSpPr>
          <p:cNvPr id="14" name="Text 27"/>
          <p:cNvSpPr txBox="1"/>
          <p:nvPr/>
        </p:nvSpPr>
        <p:spPr>
          <a:xfrm>
            <a:off x="8915400" y="2633472"/>
            <a:ext cx="2910535" cy="457200"/>
          </a:xfrm>
          <a:prstGeom prst="rect">
            <a:avLst/>
          </a:prstGeom>
          <a:noFill/>
          <a:ln/>
        </p:spPr>
        <p:txBody>
          <a:bodyPr wrap="square" lIns="0" tIns="0" rIns="0" bIns="0" rtlCol="0" anchor="ctr"/>
          <a:lstStyle/>
          <a:p>
            <a:pPr indent="0" marL="0">
              <a:buNone/>
            </a:pPr>
            <a:r>
              <a:rPr lang="en-US" sz="1300" dirty="0">
                <a:solidFill>
                  <a:schemeClr val="tx2"/>
                </a:solidFill>
              </a:rPr>
              <a:t>Profile lookup, plus the clock</a:t>
            </a:r>
            <a:endParaRPr lang="en-US" sz="1300" dirty="0"/>
          </a:p>
        </p:txBody>
      </p:sp>
      <p:sp>
        <p:nvSpPr>
          <p:cNvPr id="15" name="Card 28"/>
          <p:cNvSpPr/>
          <p:nvPr/>
        </p:nvSpPr>
        <p:spPr>
          <a:xfrm>
            <a:off x="5074920" y="3163824"/>
            <a:ext cx="6568135" cy="548640"/>
          </a:xfrm>
          <a:prstGeom prst="roundRect">
            <a:avLst>
              <a:gd name="adj" fmla="val 8333"/>
            </a:avLst>
          </a:prstGeom>
          <a:solidFill>
            <a:schemeClr val="bg2"/>
          </a:solidFill>
          <a:ln/>
        </p:spPr>
      </p:sp>
      <p:sp>
        <p:nvSpPr>
          <p:cNvPr id="16" name="Step 29"/>
          <p:cNvSpPr txBox="1"/>
          <p:nvPr/>
        </p:nvSpPr>
        <p:spPr>
          <a:xfrm>
            <a:off x="5166360" y="329184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30"/>
          <p:cNvSpPr txBox="1"/>
          <p:nvPr/>
        </p:nvSpPr>
        <p:spPr>
          <a:xfrm>
            <a:off x="5577840" y="322783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They pick three products, guessing boldly where unsure</a:t>
            </a:r>
            <a:endParaRPr lang="en-US" sz="1300" dirty="0"/>
          </a:p>
        </p:txBody>
      </p:sp>
      <p:sp>
        <p:nvSpPr>
          <p:cNvPr id="18" name="Text 31"/>
          <p:cNvSpPr txBox="1"/>
          <p:nvPr/>
        </p:nvSpPr>
        <p:spPr>
          <a:xfrm>
            <a:off x="8915400" y="3227832"/>
            <a:ext cx="2910535" cy="457200"/>
          </a:xfrm>
          <a:prstGeom prst="rect">
            <a:avLst/>
          </a:prstGeom>
          <a:noFill/>
          <a:ln/>
        </p:spPr>
        <p:txBody>
          <a:bodyPr wrap="square" lIns="0" tIns="0" rIns="0" bIns="0" rtlCol="0" anchor="ctr"/>
          <a:lstStyle/>
          <a:p>
            <a:pPr indent="0" marL="0">
              <a:buNone/>
            </a:pPr>
            <a:r>
              <a:rPr lang="en-US" sz="1300" dirty="0">
                <a:solidFill>
                  <a:schemeClr val="tx2"/>
                </a:solidFill>
              </a:rPr>
              <a:t>Thompson sampling from Beta beliefs</a:t>
            </a:r>
            <a:endParaRPr lang="en-US" sz="1300" dirty="0"/>
          </a:p>
        </p:txBody>
      </p:sp>
      <p:sp>
        <p:nvSpPr>
          <p:cNvPr id="19" name="Step 32"/>
          <p:cNvSpPr txBox="1"/>
          <p:nvPr/>
        </p:nvSpPr>
        <p:spPr>
          <a:xfrm>
            <a:off x="5166360" y="388620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33"/>
          <p:cNvSpPr txBox="1"/>
          <p:nvPr/>
        </p:nvSpPr>
        <p:spPr>
          <a:xfrm>
            <a:off x="5577840" y="382219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They write it in the receipt book and hand over a ticket</a:t>
            </a:r>
            <a:endParaRPr lang="en-US" sz="1300" dirty="0"/>
          </a:p>
        </p:txBody>
      </p:sp>
      <p:sp>
        <p:nvSpPr>
          <p:cNvPr id="21" name="Text 34"/>
          <p:cNvSpPr txBox="1"/>
          <p:nvPr/>
        </p:nvSpPr>
        <p:spPr>
          <a:xfrm>
            <a:off x="8915400" y="3822192"/>
            <a:ext cx="2910535" cy="457200"/>
          </a:xfrm>
          <a:prstGeom prst="rect">
            <a:avLst/>
          </a:prstGeom>
          <a:noFill/>
          <a:ln/>
        </p:spPr>
        <p:txBody>
          <a:bodyPr wrap="square" lIns="0" tIns="0" rIns="0" bIns="0" rtlCol="0" anchor="ctr"/>
          <a:lstStyle/>
          <a:p>
            <a:pPr indent="0" marL="0">
              <a:buNone/>
            </a:pPr>
            <a:r>
              <a:rPr lang="en-US" sz="1300" dirty="0">
                <a:solidFill>
                  <a:schemeClr val="tx2"/>
                </a:solidFill>
              </a:rPr>
              <a:t>Event log; the reply carries an invocation_id</a:t>
            </a:r>
            <a:endParaRPr lang="en-US" sz="1300" dirty="0"/>
          </a:p>
        </p:txBody>
      </p:sp>
      <p:sp>
        <p:nvSpPr>
          <p:cNvPr id="22" name="Card 35"/>
          <p:cNvSpPr/>
          <p:nvPr/>
        </p:nvSpPr>
        <p:spPr>
          <a:xfrm>
            <a:off x="5074920" y="4352544"/>
            <a:ext cx="6568135" cy="548640"/>
          </a:xfrm>
          <a:prstGeom prst="roundRect">
            <a:avLst>
              <a:gd name="adj" fmla="val 8333"/>
            </a:avLst>
          </a:prstGeom>
          <a:solidFill>
            <a:schemeClr val="bg2"/>
          </a:solidFill>
          <a:ln/>
        </p:spPr>
      </p:sp>
      <p:sp>
        <p:nvSpPr>
          <p:cNvPr id="23" name="Step 36"/>
          <p:cNvSpPr txBox="1"/>
          <p:nvPr/>
        </p:nvSpPr>
        <p:spPr>
          <a:xfrm>
            <a:off x="5166360" y="448056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Text 37"/>
          <p:cNvSpPr txBox="1"/>
          <p:nvPr/>
        </p:nvSpPr>
        <p:spPr>
          <a:xfrm>
            <a:off x="5577840" y="441655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The customer buys, looks, or walks past</a:t>
            </a:r>
            <a:endParaRPr lang="en-US" sz="1300" dirty="0"/>
          </a:p>
        </p:txBody>
      </p:sp>
      <p:sp>
        <p:nvSpPr>
          <p:cNvPr id="25" name="Text 38"/>
          <p:cNvSpPr txBox="1"/>
          <p:nvPr/>
        </p:nvSpPr>
        <p:spPr>
          <a:xfrm>
            <a:off x="8915400" y="4416552"/>
            <a:ext cx="2910535" cy="457200"/>
          </a:xfrm>
          <a:prstGeom prst="rect">
            <a:avLst/>
          </a:prstGeom>
          <a:noFill/>
          <a:ln/>
        </p:spPr>
        <p:txBody>
          <a:bodyPr wrap="square" lIns="0" tIns="0" rIns="0" bIns="0" rtlCol="0" anchor="ctr"/>
          <a:lstStyle/>
          <a:p>
            <a:pPr indent="0" marL="0">
              <a:buNone/>
            </a:pPr>
            <a:r>
              <a:rPr lang="en-US" sz="1300" dirty="0">
                <a:solidFill>
                  <a:schemeClr val="tx2"/>
                </a:solidFill>
              </a:rPr>
              <a:t>taken_up, viewed or ignored</a:t>
            </a:r>
            <a:endParaRPr lang="en-US" sz="1300" dirty="0"/>
          </a:p>
        </p:txBody>
      </p:sp>
      <p:sp>
        <p:nvSpPr>
          <p:cNvPr id="26" name="Step 39"/>
          <p:cNvSpPr txBox="1"/>
          <p:nvPr/>
        </p:nvSpPr>
        <p:spPr>
          <a:xfrm>
            <a:off x="5166360" y="507492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7" name="Text 40"/>
          <p:cNvSpPr txBox="1"/>
          <p:nvPr/>
        </p:nvSpPr>
        <p:spPr>
          <a:xfrm>
            <a:off x="5577840" y="501091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They check the ticket and record the result once</a:t>
            </a:r>
            <a:endParaRPr lang="en-US" sz="1300" dirty="0"/>
          </a:p>
        </p:txBody>
      </p:sp>
      <p:sp>
        <p:nvSpPr>
          <p:cNvPr id="28" name="Text 41"/>
          <p:cNvSpPr txBox="1"/>
          <p:nvPr/>
        </p:nvSpPr>
        <p:spPr>
          <a:xfrm>
            <a:off x="8915400" y="5010912"/>
            <a:ext cx="2910535" cy="457200"/>
          </a:xfrm>
          <a:prstGeom prst="rect">
            <a:avLst/>
          </a:prstGeom>
          <a:noFill/>
          <a:ln/>
        </p:spPr>
        <p:txBody>
          <a:bodyPr wrap="square" lIns="0" tIns="0" rIns="0" bIns="0" rtlCol="0" anchor="ctr"/>
          <a:lstStyle/>
          <a:p>
            <a:pPr indent="0" marL="0">
              <a:buNone/>
            </a:pPr>
            <a:r>
              <a:rPr lang="en-US" sz="1300" dirty="0">
                <a:solidFill>
                  <a:schemeClr val="tx2"/>
                </a:solidFill>
              </a:rPr>
              <a:t>Validation, a reward, an insert that can't repeat</a:t>
            </a:r>
            <a:endParaRPr lang="en-US" sz="1300" dirty="0"/>
          </a:p>
        </p:txBody>
      </p:sp>
      <p:sp>
        <p:nvSpPr>
          <p:cNvPr id="29" name="Card 42"/>
          <p:cNvSpPr/>
          <p:nvPr/>
        </p:nvSpPr>
        <p:spPr>
          <a:xfrm>
            <a:off x="5074920" y="5541264"/>
            <a:ext cx="6568135" cy="548640"/>
          </a:xfrm>
          <a:prstGeom prst="roundRect">
            <a:avLst>
              <a:gd name="adj" fmla="val 8333"/>
            </a:avLst>
          </a:prstGeom>
          <a:solidFill>
            <a:schemeClr val="bg2"/>
          </a:solidFill>
          <a:ln/>
        </p:spPr>
      </p:sp>
      <p:sp>
        <p:nvSpPr>
          <p:cNvPr id="30" name="Step 43"/>
          <p:cNvSpPr txBox="1"/>
          <p:nvPr/>
        </p:nvSpPr>
        <p:spPr>
          <a:xfrm>
            <a:off x="5166360" y="566928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1" name="Text 44"/>
          <p:cNvSpPr txBox="1"/>
          <p:nvPr/>
        </p:nvSpPr>
        <p:spPr>
          <a:xfrm>
            <a:off x="5577840" y="5605272"/>
            <a:ext cx="3154680" cy="457200"/>
          </a:xfrm>
          <a:prstGeom prst="rect">
            <a:avLst/>
          </a:prstGeom>
          <a:noFill/>
          <a:ln/>
        </p:spPr>
        <p:txBody>
          <a:bodyPr wrap="square" lIns="0" tIns="0" rIns="0" bIns="0" rtlCol="0" anchor="ctr"/>
          <a:lstStyle/>
          <a:p>
            <a:pPr indent="0" marL="0">
              <a:buNone/>
            </a:pPr>
            <a:r>
              <a:rPr lang="en-US" sz="1300" b="1" dirty="0">
                <a:solidFill>
                  <a:schemeClr val="tx1"/>
                </a:solidFill>
              </a:rPr>
              <a:t>They update that page, fading old notes a little</a:t>
            </a:r>
            <a:endParaRPr lang="en-US" sz="1300" dirty="0"/>
          </a:p>
        </p:txBody>
      </p:sp>
      <p:sp>
        <p:nvSpPr>
          <p:cNvPr id="32" name="Text 45"/>
          <p:cNvSpPr txBox="1"/>
          <p:nvPr/>
        </p:nvSpPr>
        <p:spPr>
          <a:xfrm>
            <a:off x="8915400" y="5605272"/>
            <a:ext cx="2910535" cy="457200"/>
          </a:xfrm>
          <a:prstGeom prst="rect">
            <a:avLst/>
          </a:prstGeom>
          <a:noFill/>
          <a:ln/>
        </p:spPr>
        <p:txBody>
          <a:bodyPr wrap="square" lIns="0" tIns="0" rIns="0" bIns="0" rtlCol="0" anchor="ctr"/>
          <a:lstStyle/>
          <a:p>
            <a:pPr indent="0" marL="0">
              <a:buNone/>
            </a:pPr>
            <a:r>
              <a:rPr lang="en-US" sz="1300" dirty="0">
                <a:solidFill>
                  <a:schemeClr val="tx2"/>
                </a:solidFill>
              </a:rPr>
              <a:t>One atomic update with forgetting, γ = 0.9998</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CAST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Five parts; two of them hold the learning</a:t>
            </a:r>
            <a:endParaRPr lang="en-US" sz="3600" dirty="0"/>
          </a:p>
        </p:txBody>
      </p:sp>
      <p:sp>
        <p:nvSpPr>
          <p:cNvPr id="4" name="Card 46"/>
          <p:cNvSpPr/>
          <p:nvPr/>
        </p:nvSpPr>
        <p:spPr>
          <a:xfrm>
            <a:off x="548640" y="2240280"/>
            <a:ext cx="2331720" cy="2468880"/>
          </a:xfrm>
          <a:prstGeom prst="roundRect">
            <a:avLst>
              <a:gd name="adj" fmla="val 3137"/>
            </a:avLst>
          </a:prstGeom>
          <a:solidFill>
            <a:schemeClr val="bg2"/>
          </a:solidFill>
          <a:ln/>
        </p:spPr>
      </p:sp>
      <p:sp>
        <p:nvSpPr>
          <p:cNvPr id="5" name="Text 47"/>
          <p:cNvSpPr txBox="1"/>
          <p:nvPr/>
        </p:nvSpPr>
        <p:spPr>
          <a:xfrm>
            <a:off x="777240" y="2441448"/>
            <a:ext cx="1874520" cy="329184"/>
          </a:xfrm>
          <a:prstGeom prst="rect">
            <a:avLst/>
          </a:prstGeom>
          <a:noFill/>
          <a:ln/>
        </p:spPr>
        <p:txBody>
          <a:bodyPr wrap="square" lIns="0" tIns="0" rIns="0" bIns="0" rtlCol="0" anchor="t"/>
          <a:lstStyle/>
          <a:p>
            <a:pPr indent="0" marL="0">
              <a:buNone/>
            </a:pPr>
            <a:r>
              <a:rPr lang="en-US" sz="1700" b="1" dirty="0">
                <a:solidFill>
                  <a:schemeClr val="tx1"/>
                </a:solidFill>
              </a:rPr>
              <a:t>The customer's app</a:t>
            </a:r>
            <a:endParaRPr lang="en-US" sz="1700" dirty="0"/>
          </a:p>
        </p:txBody>
      </p:sp>
      <p:sp>
        <p:nvSpPr>
          <p:cNvPr id="6" name="Text 48"/>
          <p:cNvSpPr txBox="1"/>
          <p:nvPr/>
        </p:nvSpPr>
        <p:spPr>
          <a:xfrm>
            <a:off x="777240" y="2788920"/>
            <a:ext cx="1874520" cy="274320"/>
          </a:xfrm>
          <a:prstGeom prst="rect">
            <a:avLst/>
          </a:prstGeom>
          <a:noFill/>
          <a:ln/>
        </p:spPr>
        <p:txBody>
          <a:bodyPr wrap="square" lIns="0" tIns="0" rIns="0" bIns="0" rtlCol="0" anchor="t"/>
          <a:lstStyle/>
          <a:p>
            <a:pPr indent="0" marL="0">
              <a:buNone/>
            </a:pPr>
            <a:r>
              <a:rPr lang="en-US" sz="1300" i="1" dirty="0">
                <a:solidFill>
                  <a:schemeClr val="accent1"/>
                </a:solidFill>
              </a:rPr>
              <a:t>the customer at the counter</a:t>
            </a:r>
            <a:endParaRPr lang="en-US" sz="1300" dirty="0"/>
          </a:p>
        </p:txBody>
      </p:sp>
      <p:sp>
        <p:nvSpPr>
          <p:cNvPr id="7" name="Text 49"/>
          <p:cNvSpPr txBox="1"/>
          <p:nvPr/>
        </p:nvSpPr>
        <p:spPr>
          <a:xfrm>
            <a:off x="777240" y="3154680"/>
            <a:ext cx="1874520" cy="1188720"/>
          </a:xfrm>
          <a:prstGeom prst="rect">
            <a:avLst/>
          </a:prstGeom>
          <a:noFill/>
          <a:ln/>
        </p:spPr>
        <p:txBody>
          <a:bodyPr wrap="square" lIns="0" tIns="0" rIns="0" bIns="0" rtlCol="0" anchor="t"/>
          <a:lstStyle/>
          <a:p>
            <a:pPr indent="0" marL="0">
              <a:buNone/>
            </a:pPr>
            <a:r>
              <a:rPr lang="en-US" sz="1400" dirty="0">
                <a:solidFill>
                  <a:schemeClr val="tx2"/>
                </a:solidFill>
              </a:rPr>
              <a:t>Sends two messages: “I'm here” when the customer opens the app, and “here's what they did” afterwards.</a:t>
            </a:r>
            <a:endParaRPr lang="en-US" sz="1400" dirty="0"/>
          </a:p>
        </p:txBody>
      </p:sp>
      <p:sp>
        <p:nvSpPr>
          <p:cNvPr id="8" name="API card 50"/>
          <p:cNvSpPr/>
          <p:nvPr/>
        </p:nvSpPr>
        <p:spPr>
          <a:xfrm>
            <a:off x="3794760" y="1920240"/>
            <a:ext cx="2926080" cy="3108960"/>
          </a:xfrm>
          <a:prstGeom prst="roundRect">
            <a:avLst>
              <a:gd name="adj" fmla="val 2500"/>
            </a:avLst>
          </a:prstGeom>
          <a:solidFill>
            <a:schemeClr val="tx1"/>
          </a:solidFill>
          <a:ln/>
        </p:spPr>
      </p:sp>
      <p:sp>
        <p:nvSpPr>
          <p:cNvPr id="9" name="Text 51"/>
          <p:cNvSpPr txBox="1"/>
          <p:nvPr/>
        </p:nvSpPr>
        <p:spPr>
          <a:xfrm>
            <a:off x="4069080" y="2148840"/>
            <a:ext cx="2377440" cy="365760"/>
          </a:xfrm>
          <a:prstGeom prst="rect">
            <a:avLst/>
          </a:prstGeom>
          <a:noFill/>
          <a:ln/>
        </p:spPr>
        <p:txBody>
          <a:bodyPr wrap="square" lIns="0" tIns="0" rIns="0" bIns="0" rtlCol="0" anchor="t"/>
          <a:lstStyle/>
          <a:p>
            <a:pPr indent="0" marL="0">
              <a:buNone/>
            </a:pPr>
            <a:r>
              <a:rPr lang="en-US" sz="1900" b="1" dirty="0">
                <a:solidFill>
                  <a:schemeClr val="bg1"/>
                </a:solidFill>
              </a:rPr>
              <a:t>The API</a:t>
            </a:r>
            <a:endParaRPr lang="en-US" sz="1900" dirty="0"/>
          </a:p>
        </p:txBody>
      </p:sp>
      <p:sp>
        <p:nvSpPr>
          <p:cNvPr id="10" name="Text 52"/>
          <p:cNvSpPr txBox="1"/>
          <p:nvPr/>
        </p:nvSpPr>
        <p:spPr>
          <a:xfrm>
            <a:off x="4069080" y="2542032"/>
            <a:ext cx="2377440" cy="274320"/>
          </a:xfrm>
          <a:prstGeom prst="rect">
            <a:avLst/>
          </a:prstGeom>
          <a:noFill/>
          <a:ln/>
        </p:spPr>
        <p:txBody>
          <a:bodyPr wrap="square" lIns="0" tIns="0" rIns="0" bIns="0" rtlCol="0" anchor="t"/>
          <a:lstStyle/>
          <a:p>
            <a:pPr indent="0" marL="0">
              <a:buNone/>
            </a:pPr>
            <a:r>
              <a:rPr lang="en-US" sz="1300" i="1" dirty="0">
                <a:solidFill>
                  <a:schemeClr val="accent5"/>
                </a:solidFill>
              </a:rPr>
              <a:t>the shop assistant</a:t>
            </a:r>
            <a:endParaRPr lang="en-US" sz="1300" dirty="0"/>
          </a:p>
        </p:txBody>
      </p:sp>
      <p:sp>
        <p:nvSpPr>
          <p:cNvPr id="11" name="Text 53"/>
          <p:cNvSpPr txBox="1"/>
          <p:nvPr/>
        </p:nvSpPr>
        <p:spPr>
          <a:xfrm>
            <a:off x="4069080" y="2926080"/>
            <a:ext cx="2377440" cy="2103120"/>
          </a:xfrm>
          <a:prstGeom prst="rect">
            <a:avLst/>
          </a:prstGeom>
          <a:noFill/>
          <a:ln/>
        </p:spPr>
        <p:txBody>
          <a:bodyPr wrap="square" lIns="0" tIns="0" rIns="0" bIns="0" rtlCol="0" anchor="t"/>
          <a:lstStyle/>
          <a:p>
            <a:pPr indent="0" marL="0">
              <a:buNone/>
            </a:pPr>
            <a:r>
              <a:rPr lang="en-US" sz="1400" dirty="0">
                <a:solidFill>
                  <a:schemeClr val="bg2"/>
                </a:solidFill>
              </a:rPr>
              <a:t>A FastAPI web service. It makes every decision and writes every decision down. Two endpoints: POST /invocations and POST /response.</a:t>
            </a:r>
            <a:endParaRPr lang="en-US" sz="1400" dirty="0"/>
          </a:p>
        </p:txBody>
      </p:sp>
      <p:sp>
        <p:nvSpPr>
          <p:cNvPr id="12" name="Arrow 54"/>
          <p:cNvSpPr/>
          <p:nvPr/>
        </p:nvSpPr>
        <p:spPr>
          <a:xfrm>
            <a:off x="2880360" y="3063240"/>
            <a:ext cx="914400" cy="0"/>
          </a:xfrm>
          <a:prstGeom prst="line">
            <a:avLst/>
          </a:prstGeom>
          <a:noFill/>
          <a:ln w="19050">
            <a:solidFill>
              <a:schemeClr val="tx1"/>
            </a:solidFill>
            <a:prstDash val="solid"/>
            <a:tailEnd type="triangle"/>
          </a:ln>
        </p:spPr>
      </p:sp>
      <p:sp>
        <p:nvSpPr>
          <p:cNvPr id="13" name="Text 55"/>
          <p:cNvSpPr txBox="1"/>
          <p:nvPr/>
        </p:nvSpPr>
        <p:spPr>
          <a:xfrm>
            <a:off x="2834640" y="2761488"/>
            <a:ext cx="1005840" cy="256032"/>
          </a:xfrm>
          <a:prstGeom prst="rect">
            <a:avLst/>
          </a:prstGeom>
          <a:noFill/>
          <a:ln/>
        </p:spPr>
        <p:txBody>
          <a:bodyPr wrap="square" lIns="0" tIns="0" rIns="0" bIns="0" rtlCol="0" anchor="t"/>
          <a:lstStyle/>
          <a:p>
            <a:pPr algn="ctr" indent="0" marL="0">
              <a:buNone/>
            </a:pPr>
            <a:r>
              <a:rPr lang="en-US" sz="1100" dirty="0">
                <a:solidFill>
                  <a:schemeClr val="tx2"/>
                </a:solidFill>
              </a:rPr>
              <a:t>steps 1 and 5</a:t>
            </a:r>
            <a:endParaRPr lang="en-US" sz="1100" dirty="0"/>
          </a:p>
        </p:txBody>
      </p:sp>
      <p:sp>
        <p:nvSpPr>
          <p:cNvPr id="14" name="Arrow 56"/>
          <p:cNvSpPr/>
          <p:nvPr/>
        </p:nvSpPr>
        <p:spPr>
          <a:xfrm flipH="1">
            <a:off x="2880360" y="3886200"/>
            <a:ext cx="914400" cy="0"/>
          </a:xfrm>
          <a:prstGeom prst="line">
            <a:avLst/>
          </a:prstGeom>
          <a:noFill/>
          <a:ln w="19050">
            <a:solidFill>
              <a:schemeClr val="tx1"/>
            </a:solidFill>
            <a:prstDash val="solid"/>
            <a:tailEnd type="triangle"/>
          </a:ln>
        </p:spPr>
      </p:sp>
      <p:sp>
        <p:nvSpPr>
          <p:cNvPr id="15" name="Text 57"/>
          <p:cNvSpPr txBox="1"/>
          <p:nvPr/>
        </p:nvSpPr>
        <p:spPr>
          <a:xfrm>
            <a:off x="2834640" y="3950208"/>
            <a:ext cx="1005840" cy="256032"/>
          </a:xfrm>
          <a:prstGeom prst="rect">
            <a:avLst/>
          </a:prstGeom>
          <a:noFill/>
          <a:ln/>
        </p:spPr>
        <p:txBody>
          <a:bodyPr wrap="square" lIns="0" tIns="0" rIns="0" bIns="0" rtlCol="0" anchor="t"/>
          <a:lstStyle/>
          <a:p>
            <a:pPr algn="ctr" indent="0" marL="0">
              <a:buNone/>
            </a:pPr>
            <a:r>
              <a:rPr lang="en-US" sz="1100" dirty="0">
                <a:solidFill>
                  <a:schemeClr val="tx2"/>
                </a:solidFill>
              </a:rPr>
              <a:t>step 4 reply</a:t>
            </a:r>
            <a:endParaRPr lang="en-US" sz="1100" dirty="0"/>
          </a:p>
        </p:txBody>
      </p:sp>
      <p:sp>
        <p:nvSpPr>
          <p:cNvPr id="16" name="Store card 58"/>
          <p:cNvSpPr/>
          <p:nvPr/>
        </p:nvSpPr>
        <p:spPr>
          <a:xfrm>
            <a:off x="7315200" y="1691640"/>
            <a:ext cx="4327855" cy="1060704"/>
          </a:xfrm>
          <a:prstGeom prst="roundRect">
            <a:avLst>
              <a:gd name="adj" fmla="val 6897"/>
            </a:avLst>
          </a:prstGeom>
          <a:solidFill>
            <a:schemeClr val="bg2"/>
          </a:solidFill>
          <a:ln/>
        </p:spPr>
      </p:sp>
      <p:sp>
        <p:nvSpPr>
          <p:cNvPr id="17" name="Text 59"/>
          <p:cNvSpPr txBox="1"/>
          <p:nvPr/>
        </p:nvSpPr>
        <p:spPr>
          <a:xfrm>
            <a:off x="7543800" y="1819656"/>
            <a:ext cx="3870655" cy="329184"/>
          </a:xfrm>
          <a:prstGeom prst="rect">
            <a:avLst/>
          </a:prstGeom>
          <a:noFill/>
          <a:ln/>
        </p:spPr>
        <p:txBody>
          <a:bodyPr wrap="square" lIns="0" tIns="0" rIns="0" bIns="0" rtlCol="0" anchor="t"/>
          <a:lstStyle/>
          <a:p>
            <a:pPr indent="0" marL="0">
              <a:buNone/>
            </a:pPr>
            <a:r>
              <a:rPr lang="en-US" sz="1600" b="1" dirty="0">
                <a:solidFill>
                  <a:schemeClr val="tx1"/>
                </a:solidFill>
              </a:rPr>
              <a:t>customers table  </a:t>
            </a:r>
            <a:pPr indent="0" marL="0">
              <a:buNone/>
            </a:pPr>
            <a:r>
              <a:rPr lang="en-US" sz="1300" i="1" dirty="0">
                <a:solidFill>
                  <a:schemeClr val="accent1"/>
                </a:solidFill>
              </a:rPr>
              <a:t>the regulars' file</a:t>
            </a:r>
            <a:endParaRPr lang="en-US" sz="1400" dirty="0"/>
          </a:p>
        </p:txBody>
      </p:sp>
      <p:sp>
        <p:nvSpPr>
          <p:cNvPr id="18" name="Text 60"/>
          <p:cNvSpPr txBox="1"/>
          <p:nvPr/>
        </p:nvSpPr>
        <p:spPr>
          <a:xfrm>
            <a:off x="7543800" y="2194560"/>
            <a:ext cx="3870655" cy="502920"/>
          </a:xfrm>
          <a:prstGeom prst="rect">
            <a:avLst/>
          </a:prstGeom>
          <a:noFill/>
          <a:ln/>
        </p:spPr>
        <p:txBody>
          <a:bodyPr wrap="square" lIns="0" tIns="0" rIns="0" bIns="0" rtlCol="0" anchor="t"/>
          <a:lstStyle/>
          <a:p>
            <a:pPr indent="0" marL="0">
              <a:buNone/>
            </a:pPr>
            <a:r>
              <a:rPr lang="en-US" sz="1300" dirty="0">
                <a:solidFill>
                  <a:schemeClr val="tx2"/>
                </a:solidFill>
              </a:rPr>
              <a:t>5,000 profiles: segment, device, contract, spend, province</a:t>
            </a:r>
            <a:endParaRPr lang="en-US" sz="1300" dirty="0"/>
          </a:p>
        </p:txBody>
      </p:sp>
      <p:sp>
        <p:nvSpPr>
          <p:cNvPr id="19" name="Arrow 61"/>
          <p:cNvSpPr/>
          <p:nvPr/>
        </p:nvSpPr>
        <p:spPr>
          <a:xfrm>
            <a:off x="6720840" y="2221992"/>
            <a:ext cx="594360" cy="0"/>
          </a:xfrm>
          <a:prstGeom prst="line">
            <a:avLst/>
          </a:prstGeom>
          <a:noFill/>
          <a:ln w="15875">
            <a:solidFill>
              <a:schemeClr val="accent3"/>
            </a:solidFill>
            <a:prstDash val="solid"/>
            <a:tailEnd type="triangle"/>
          </a:ln>
        </p:spPr>
      </p:sp>
      <p:sp>
        <p:nvSpPr>
          <p:cNvPr id="20" name="Store card 62"/>
          <p:cNvSpPr/>
          <p:nvPr/>
        </p:nvSpPr>
        <p:spPr>
          <a:xfrm>
            <a:off x="7315200" y="2898648"/>
            <a:ext cx="4327855" cy="1060704"/>
          </a:xfrm>
          <a:prstGeom prst="roundRect">
            <a:avLst>
              <a:gd name="adj" fmla="val 6897"/>
            </a:avLst>
          </a:prstGeom>
          <a:solidFill>
            <a:schemeClr val="accent1"/>
          </a:solidFill>
          <a:ln/>
        </p:spPr>
      </p:sp>
      <p:sp>
        <p:nvSpPr>
          <p:cNvPr id="21" name="Text 63"/>
          <p:cNvSpPr txBox="1"/>
          <p:nvPr/>
        </p:nvSpPr>
        <p:spPr>
          <a:xfrm>
            <a:off x="7543800" y="3026664"/>
            <a:ext cx="3870655" cy="329184"/>
          </a:xfrm>
          <a:prstGeom prst="rect">
            <a:avLst/>
          </a:prstGeom>
          <a:noFill/>
          <a:ln/>
        </p:spPr>
        <p:txBody>
          <a:bodyPr wrap="square" lIns="0" tIns="0" rIns="0" bIns="0" rtlCol="0" anchor="t"/>
          <a:lstStyle/>
          <a:p>
            <a:pPr indent="0" marL="0">
              <a:buNone/>
            </a:pPr>
            <a:r>
              <a:rPr lang="en-US" sz="1600" b="1" dirty="0">
                <a:solidFill>
                  <a:schemeClr val="bg1"/>
                </a:solidFill>
              </a:rPr>
              <a:t>Options store  </a:t>
            </a:r>
            <a:pPr indent="0" marL="0">
              <a:buNone/>
            </a:pPr>
            <a:r>
              <a:rPr lang="en-US" sz="1300" i="1" dirty="0">
                <a:solidFill>
                  <a:schemeClr val="accent5"/>
                </a:solidFill>
              </a:rPr>
              <a:t>the notebook: the model itself</a:t>
            </a:r>
            <a:endParaRPr lang="en-US" sz="1400" dirty="0"/>
          </a:p>
        </p:txBody>
      </p:sp>
      <p:sp>
        <p:nvSpPr>
          <p:cNvPr id="22" name="Text 64"/>
          <p:cNvSpPr txBox="1"/>
          <p:nvPr/>
        </p:nvSpPr>
        <p:spPr>
          <a:xfrm>
            <a:off x="7543800" y="3401568"/>
            <a:ext cx="3870655" cy="502920"/>
          </a:xfrm>
          <a:prstGeom prst="rect">
            <a:avLst/>
          </a:prstGeom>
          <a:noFill/>
          <a:ln/>
        </p:spPr>
        <p:txBody>
          <a:bodyPr wrap="square" lIns="0" tIns="0" rIns="0" bIns="0" rtlCol="0" anchor="t"/>
          <a:lstStyle/>
          <a:p>
            <a:pPr indent="0" marL="0">
              <a:buNone/>
            </a:pPr>
            <a:r>
              <a:rPr lang="en-US" sz="1300" dirty="0">
                <a:solidFill>
                  <a:schemeClr val="bg2"/>
                </a:solidFill>
              </a:rPr>
              <a:t>One belief per segment × offer, updated after every response</a:t>
            </a:r>
            <a:endParaRPr lang="en-US" sz="1300" dirty="0"/>
          </a:p>
        </p:txBody>
      </p:sp>
      <p:sp>
        <p:nvSpPr>
          <p:cNvPr id="23" name="Arrow 65"/>
          <p:cNvSpPr/>
          <p:nvPr/>
        </p:nvSpPr>
        <p:spPr>
          <a:xfrm>
            <a:off x="6720840" y="3429000"/>
            <a:ext cx="594360" cy="0"/>
          </a:xfrm>
          <a:prstGeom prst="line">
            <a:avLst/>
          </a:prstGeom>
          <a:noFill/>
          <a:ln w="15875">
            <a:solidFill>
              <a:schemeClr val="accent3"/>
            </a:solidFill>
            <a:prstDash val="solid"/>
            <a:tailEnd type="triangle"/>
          </a:ln>
        </p:spPr>
      </p:sp>
      <p:sp>
        <p:nvSpPr>
          <p:cNvPr id="24" name="Store card 66"/>
          <p:cNvSpPr/>
          <p:nvPr/>
        </p:nvSpPr>
        <p:spPr>
          <a:xfrm>
            <a:off x="7315200" y="4105656"/>
            <a:ext cx="4327855" cy="1060704"/>
          </a:xfrm>
          <a:prstGeom prst="roundRect">
            <a:avLst>
              <a:gd name="adj" fmla="val 6897"/>
            </a:avLst>
          </a:prstGeom>
          <a:solidFill>
            <a:schemeClr val="accent1"/>
          </a:solidFill>
          <a:ln/>
        </p:spPr>
      </p:sp>
      <p:sp>
        <p:nvSpPr>
          <p:cNvPr id="25" name="Text 67"/>
          <p:cNvSpPr txBox="1"/>
          <p:nvPr/>
        </p:nvSpPr>
        <p:spPr>
          <a:xfrm>
            <a:off x="7543800" y="4233672"/>
            <a:ext cx="3870655" cy="329184"/>
          </a:xfrm>
          <a:prstGeom prst="rect">
            <a:avLst/>
          </a:prstGeom>
          <a:noFill/>
          <a:ln/>
        </p:spPr>
        <p:txBody>
          <a:bodyPr wrap="square" lIns="0" tIns="0" rIns="0" bIns="0" rtlCol="0" anchor="t"/>
          <a:lstStyle/>
          <a:p>
            <a:pPr indent="0" marL="0">
              <a:buNone/>
            </a:pPr>
            <a:r>
              <a:rPr lang="en-US" sz="1600" b="1" dirty="0">
                <a:solidFill>
                  <a:schemeClr val="bg1"/>
                </a:solidFill>
              </a:rPr>
              <a:t>Event log  </a:t>
            </a:r>
            <a:pPr indent="0" marL="0">
              <a:buNone/>
            </a:pPr>
            <a:r>
              <a:rPr lang="en-US" sz="1300" i="1" dirty="0">
                <a:solidFill>
                  <a:schemeClr val="accent5"/>
                </a:solidFill>
              </a:rPr>
              <a:t>the receipt book</a:t>
            </a:r>
            <a:endParaRPr lang="en-US" sz="1400" dirty="0"/>
          </a:p>
        </p:txBody>
      </p:sp>
      <p:sp>
        <p:nvSpPr>
          <p:cNvPr id="26" name="Text 68"/>
          <p:cNvSpPr txBox="1"/>
          <p:nvPr/>
        </p:nvSpPr>
        <p:spPr>
          <a:xfrm>
            <a:off x="7543800" y="4608576"/>
            <a:ext cx="3870655" cy="502920"/>
          </a:xfrm>
          <a:prstGeom prst="rect">
            <a:avLst/>
          </a:prstGeom>
          <a:noFill/>
          <a:ln/>
        </p:spPr>
        <p:txBody>
          <a:bodyPr wrap="square" lIns="0" tIns="0" rIns="0" bIns="0" rtlCol="0" anchor="t"/>
          <a:lstStyle/>
          <a:p>
            <a:pPr indent="0" marL="0">
              <a:buNone/>
            </a:pPr>
            <a:r>
              <a:rPr lang="en-US" sz="1300" dirty="0">
                <a:solidFill>
                  <a:schemeClr val="bg2"/>
                </a:solidFill>
              </a:rPr>
              <a:t>Every app open, every offer shown, every response, kept in full</a:t>
            </a:r>
            <a:endParaRPr lang="en-US" sz="1300" dirty="0"/>
          </a:p>
        </p:txBody>
      </p:sp>
      <p:sp>
        <p:nvSpPr>
          <p:cNvPr id="27" name="Arrow 69"/>
          <p:cNvSpPr/>
          <p:nvPr/>
        </p:nvSpPr>
        <p:spPr>
          <a:xfrm>
            <a:off x="6720840" y="4636008"/>
            <a:ext cx="594360" cy="0"/>
          </a:xfrm>
          <a:prstGeom prst="line">
            <a:avLst/>
          </a:prstGeom>
          <a:noFill/>
          <a:ln w="15875">
            <a:solidFill>
              <a:schemeClr val="accent3"/>
            </a:solidFill>
            <a:prstDash val="solid"/>
            <a:tailEnd type="triangle"/>
          </a:ln>
        </p:spPr>
      </p:sp>
      <p:sp>
        <p:nvSpPr>
          <p:cNvPr id="28" name="Text 70"/>
          <p:cNvSpPr txBox="1"/>
          <p:nvPr/>
        </p:nvSpPr>
        <p:spPr>
          <a:xfrm>
            <a:off x="7315200" y="5349240"/>
            <a:ext cx="4327855" cy="457200"/>
          </a:xfrm>
          <a:prstGeom prst="rect">
            <a:avLst/>
          </a:prstGeom>
          <a:noFill/>
          <a:ln/>
        </p:spPr>
        <p:txBody>
          <a:bodyPr wrap="square" lIns="0" tIns="0" rIns="0" bIns="0" rtlCol="0" anchor="t"/>
          <a:lstStyle/>
          <a:p>
            <a:pPr indent="0" marL="0">
              <a:buNone/>
            </a:pPr>
            <a:r>
              <a:rPr lang="en-US" sz="1200" i="1" dirty="0">
                <a:solidFill>
                  <a:schemeClr val="tx2"/>
                </a:solidFill>
              </a:rPr>
              <a:t>All three live in one database, Postgres (or SQLite on a laptop), shared by every copy of the API.</a:t>
            </a:r>
            <a:endParaRPr lang="en-US" sz="1200" dirty="0"/>
          </a:p>
        </p:txBody>
      </p:sp>
      <p:sp>
        <p:nvSpPr>
          <p:cNvPr id="29" name="Card 71"/>
          <p:cNvSpPr/>
          <p:nvPr/>
        </p:nvSpPr>
        <p:spPr>
          <a:xfrm>
            <a:off x="548640" y="5669280"/>
            <a:ext cx="6400800" cy="566928"/>
          </a:xfrm>
          <a:prstGeom prst="roundRect">
            <a:avLst>
              <a:gd name="adj" fmla="val 12903"/>
            </a:avLst>
          </a:prstGeom>
          <a:solidFill>
            <a:schemeClr val="bg1"/>
          </a:solidFill>
          <a:ln w="12700">
            <a:solidFill>
              <a:schemeClr val="accent3"/>
            </a:solidFill>
            <a:prstDash val="solid"/>
          </a:ln>
        </p:spPr>
      </p:sp>
      <p:sp>
        <p:nvSpPr>
          <p:cNvPr id="30" name="Text 72"/>
          <p:cNvSpPr txBox="1"/>
          <p:nvPr/>
        </p:nvSpPr>
        <p:spPr>
          <a:xfrm>
            <a:off x="777240" y="5788152"/>
            <a:ext cx="6035040" cy="329184"/>
          </a:xfrm>
          <a:prstGeom prst="rect">
            <a:avLst/>
          </a:prstGeom>
          <a:noFill/>
          <a:ln/>
        </p:spPr>
        <p:txBody>
          <a:bodyPr wrap="square" lIns="0" tIns="0" rIns="0" bIns="0" rtlCol="0" anchor="t"/>
          <a:lstStyle/>
          <a:p>
            <a:pPr indent="0" marL="0">
              <a:buNone/>
            </a:pPr>
            <a:r>
              <a:rPr lang="en-US" sz="1300" b="1" dirty="0">
                <a:solidFill>
                  <a:schemeClr val="tx1"/>
                </a:solidFill>
              </a:rPr>
              <a:t>How each step slide reads:  </a:t>
            </a:r>
            <a:pPr indent="0" marL="0">
              <a:buNone/>
            </a:pPr>
            <a:r>
              <a:rPr lang="en-US" sz="1300" dirty="0">
                <a:solidFill>
                  <a:schemeClr val="tx1"/>
                </a:solidFill>
              </a:rPr>
              <a:t>In plain words  ·  Under the hood  ·  Why it's built this way</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1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Opens the app</a:t>
            </a:r>
            <a:endParaRPr lang="en-US" sz="3600" dirty="0"/>
          </a:p>
        </p:txBody>
      </p:sp>
      <p:sp>
        <p:nvSpPr>
          <p:cNvPr id="4" name="Step 73"/>
          <p:cNvSpPr txBox="1"/>
          <p:nvPr/>
        </p:nvSpPr>
        <p:spPr>
          <a:xfrm>
            <a:off x="9046159"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 name="Step 74"/>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75"/>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76"/>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77"/>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78"/>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79"/>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11" name="Text 80"/>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The customer opens the app, and the app asks the recommender which offers to show.</a:t>
            </a:r>
            <a:endParaRPr lang="en-US" sz="1600" dirty="0"/>
          </a:p>
        </p:txBody>
      </p:sp>
      <p:sp>
        <p:nvSpPr>
          <p:cNvPr id="12" name="Card 81"/>
          <p:cNvSpPr/>
          <p:nvPr/>
        </p:nvSpPr>
        <p:spPr>
          <a:xfrm>
            <a:off x="548640" y="1874520"/>
            <a:ext cx="4343400" cy="3566160"/>
          </a:xfrm>
          <a:prstGeom prst="roundRect">
            <a:avLst>
              <a:gd name="adj" fmla="val 2051"/>
            </a:avLst>
          </a:prstGeom>
          <a:solidFill>
            <a:schemeClr val="bg2"/>
          </a:solidFill>
          <a:ln/>
        </p:spPr>
      </p:sp>
      <p:sp>
        <p:nvSpPr>
          <p:cNvPr id="13" name="Text 82"/>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83"/>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A customer walks up to the counter. The app decides nothing itself: it says who is here, then waits for three offers to show.</a:t>
            </a:r>
            <a:endParaRPr lang="en-US" sz="1600" dirty="0"/>
          </a:p>
          <a:p>
            <a:pPr indent="0" marL="0">
              <a:spcAft>
                <a:spcPts val="1000"/>
              </a:spcAft>
              <a:buNone/>
            </a:pPr>
            <a:r>
              <a:rPr lang="en-US" sz="1600" dirty="0">
                <a:solidFill>
                  <a:schemeClr val="tx1"/>
                </a:solidFill>
              </a:rPr>
              <a:t>In our example that is customer C00042, a small-business owner, opening the app on a Wednesday evening.</a:t>
            </a:r>
            <a:endParaRPr lang="en-US" sz="1600" dirty="0"/>
          </a:p>
        </p:txBody>
      </p:sp>
      <p:sp>
        <p:nvSpPr>
          <p:cNvPr id="15" name="Panel 84"/>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85"/>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86"/>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87"/>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88"/>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The app stays thin: it says who, and the server owns every decision. Every choice is made, and recorded, in one place, and a new policy never needs an app release.</a:t>
            </a:r>
            <a:endParaRPr lang="en-US" sz="1400" dirty="0"/>
          </a:p>
        </p:txBody>
      </p:sp>
      <p:sp>
        <p:nvSpPr>
          <p:cNvPr id="20" name="Card 89"/>
          <p:cNvSpPr/>
          <p:nvPr/>
        </p:nvSpPr>
        <p:spPr>
          <a:xfrm>
            <a:off x="5440680" y="2423160"/>
            <a:ext cx="5928055" cy="1051560"/>
          </a:xfrm>
          <a:prstGeom prst="roundRect">
            <a:avLst>
              <a:gd name="adj" fmla="val 4348"/>
            </a:avLst>
          </a:prstGeom>
          <a:solidFill>
            <a:schemeClr val="tx1"/>
          </a:solidFill>
          <a:ln/>
        </p:spPr>
      </p:sp>
      <p:sp>
        <p:nvSpPr>
          <p:cNvPr id="21" name="Text 90"/>
          <p:cNvSpPr txBox="1"/>
          <p:nvPr/>
        </p:nvSpPr>
        <p:spPr>
          <a:xfrm>
            <a:off x="5605272" y="2532888"/>
            <a:ext cx="5653735" cy="868680"/>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POST /invocations</a:t>
            </a:r>
            <a:endParaRPr lang="en-US" sz="1200" dirty="0"/>
          </a:p>
          <a:p>
            <a:pPr indent="0" marL="0">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bg2"/>
                </a:solidFill>
                <a:latin typeface="Consolas" pitchFamily="34" charset="0"/>
                <a:ea typeface="Consolas" pitchFamily="34" charset="-122"/>
                <a:cs typeface="Consolas" pitchFamily="34" charset="-120"/>
              </a:rPr>
              <a:t>  "customer_id": "C00042",</a:t>
            </a:r>
            <a:endParaRPr lang="en-US" sz="1200" dirty="0"/>
          </a:p>
          <a:p>
            <a:pPr indent="0" marL="0">
              <a:buNone/>
            </a:pPr>
            <a:r>
              <a:rPr lang="en-US" sz="1200" dirty="0">
                <a:solidFill>
                  <a:schemeClr val="bg2"/>
                </a:solidFill>
                <a:latin typeface="Consolas" pitchFamily="34" charset="0"/>
                <a:ea typeface="Consolas" pitchFamily="34" charset="-122"/>
                <a:cs typeface="Consolas" pitchFamily="34" charset="-120"/>
              </a:rPr>
              <a:t>  "context": {"day": "2026-10-14", "time_of_day": "evening"}</a:t>
            </a:r>
            <a:endParaRPr lang="en-US" sz="1200" dirty="0"/>
          </a:p>
          <a:p>
            <a:pPr indent="0" marL="0">
              <a:buNone/>
            </a:pPr>
            <a:r>
              <a:rPr lang="en-US" sz="1200" dirty="0">
                <a:solidFill>
                  <a:schemeClr val="bg2"/>
                </a:solidFill>
                <a:latin typeface="Consolas" pitchFamily="34" charset="0"/>
                <a:ea typeface="Consolas" pitchFamily="34" charset="-122"/>
                <a:cs typeface="Consolas" pitchFamily="34" charset="-120"/>
              </a:rPr>
              <a:t>}</a:t>
            </a:r>
            <a:endParaRPr lang="en-US" sz="1200" dirty="0"/>
          </a:p>
        </p:txBody>
      </p:sp>
      <p:sp>
        <p:nvSpPr>
          <p:cNvPr id="22" name="Text 91"/>
          <p:cNvSpPr txBox="1"/>
          <p:nvPr/>
        </p:nvSpPr>
        <p:spPr>
          <a:xfrm>
            <a:off x="5440680" y="3538728"/>
            <a:ext cx="5928055" cy="411480"/>
          </a:xfrm>
          <a:prstGeom prst="rect">
            <a:avLst/>
          </a:prstGeom>
          <a:noFill/>
          <a:ln/>
        </p:spPr>
        <p:txBody>
          <a:bodyPr wrap="square" lIns="0" tIns="0" rIns="0" bIns="0" rtlCol="0" anchor="t"/>
          <a:lstStyle/>
          <a:p>
            <a:pPr indent="0" marL="0">
              <a:buNone/>
            </a:pPr>
            <a:r>
              <a:rPr lang="en-US" sz="1200" i="1" dirty="0">
                <a:solidFill>
                  <a:schemeClr val="tx2"/>
                </a:solidFill>
              </a:rPr>
              <a:t>The context block is optional. Tests and the simulator use it to set the moment; a real app leaves it out, and the server uses its own clock.</a:t>
            </a:r>
            <a:endParaRPr lang="en-US" sz="1200" dirty="0"/>
          </a:p>
        </p:txBody>
      </p:sp>
      <p:sp>
        <p:nvSpPr>
          <p:cNvPr id="23" name="Text 92"/>
          <p:cNvSpPr txBox="1"/>
          <p:nvPr/>
        </p:nvSpPr>
        <p:spPr>
          <a:xfrm>
            <a:off x="5440680" y="4014216"/>
            <a:ext cx="5928055" cy="96012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chemeClr val="tx1"/>
                </a:solidFill>
              </a:rPr>
              <a:t>Optional fields: </a:t>
            </a:r>
            <a:pPr indent="0" marL="0">
              <a:spcAft>
                <a:spcPts val="600"/>
              </a:spcAft>
              <a:buNone/>
            </a:pPr>
            <a:r>
              <a:rPr lang="en-US" sz="1300" dirty="0">
                <a:solidFill>
                  <a:schemeClr val="tx1"/>
                </a:solidFill>
              </a:rPr>
              <a:t>channel (app, USSD or SMS), number_of_offers (3 by default, 5 at most), and ?policy= to serve a named policy for an A/B test.</a:t>
            </a:r>
            <a:endParaRPr lang="en-US" sz="1300" dirty="0"/>
          </a:p>
          <a:p>
            <a:pPr marL="177800" indent="-177800">
              <a:spcAft>
                <a:spcPts val="600"/>
              </a:spcAft>
              <a:buSzPct val="100000"/>
              <a:buChar char="•"/>
            </a:pPr>
            <a:r>
              <a:rPr lang="en-US" sz="1300" b="1" dirty="0">
                <a:solidFill>
                  <a:schemeClr val="tx1"/>
                </a:solidFill>
              </a:rPr>
              <a:t>Checked on arrival: </a:t>
            </a:r>
            <a:pPr indent="0" marL="0">
              <a:spcAft>
                <a:spcPts val="600"/>
              </a:spcAft>
              <a:buNone/>
            </a:pPr>
            <a:r>
              <a:rPr lang="en-US" sz="1300" dirty="0">
                <a:solidFill>
                  <a:schemeClr val="tx1"/>
                </a:solidFill>
              </a:rPr>
              <a:t>an unknown field or bad value gets 422; an unknown customer or policy, 404; a missing API key, 401 when keys are switched on.</a:t>
            </a:r>
            <a:endParaRPr lang="en-US" sz="1300" dirty="0"/>
          </a:p>
        </p:txBody>
      </p:sp>
      <p:sp>
        <p:nvSpPr>
          <p:cNvPr id="24" name="Text 93"/>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api/main.py · invoke()   ·   api/schemas.py · InvocationRequest</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2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Build the moment</a:t>
            </a:r>
            <a:endParaRPr lang="en-US" sz="3600" dirty="0"/>
          </a:p>
        </p:txBody>
      </p:sp>
      <p:sp>
        <p:nvSpPr>
          <p:cNvPr id="4" name="Step 94"/>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95"/>
          <p:cNvSpPr txBox="1"/>
          <p:nvPr/>
        </p:nvSpPr>
        <p:spPr>
          <a:xfrm>
            <a:off x="9430207"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6" name="Step 96"/>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97"/>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98"/>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99"/>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100"/>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11" name="Text 101"/>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The API combines what it knows about the customer with the moment they opened the app.</a:t>
            </a:r>
            <a:endParaRPr lang="en-US" sz="1600" dirty="0"/>
          </a:p>
        </p:txBody>
      </p:sp>
      <p:sp>
        <p:nvSpPr>
          <p:cNvPr id="12" name="Card 102"/>
          <p:cNvSpPr/>
          <p:nvPr/>
        </p:nvSpPr>
        <p:spPr>
          <a:xfrm>
            <a:off x="548640" y="1874520"/>
            <a:ext cx="4343400" cy="3566160"/>
          </a:xfrm>
          <a:prstGeom prst="roundRect">
            <a:avLst>
              <a:gd name="adj" fmla="val 2051"/>
            </a:avLst>
          </a:prstGeom>
          <a:solidFill>
            <a:schemeClr val="bg2"/>
          </a:solidFill>
          <a:ln/>
        </p:spPr>
      </p:sp>
      <p:sp>
        <p:nvSpPr>
          <p:cNvPr id="13" name="Text 103"/>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104"/>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The assistant notes who this is, and when.</a:t>
            </a:r>
            <a:endParaRPr lang="en-US" sz="1600" dirty="0"/>
          </a:p>
          <a:p>
            <a:pPr indent="0" marL="0">
              <a:spcAft>
                <a:spcPts val="1000"/>
              </a:spcAft>
              <a:buNone/>
            </a:pPr>
            <a:r>
              <a:rPr lang="en-US" sz="1600" dirty="0">
                <a:solidFill>
                  <a:schemeClr val="tx1"/>
                </a:solidFill>
              </a:rPr>
              <a:t>Who: a small-business owner with a high-end phone, spending about R676 a month. When: Wednesday evening, mid-month, so not payday week.</a:t>
            </a:r>
            <a:endParaRPr lang="en-US" sz="1600" dirty="0"/>
          </a:p>
          <a:p>
            <a:pPr indent="0" marL="0">
              <a:spcAft>
                <a:spcPts val="1000"/>
              </a:spcAft>
              <a:buNone/>
            </a:pPr>
            <a:r>
              <a:rPr lang="en-US" sz="1600" dirty="0">
                <a:solidFill>
                  <a:schemeClr val="tx1"/>
                </a:solidFill>
              </a:rPr>
              <a:t>The same person wants different things at different moments: payday changes what people buy.</a:t>
            </a:r>
            <a:endParaRPr lang="en-US" sz="1600" dirty="0"/>
          </a:p>
        </p:txBody>
      </p:sp>
      <p:sp>
        <p:nvSpPr>
          <p:cNvPr id="15" name="Panel 105"/>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106"/>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107"/>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108"/>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109"/>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The profile is who someone is; the moment is when. Keeping them apart means the moment is fresh on every app open, and payday, the strongest signal here, is never stale.</a:t>
            </a:r>
            <a:endParaRPr lang="en-US" sz="1400" dirty="0"/>
          </a:p>
        </p:txBody>
      </p:sp>
      <p:sp>
        <p:nvSpPr>
          <p:cNvPr id="20" name="Text 110"/>
          <p:cNvSpPr txBox="1"/>
          <p:nvPr/>
        </p:nvSpPr>
        <p:spPr>
          <a:xfrm>
            <a:off x="5440680" y="2404872"/>
            <a:ext cx="2872588" cy="256032"/>
          </a:xfrm>
          <a:prstGeom prst="rect">
            <a:avLst/>
          </a:prstGeom>
          <a:noFill/>
          <a:ln/>
        </p:spPr>
        <p:txBody>
          <a:bodyPr wrap="square" lIns="0" tIns="0" rIns="0" bIns="0" rtlCol="0" anchor="t"/>
          <a:lstStyle/>
          <a:p>
            <a:pPr indent="0" marL="0">
              <a:buNone/>
            </a:pPr>
            <a:r>
              <a:rPr lang="en-US" sz="1200" b="1" dirty="0">
                <a:solidFill>
                  <a:schemeClr val="tx1"/>
                </a:solidFill>
              </a:rPr>
              <a:t>From the profile: customers table</a:t>
            </a:r>
            <a:endParaRPr lang="en-US" sz="1200" dirty="0"/>
          </a:p>
        </p:txBody>
      </p:sp>
      <p:graphicFrame>
        <p:nvGraphicFramePr>
          <p:cNvPr id="6" name="Table 111"/>
          <p:cNvGraphicFramePr>
            <a:graphicFrameLocks noGrp="1"/>
          </p:cNvGraphicFramePr>
          <p:nvPr>
            <p:extLst>
              <p:ext uri="{D42A27DB-BD31-4B8C-83A1-F6EECF244321}">
                <p14:modId xmlns:p14="http://schemas.microsoft.com/office/powerpoint/2010/main" val="1579011935"/>
              </p:ext>
            </p:extLst>
          </p:nvPr>
        </p:nvGraphicFramePr>
        <p:xfrm>
          <a:off x="5440680" y="2697480"/>
          <a:ext cx="2872588" cy="914400"/>
        </p:xfrm>
        <a:graphic>
          <a:graphicData uri="http://schemas.openxmlformats.org/drawingml/2006/table">
            <a:tbl>
              <a:tblPr/>
              <a:tblGrid>
                <a:gridCol w="1579923"/>
                <a:gridCol w="1292664"/>
              </a:tblGrid>
              <a:tr h="265176">
                <a:tc>
                  <a:txBody>
                    <a:bodyPr/>
                    <a:lstStyle/>
                    <a:p>
                      <a:pPr indent="0" marL="0">
                        <a:buNone/>
                      </a:pPr>
                      <a:r>
                        <a:rPr lang="en-US" sz="1200" b="1" dirty="0">
                          <a:solidFill>
                            <a:schemeClr val="bg1"/>
                          </a:solidFill>
                        </a:rPr>
                        <a:t>Field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Value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265176">
                <a:tc>
                  <a:txBody>
                    <a:bodyPr/>
                    <a:lstStyle/>
                    <a:p>
                      <a:pPr indent="0" marL="0">
                        <a:buNone/>
                      </a:pPr>
                      <a:r>
                        <a:rPr lang="en-US" sz="1200" dirty="0">
                          <a:solidFill>
                            <a:schemeClr val="tx1"/>
                          </a:solidFill>
                        </a:rPr>
                        <a:t>segment</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small_business</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device_tier</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high</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prepaid_vs_contract</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prepaid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avg_monthly_spend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R676</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province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KwaZulu-Natal</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bl>
          </a:graphicData>
        </a:graphic>
      </p:graphicFrame>
      <p:sp>
        <p:nvSpPr>
          <p:cNvPr id="22" name="Text 112"/>
          <p:cNvSpPr txBox="1"/>
          <p:nvPr/>
        </p:nvSpPr>
        <p:spPr>
          <a:xfrm>
            <a:off x="8496148" y="2404872"/>
            <a:ext cx="2872588" cy="256032"/>
          </a:xfrm>
          <a:prstGeom prst="rect">
            <a:avLst/>
          </a:prstGeom>
          <a:noFill/>
          <a:ln/>
        </p:spPr>
        <p:txBody>
          <a:bodyPr wrap="square" lIns="0" tIns="0" rIns="0" bIns="0" rtlCol="0" anchor="t"/>
          <a:lstStyle/>
          <a:p>
            <a:pPr indent="0" marL="0">
              <a:buNone/>
            </a:pPr>
            <a:r>
              <a:rPr lang="en-US" sz="1200" b="1" dirty="0">
                <a:solidFill>
                  <a:schemeClr val="tx1"/>
                </a:solidFill>
              </a:rPr>
              <a:t>From the moment: the clock in Johannesburg</a:t>
            </a:r>
            <a:endParaRPr lang="en-US" sz="1200" dirty="0"/>
          </a:p>
        </p:txBody>
      </p:sp>
      <p:graphicFrame>
        <p:nvGraphicFramePr>
          <p:cNvPr id="11" name="Table 113"/>
          <p:cNvGraphicFramePr>
            <a:graphicFrameLocks noGrp="1"/>
          </p:cNvGraphicFramePr>
          <p:nvPr>
            <p:extLst>
              <p:ext uri="{D42A27DB-BD31-4B8C-83A1-F6EECF244321}">
                <p14:modId xmlns:p14="http://schemas.microsoft.com/office/powerpoint/2010/main" val="1579011935"/>
              </p:ext>
            </p:extLst>
          </p:nvPr>
        </p:nvGraphicFramePr>
        <p:xfrm>
          <a:off x="8496148" y="2697480"/>
          <a:ext cx="2872588" cy="914400"/>
        </p:xfrm>
        <a:graphic>
          <a:graphicData uri="http://schemas.openxmlformats.org/drawingml/2006/table">
            <a:tbl>
              <a:tblPr/>
              <a:tblGrid>
                <a:gridCol w="1292664"/>
                <a:gridCol w="1579923"/>
              </a:tblGrid>
              <a:tr h="265176">
                <a:tc>
                  <a:txBody>
                    <a:bodyPr/>
                    <a:lstStyle/>
                    <a:p>
                      <a:pPr indent="0" marL="0">
                        <a:buNone/>
                      </a:pPr>
                      <a:r>
                        <a:rPr lang="en-US" sz="1200" b="1" dirty="0">
                          <a:solidFill>
                            <a:schemeClr val="bg1"/>
                          </a:solidFill>
                        </a:rPr>
                        <a:t>Field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Value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265176">
                <a:tc>
                  <a:txBody>
                    <a:bodyPr/>
                    <a:lstStyle/>
                    <a:p>
                      <a:pPr indent="0" marL="0">
                        <a:buNone/>
                      </a:pPr>
                      <a:r>
                        <a:rPr lang="en-US" sz="1200" dirty="0">
                          <a:solidFill>
                            <a:schemeClr val="tx1"/>
                          </a:solidFill>
                        </a:rPr>
                        <a:t>day_of_week</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wednesday</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time_of_day</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evening (17:00–22:00)</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is_payday_week</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false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channel</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app</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bl>
          </a:graphicData>
        </a:graphic>
      </p:graphicFrame>
      <p:sp>
        <p:nvSpPr>
          <p:cNvPr id="24" name="Text 114"/>
          <p:cNvSpPr txBox="1"/>
          <p:nvPr/>
        </p:nvSpPr>
        <p:spPr>
          <a:xfrm>
            <a:off x="5440680" y="4526280"/>
            <a:ext cx="5928055" cy="530352"/>
          </a:xfrm>
          <a:prstGeom prst="rect">
            <a:avLst/>
          </a:prstGeom>
          <a:noFill/>
          <a:ln/>
        </p:spPr>
        <p:txBody>
          <a:bodyPr wrap="square" lIns="0" tIns="0" rIns="0" bIns="0" rtlCol="0" anchor="t"/>
          <a:lstStyle/>
          <a:p>
            <a:pPr marL="177800" indent="-177800">
              <a:spcAft>
                <a:spcPts val="300"/>
              </a:spcAft>
              <a:buSzPct val="100000"/>
              <a:buChar char="•"/>
            </a:pPr>
            <a:r>
              <a:rPr lang="en-US" sz="1200" b="1" dirty="0">
                <a:solidFill>
                  <a:schemeClr val="tx1"/>
                </a:solidFill>
              </a:rPr>
              <a:t>Payday week: </a:t>
            </a:r>
            <a:pPr indent="0" marL="0">
              <a:spcAft>
                <a:spcPts val="300"/>
              </a:spcAft>
              <a:buNone/>
            </a:pPr>
            <a:r>
              <a:rPr lang="en-US" sz="1200" dirty="0">
                <a:solidFill>
                  <a:schemeClr val="tx1"/>
                </a:solidFill>
              </a:rPr>
              <a:t>salaried from the 25th; pensioners in SASSA grant week (days 1–7).</a:t>
            </a:r>
            <a:endParaRPr lang="en-US" sz="1200" dirty="0"/>
          </a:p>
          <a:p>
            <a:pPr marL="177800" indent="-177800">
              <a:spcAft>
                <a:spcPts val="300"/>
              </a:spcAft>
              <a:buSzPct val="100000"/>
              <a:buChar char="•"/>
            </a:pPr>
            <a:r>
              <a:rPr lang="en-US" sz="1200" b="1" dirty="0">
                <a:solidFill>
                  <a:schemeClr val="tx1"/>
                </a:solidFill>
              </a:rPr>
              <a:t>Eligibility: </a:t>
            </a:r>
            <a:pPr indent="0" marL="0">
              <a:spcAft>
                <a:spcPts val="300"/>
              </a:spcAft>
              <a:buNone/>
            </a:pPr>
            <a:r>
              <a:rPr lang="en-US" sz="1200" dirty="0">
                <a:solidFill>
                  <a:schemeClr val="tx1"/>
                </a:solidFill>
              </a:rPr>
              <a:t>10 of the 12 offers may be shown to small businesses (config/offers.yaml).</a:t>
            </a:r>
            <a:endParaRPr lang="en-US" sz="1200" dirty="0"/>
          </a:p>
        </p:txBody>
      </p:sp>
      <p:sp>
        <p:nvSpPr>
          <p:cNvPr id="25" name="Text 115"/>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api/services.py · context_for()   ·   domain.py · Context.build()</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3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Rank by drawing</a:t>
            </a:r>
            <a:endParaRPr lang="en-US" sz="3600" dirty="0"/>
          </a:p>
        </p:txBody>
      </p:sp>
      <p:sp>
        <p:nvSpPr>
          <p:cNvPr id="4" name="Step 116"/>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117"/>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118"/>
          <p:cNvSpPr txBox="1"/>
          <p:nvPr/>
        </p:nvSpPr>
        <p:spPr>
          <a:xfrm>
            <a:off x="9814255"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7" name="Step 119"/>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120"/>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121"/>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122"/>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11" name="Text 123"/>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For each eligible offer, the policy draws one plausible take-up rate from its belief, and shows the three highest.</a:t>
            </a:r>
            <a:endParaRPr lang="en-US" sz="1600" dirty="0"/>
          </a:p>
        </p:txBody>
      </p:sp>
      <p:sp>
        <p:nvSpPr>
          <p:cNvPr id="12" name="Card 124"/>
          <p:cNvSpPr/>
          <p:nvPr/>
        </p:nvSpPr>
        <p:spPr>
          <a:xfrm>
            <a:off x="548640" y="1874520"/>
            <a:ext cx="4343400" cy="3566160"/>
          </a:xfrm>
          <a:prstGeom prst="roundRect">
            <a:avLst>
              <a:gd name="adj" fmla="val 2051"/>
            </a:avLst>
          </a:prstGeom>
          <a:solidFill>
            <a:schemeClr val="bg2"/>
          </a:solidFill>
          <a:ln/>
        </p:spPr>
      </p:sp>
      <p:sp>
        <p:nvSpPr>
          <p:cNvPr id="13" name="Text 125"/>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126"/>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The assistant opens the small-business page. For each product they make a guess at how likely this customer is to buy it: steady guesses for products they know well, bold ones for products they've barely tried.</a:t>
            </a:r>
            <a:endParaRPr lang="en-US" sz="1600" dirty="0"/>
          </a:p>
          <a:p>
            <a:pPr indent="0" marL="0">
              <a:spcAft>
                <a:spcPts val="1000"/>
              </a:spcAft>
              <a:buNone/>
            </a:pPr>
            <a:r>
              <a:rPr lang="en-US" sz="1600" dirty="0">
                <a:solidFill>
                  <a:schemeClr val="tx1"/>
                </a:solidFill>
              </a:rPr>
              <a:t>The three best guesses go on the counter. The boldness is how it keeps discovering things.</a:t>
            </a:r>
            <a:endParaRPr lang="en-US" sz="1600" dirty="0"/>
          </a:p>
        </p:txBody>
      </p:sp>
      <p:sp>
        <p:nvSpPr>
          <p:cNvPr id="15" name="Panel 127"/>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128"/>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129"/>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130"/>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131"/>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Exploration comes free, in proportion to doubt: no exploration rate to tune, and it fades as evidence builds. A brand-new offer starts at Beta(1, 1), a flat guess, so it gets tried early.</a:t>
            </a:r>
            <a:endParaRPr lang="en-US" sz="1400" dirty="0"/>
          </a:p>
        </p:txBody>
      </p:sp>
      <p:graphicFrame>
        <p:nvGraphicFramePr>
          <p:cNvPr id="7" name="Table 132"/>
          <p:cNvGraphicFramePr>
            <a:graphicFrameLocks noGrp="1"/>
          </p:cNvGraphicFramePr>
          <p:nvPr>
            <p:extLst>
              <p:ext uri="{D42A27DB-BD31-4B8C-83A1-F6EECF244321}">
                <p14:modId xmlns:p14="http://schemas.microsoft.com/office/powerpoint/2010/main" val="1579011935"/>
              </p:ext>
            </p:extLst>
          </p:nvPr>
        </p:nvGraphicFramePr>
        <p:xfrm>
          <a:off x="5440680" y="2423160"/>
          <a:ext cx="5928055" cy="914400"/>
        </p:xfrm>
        <a:graphic>
          <a:graphicData uri="http://schemas.openxmlformats.org/drawingml/2006/table">
            <a:tbl>
              <a:tblPr/>
              <a:tblGrid>
                <a:gridCol w="2252661"/>
                <a:gridCol w="1304172"/>
                <a:gridCol w="1304172"/>
                <a:gridCol w="1067050"/>
              </a:tblGrid>
              <a:tr h="274320">
                <a:tc>
                  <a:txBody>
                    <a:bodyPr/>
                    <a:lstStyle/>
                    <a:p>
                      <a:pPr indent="0" marL="0">
                        <a:buNone/>
                      </a:pPr>
                      <a:r>
                        <a:rPr lang="en-US" sz="1200" b="1" dirty="0">
                          <a:solidFill>
                            <a:schemeClr val="bg1"/>
                          </a:solidFill>
                        </a:rPr>
                        <a:t>Offer</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Belief (average)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This draw</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Shown</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274320">
                <a:tc>
                  <a:txBody>
                    <a:bodyPr/>
                    <a:lstStyle/>
                    <a:p>
                      <a:pPr indent="0" marL="0">
                        <a:buNone/>
                      </a:pPr>
                      <a:r>
                        <a:rPr lang="en-US" sz="1200" b="1" dirty="0">
                          <a:solidFill>
                            <a:schemeClr val="tx1"/>
                          </a:solidFill>
                        </a:rPr>
                        <a:t>Pay-later R500 voucher</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20.5%</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b="1" dirty="0">
                          <a:solidFill>
                            <a:schemeClr val="accent1"/>
                          </a:solidFill>
                        </a:rPr>
                        <a:t>22.7%</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1st</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74320">
                <a:tc>
                  <a:txBody>
                    <a:bodyPr/>
                    <a:lstStyle/>
                    <a:p>
                      <a:pPr indent="0" marL="0">
                        <a:buNone/>
                      </a:pPr>
                      <a:r>
                        <a:rPr lang="en-US" sz="1200" b="1" dirty="0">
                          <a:solidFill>
                            <a:schemeClr val="tx1"/>
                          </a:solidFill>
                        </a:rPr>
                        <a:t>20GB data bundle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13.7%</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b="1" dirty="0">
                          <a:solidFill>
                            <a:schemeClr val="accent1"/>
                          </a:solidFill>
                        </a:rPr>
                        <a:t>18.3%</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2nd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74320">
                <a:tc>
                  <a:txBody>
                    <a:bodyPr/>
                    <a:lstStyle/>
                    <a:p>
                      <a:pPr indent="0" marL="0">
                        <a:buNone/>
                      </a:pPr>
                      <a:r>
                        <a:rPr lang="en-US" sz="1200" b="1" dirty="0">
                          <a:solidFill>
                            <a:schemeClr val="tx1"/>
                          </a:solidFill>
                        </a:rPr>
                        <a:t>Smartphone insurance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7.2%</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b="1" dirty="0">
                          <a:solidFill>
                            <a:schemeClr val="accent1"/>
                          </a:solidFill>
                        </a:rPr>
                        <a:t>12.6%</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3rd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74320">
                <a:tc>
                  <a:txBody>
                    <a:bodyPr/>
                    <a:lstStyle/>
                    <a:p>
                      <a:pPr indent="0" marL="0">
                        <a:buNone/>
                      </a:pPr>
                      <a:r>
                        <a:rPr lang="en-US" sz="1200" dirty="0">
                          <a:solidFill>
                            <a:schemeClr val="tx1"/>
                          </a:solidFill>
                        </a:rPr>
                        <a:t>SADC roaming pack</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9.8%</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below 12.6%</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no</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74320">
                <a:tc>
                  <a:txBody>
                    <a:bodyPr/>
                    <a:lstStyle/>
                    <a:p>
                      <a:pPr indent="0" marL="0">
                        <a:buNone/>
                      </a:pPr>
                      <a:r>
                        <a:rPr lang="en-US" sz="1200" dirty="0">
                          <a:solidFill>
                            <a:schemeClr val="tx1"/>
                          </a:solidFill>
                        </a:rPr>
                        <a:t>Electricity cashback</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9.0%</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below 12.6%</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no</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74320">
                <a:tc>
                  <a:txBody>
                    <a:bodyPr/>
                    <a:lstStyle/>
                    <a:p>
                      <a:pPr indent="0" marL="0">
                        <a:buNone/>
                      </a:pPr>
                      <a:r>
                        <a:rPr lang="en-US" sz="1200" dirty="0">
                          <a:solidFill>
                            <a:schemeClr val="tx1"/>
                          </a:solidFill>
                        </a:rPr>
                        <a:t>… and 5 more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7.4% or less</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below 12.6%</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no</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bl>
          </a:graphicData>
        </a:graphic>
      </p:graphicFrame>
      <p:sp>
        <p:nvSpPr>
          <p:cNvPr id="21" name="Text 133"/>
          <p:cNvSpPr txBox="1"/>
          <p:nvPr/>
        </p:nvSpPr>
        <p:spPr>
          <a:xfrm>
            <a:off x="5440680" y="4480560"/>
            <a:ext cx="5928055" cy="502920"/>
          </a:xfrm>
          <a:prstGeom prst="rect">
            <a:avLst/>
          </a:prstGeom>
          <a:noFill/>
          <a:ln/>
        </p:spPr>
        <p:txBody>
          <a:bodyPr wrap="square" lIns="0" tIns="0" rIns="0" bIns="0" rtlCol="0" anchor="t"/>
          <a:lstStyle/>
          <a:p>
            <a:pPr indent="0" marL="0">
              <a:buNone/>
            </a:pPr>
            <a:r>
              <a:rPr lang="en-US" sz="1200" b="1" dirty="0">
                <a:solidFill>
                  <a:schemeClr val="accent6"/>
                </a:solidFill>
              </a:rPr>
              <a:t>Exploration in the act: </a:t>
            </a:r>
            <a:pPr indent="0" marL="0">
              <a:buNone/>
            </a:pPr>
            <a:r>
              <a:rPr lang="en-US" sz="1200" dirty="0">
                <a:solidFill>
                  <a:schemeClr val="tx1"/>
                </a:solidFill>
              </a:rPr>
              <a:t>insurance averages less than the roaming pack (7.2% against 9.8%) but has far less evidence, so its draw spread wider and won third place.</a:t>
            </a:r>
            <a:endParaRPr lang="en-US" sz="1200" dirty="0"/>
          </a:p>
        </p:txBody>
      </p:sp>
      <p:sp>
        <p:nvSpPr>
          <p:cNvPr id="22" name="Text 134"/>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algorithms/thompson.py · rank()   ·   algorithms/base.py · context_key()</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3 OF 7  ·  A CLOSER LOOK</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A belief is a range, not a number</a:t>
            </a:r>
            <a:endParaRPr lang="en-US" sz="3600" dirty="0"/>
          </a:p>
        </p:txBody>
      </p:sp>
      <p:sp>
        <p:nvSpPr>
          <p:cNvPr id="4" name="Step 135"/>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136"/>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137"/>
          <p:cNvSpPr txBox="1"/>
          <p:nvPr/>
        </p:nvSpPr>
        <p:spPr>
          <a:xfrm>
            <a:off x="9814255"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7" name="Step 138"/>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139"/>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140"/>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141"/>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graphicFrame>
        <p:nvGraphicFramePr>
          <p:cNvPr id="11" name="Beliefs chart" descr=""/>
          <p:cNvGraphicFramePr/>
          <p:nvPr/>
        </p:nvGraphicFramePr>
        <p:xfrm>
          <a:off x="548640" y="1783080"/>
          <a:ext cx="6766560" cy="3794760"/>
        </p:xfrm>
        <a:graphic xmlns:a="http://schemas.openxmlformats.org/drawingml/2006/main">
          <a:graphicData uri="http://schemas.openxmlformats.org/drawingml/2006/chart">
            <c:chart xmlns:c="http://schemas.openxmlformats.org/drawingml/2006/chart" r:id="rId1"/>
          </a:graphicData>
        </a:graphic>
      </p:graphicFrame>
      <p:sp>
        <p:nvSpPr>
          <p:cNvPr id="12" name="Text 142"/>
          <p:cNvSpPr txBox="1"/>
          <p:nvPr/>
        </p:nvSpPr>
        <p:spPr>
          <a:xfrm>
            <a:off x="548640" y="1481328"/>
            <a:ext cx="6766560" cy="274320"/>
          </a:xfrm>
          <a:prstGeom prst="rect">
            <a:avLst/>
          </a:prstGeom>
          <a:noFill/>
          <a:ln/>
        </p:spPr>
        <p:txBody>
          <a:bodyPr wrap="square" lIns="0" tIns="0" rIns="0" bIns="0" rtlCol="0" anchor="t"/>
          <a:lstStyle/>
          <a:p>
            <a:pPr indent="0" marL="0">
              <a:buNone/>
            </a:pPr>
            <a:r>
              <a:rPr lang="en-US" sz="1300" dirty="0">
                <a:solidFill>
                  <a:schemeClr val="tx2"/>
                </a:solidFill>
              </a:rPr>
              <a:t>The small-business beliefs this app open was ranked from: how likely each take-up rate is</a:t>
            </a:r>
            <a:endParaRPr lang="en-US" sz="1300" dirty="0"/>
          </a:p>
        </p:txBody>
      </p:sp>
      <p:sp>
        <p:nvSpPr>
          <p:cNvPr id="13" name="Draw 143"/>
          <p:cNvSpPr/>
          <p:nvPr/>
        </p:nvSpPr>
        <p:spPr>
          <a:xfrm>
            <a:off x="4778781" y="4379353"/>
            <a:ext cx="164592" cy="164592"/>
          </a:xfrm>
          <a:prstGeom prst="ellipse">
            <a:avLst/>
          </a:prstGeom>
          <a:solidFill>
            <a:srgbClr val="0D6987"/>
          </a:solidFill>
          <a:ln w="15875">
            <a:solidFill>
              <a:srgbClr val="13202A"/>
            </a:solidFill>
            <a:prstDash val="solid"/>
          </a:ln>
        </p:spPr>
      </p:sp>
      <p:sp>
        <p:nvSpPr>
          <p:cNvPr id="14" name="Draw 144"/>
          <p:cNvSpPr/>
          <p:nvPr/>
        </p:nvSpPr>
        <p:spPr>
          <a:xfrm>
            <a:off x="3993444" y="4874240"/>
            <a:ext cx="164592" cy="164592"/>
          </a:xfrm>
          <a:prstGeom prst="ellipse">
            <a:avLst/>
          </a:prstGeom>
          <a:solidFill>
            <a:srgbClr val="5BB6D6"/>
          </a:solidFill>
          <a:ln w="15875">
            <a:solidFill>
              <a:srgbClr val="13202A"/>
            </a:solidFill>
            <a:prstDash val="solid"/>
          </a:ln>
        </p:spPr>
      </p:sp>
      <p:sp>
        <p:nvSpPr>
          <p:cNvPr id="15" name="Draw 145"/>
          <p:cNvSpPr/>
          <p:nvPr/>
        </p:nvSpPr>
        <p:spPr>
          <a:xfrm>
            <a:off x="2975729" y="4742473"/>
            <a:ext cx="164592" cy="164592"/>
          </a:xfrm>
          <a:prstGeom prst="ellipse">
            <a:avLst/>
          </a:prstGeom>
          <a:solidFill>
            <a:srgbClr val="D98E2B"/>
          </a:solidFill>
          <a:ln w="15875">
            <a:solidFill>
              <a:srgbClr val="13202A"/>
            </a:solidFill>
            <a:prstDash val="solid"/>
          </a:ln>
        </p:spPr>
      </p:sp>
      <p:sp>
        <p:nvSpPr>
          <p:cNvPr id="16" name="Key 146"/>
          <p:cNvSpPr/>
          <p:nvPr/>
        </p:nvSpPr>
        <p:spPr>
          <a:xfrm>
            <a:off x="548640" y="5806440"/>
            <a:ext cx="320040" cy="0"/>
          </a:xfrm>
          <a:prstGeom prst="line">
            <a:avLst/>
          </a:prstGeom>
          <a:noFill/>
          <a:ln w="38100">
            <a:solidFill>
              <a:srgbClr val="0D6987"/>
            </a:solidFill>
            <a:prstDash val="solid"/>
          </a:ln>
        </p:spPr>
      </p:sp>
      <p:sp>
        <p:nvSpPr>
          <p:cNvPr id="17" name="Text 147"/>
          <p:cNvSpPr txBox="1"/>
          <p:nvPr/>
        </p:nvSpPr>
        <p:spPr>
          <a:xfrm>
            <a:off x="960120" y="5687568"/>
            <a:ext cx="2971800" cy="256032"/>
          </a:xfrm>
          <a:prstGeom prst="rect">
            <a:avLst/>
          </a:prstGeom>
          <a:noFill/>
          <a:ln/>
        </p:spPr>
        <p:txBody>
          <a:bodyPr wrap="square" lIns="0" tIns="0" rIns="0" bIns="0" rtlCol="0" anchor="t"/>
          <a:lstStyle/>
          <a:p>
            <a:pPr indent="0" marL="0">
              <a:buNone/>
            </a:pPr>
            <a:r>
              <a:rPr lang="en-US" sz="1200" b="1" dirty="0">
                <a:solidFill>
                  <a:schemeClr val="tx1"/>
                </a:solidFill>
              </a:rPr>
              <a:t>Pay-later R500 voucher  ·  drew 22.7%</a:t>
            </a:r>
            <a:endParaRPr lang="en-US" sz="1200" dirty="0"/>
          </a:p>
        </p:txBody>
      </p:sp>
      <p:sp>
        <p:nvSpPr>
          <p:cNvPr id="18" name="Key 148"/>
          <p:cNvSpPr/>
          <p:nvPr/>
        </p:nvSpPr>
        <p:spPr>
          <a:xfrm>
            <a:off x="3977640" y="5806440"/>
            <a:ext cx="320040" cy="0"/>
          </a:xfrm>
          <a:prstGeom prst="line">
            <a:avLst/>
          </a:prstGeom>
          <a:noFill/>
          <a:ln w="38100">
            <a:solidFill>
              <a:srgbClr val="5BB6D6"/>
            </a:solidFill>
            <a:prstDash val="solid"/>
          </a:ln>
        </p:spPr>
      </p:sp>
      <p:sp>
        <p:nvSpPr>
          <p:cNvPr id="19" name="Text 149"/>
          <p:cNvSpPr txBox="1"/>
          <p:nvPr/>
        </p:nvSpPr>
        <p:spPr>
          <a:xfrm>
            <a:off x="4389120" y="5687568"/>
            <a:ext cx="2971800" cy="256032"/>
          </a:xfrm>
          <a:prstGeom prst="rect">
            <a:avLst/>
          </a:prstGeom>
          <a:noFill/>
          <a:ln/>
        </p:spPr>
        <p:txBody>
          <a:bodyPr wrap="square" lIns="0" tIns="0" rIns="0" bIns="0" rtlCol="0" anchor="t"/>
          <a:lstStyle/>
          <a:p>
            <a:pPr indent="0" marL="0">
              <a:buNone/>
            </a:pPr>
            <a:r>
              <a:rPr lang="en-US" sz="1200" b="1" dirty="0">
                <a:solidFill>
                  <a:schemeClr val="tx1"/>
                </a:solidFill>
              </a:rPr>
              <a:t>20GB data bundle  ·  drew 18.3%</a:t>
            </a:r>
            <a:endParaRPr lang="en-US" sz="1200" dirty="0"/>
          </a:p>
        </p:txBody>
      </p:sp>
      <p:sp>
        <p:nvSpPr>
          <p:cNvPr id="20" name="Key 150"/>
          <p:cNvSpPr/>
          <p:nvPr/>
        </p:nvSpPr>
        <p:spPr>
          <a:xfrm>
            <a:off x="548640" y="6099048"/>
            <a:ext cx="320040" cy="0"/>
          </a:xfrm>
          <a:prstGeom prst="line">
            <a:avLst/>
          </a:prstGeom>
          <a:noFill/>
          <a:ln w="38100">
            <a:solidFill>
              <a:srgbClr val="9AA9B4"/>
            </a:solidFill>
            <a:prstDash val="solid"/>
          </a:ln>
        </p:spPr>
      </p:sp>
      <p:sp>
        <p:nvSpPr>
          <p:cNvPr id="21" name="Text 151"/>
          <p:cNvSpPr txBox="1"/>
          <p:nvPr/>
        </p:nvSpPr>
        <p:spPr>
          <a:xfrm>
            <a:off x="960120" y="5980176"/>
            <a:ext cx="2971800" cy="256032"/>
          </a:xfrm>
          <a:prstGeom prst="rect">
            <a:avLst/>
          </a:prstGeom>
          <a:noFill/>
          <a:ln/>
        </p:spPr>
        <p:txBody>
          <a:bodyPr wrap="square" lIns="0" tIns="0" rIns="0" bIns="0" rtlCol="0" anchor="t"/>
          <a:lstStyle/>
          <a:p>
            <a:pPr indent="0" marL="0">
              <a:buNone/>
            </a:pPr>
            <a:r>
              <a:rPr lang="en-US" sz="1200" dirty="0">
                <a:solidFill>
                  <a:schemeClr val="tx1"/>
                </a:solidFill>
              </a:rPr>
              <a:t>SADC roaming pack</a:t>
            </a:r>
            <a:endParaRPr lang="en-US" sz="1200" dirty="0"/>
          </a:p>
        </p:txBody>
      </p:sp>
      <p:sp>
        <p:nvSpPr>
          <p:cNvPr id="22" name="Key 152"/>
          <p:cNvSpPr/>
          <p:nvPr/>
        </p:nvSpPr>
        <p:spPr>
          <a:xfrm>
            <a:off x="3977640" y="6099048"/>
            <a:ext cx="320040" cy="0"/>
          </a:xfrm>
          <a:prstGeom prst="line">
            <a:avLst/>
          </a:prstGeom>
          <a:noFill/>
          <a:ln w="38100">
            <a:solidFill>
              <a:srgbClr val="D98E2B"/>
            </a:solidFill>
            <a:prstDash val="solid"/>
          </a:ln>
        </p:spPr>
      </p:sp>
      <p:sp>
        <p:nvSpPr>
          <p:cNvPr id="23" name="Text 153"/>
          <p:cNvSpPr txBox="1"/>
          <p:nvPr/>
        </p:nvSpPr>
        <p:spPr>
          <a:xfrm>
            <a:off x="4389120" y="5980176"/>
            <a:ext cx="2971800" cy="256032"/>
          </a:xfrm>
          <a:prstGeom prst="rect">
            <a:avLst/>
          </a:prstGeom>
          <a:noFill/>
          <a:ln/>
        </p:spPr>
        <p:txBody>
          <a:bodyPr wrap="square" lIns="0" tIns="0" rIns="0" bIns="0" rtlCol="0" anchor="t"/>
          <a:lstStyle/>
          <a:p>
            <a:pPr indent="0" marL="0">
              <a:buNone/>
            </a:pPr>
            <a:r>
              <a:rPr lang="en-US" sz="1200" b="1" dirty="0">
                <a:solidFill>
                  <a:schemeClr val="tx1"/>
                </a:solidFill>
              </a:rPr>
              <a:t>Smartphone insurance  ·  drew 12.6%</a:t>
            </a:r>
            <a:endParaRPr lang="en-US" sz="1200" dirty="0"/>
          </a:p>
        </p:txBody>
      </p:sp>
      <p:sp>
        <p:nvSpPr>
          <p:cNvPr id="24" name="Text 154"/>
          <p:cNvSpPr txBox="1"/>
          <p:nvPr/>
        </p:nvSpPr>
        <p:spPr>
          <a:xfrm>
            <a:off x="7635240" y="1508760"/>
            <a:ext cx="4007815" cy="274320"/>
          </a:xfrm>
          <a:prstGeom prst="rect">
            <a:avLst/>
          </a:prstGeom>
          <a:noFill/>
          <a:ln/>
        </p:spPr>
        <p:txBody>
          <a:bodyPr wrap="square" lIns="0" tIns="0" rIns="0" bIns="0" rtlCol="0" anchor="t"/>
          <a:lstStyle/>
          <a:p>
            <a:pPr indent="0" marL="0">
              <a:buNone/>
            </a:pPr>
            <a:r>
              <a:rPr lang="en-US" sz="1300" dirty="0">
                <a:solidFill>
                  <a:schemeClr val="tx2"/>
                </a:solidFill>
              </a:rPr>
              <a:t>With these beliefs, over many small-business app opens:</a:t>
            </a:r>
            <a:endParaRPr lang="en-US" sz="1300" dirty="0"/>
          </a:p>
        </p:txBody>
      </p:sp>
      <p:sp>
        <p:nvSpPr>
          <p:cNvPr id="25" name="Text 155"/>
          <p:cNvSpPr txBox="1"/>
          <p:nvPr/>
        </p:nvSpPr>
        <p:spPr>
          <a:xfrm>
            <a:off x="7635240" y="1874520"/>
            <a:ext cx="118872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99%</a:t>
            </a:r>
            <a:endParaRPr lang="en-US" sz="3200" dirty="0"/>
          </a:p>
        </p:txBody>
      </p:sp>
      <p:sp>
        <p:nvSpPr>
          <p:cNvPr id="26" name="Text 156"/>
          <p:cNvSpPr txBox="1"/>
          <p:nvPr/>
        </p:nvSpPr>
        <p:spPr>
          <a:xfrm>
            <a:off x="8869680" y="1920240"/>
            <a:ext cx="2773375" cy="914400"/>
          </a:xfrm>
          <a:prstGeom prst="rect">
            <a:avLst/>
          </a:prstGeom>
          <a:noFill/>
          <a:ln/>
        </p:spPr>
        <p:txBody>
          <a:bodyPr wrap="square" lIns="0" tIns="0" rIns="0" bIns="0" rtlCol="0" anchor="t"/>
          <a:lstStyle/>
          <a:p>
            <a:pPr indent="0" marL="0">
              <a:buNone/>
            </a:pPr>
            <a:r>
              <a:rPr lang="en-US" sz="1400" dirty="0">
                <a:solidFill>
                  <a:schemeClr val="tx1"/>
                </a:solidFill>
              </a:rPr>
              <a:t>show the pay-later voucher first: its curve is high and narrow, so it is almost sure</a:t>
            </a:r>
            <a:endParaRPr lang="en-US" sz="1400" dirty="0"/>
          </a:p>
        </p:txBody>
      </p:sp>
      <p:sp>
        <p:nvSpPr>
          <p:cNvPr id="27" name="Text 157"/>
          <p:cNvSpPr txBox="1"/>
          <p:nvPr/>
        </p:nvSpPr>
        <p:spPr>
          <a:xfrm>
            <a:off x="7635240" y="2953512"/>
            <a:ext cx="118872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95%</a:t>
            </a:r>
            <a:endParaRPr lang="en-US" sz="3200" dirty="0"/>
          </a:p>
        </p:txBody>
      </p:sp>
      <p:sp>
        <p:nvSpPr>
          <p:cNvPr id="28" name="Text 158"/>
          <p:cNvSpPr txBox="1"/>
          <p:nvPr/>
        </p:nvSpPr>
        <p:spPr>
          <a:xfrm>
            <a:off x="8869680" y="2999232"/>
            <a:ext cx="2773375" cy="914400"/>
          </a:xfrm>
          <a:prstGeom prst="rect">
            <a:avLst/>
          </a:prstGeom>
          <a:noFill/>
          <a:ln/>
        </p:spPr>
        <p:txBody>
          <a:bodyPr wrap="square" lIns="0" tIns="0" rIns="0" bIns="0" rtlCol="0" anchor="t"/>
          <a:lstStyle/>
          <a:p>
            <a:pPr indent="0" marL="0">
              <a:buNone/>
            </a:pPr>
            <a:r>
              <a:rPr lang="en-US" sz="1400" dirty="0">
                <a:solidFill>
                  <a:schemeClr val="tx1"/>
                </a:solidFill>
              </a:rPr>
              <a:t>put 20GB data in the top three</a:t>
            </a:r>
            <a:endParaRPr lang="en-US" sz="1400" dirty="0"/>
          </a:p>
        </p:txBody>
      </p:sp>
      <p:sp>
        <p:nvSpPr>
          <p:cNvPr id="29" name="Text 159"/>
          <p:cNvSpPr txBox="1"/>
          <p:nvPr/>
        </p:nvSpPr>
        <p:spPr>
          <a:xfrm>
            <a:off x="7635240" y="4032504"/>
            <a:ext cx="118872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11%</a:t>
            </a:r>
            <a:endParaRPr lang="en-US" sz="3200" dirty="0"/>
          </a:p>
        </p:txBody>
      </p:sp>
      <p:sp>
        <p:nvSpPr>
          <p:cNvPr id="30" name="Text 160"/>
          <p:cNvSpPr txBox="1"/>
          <p:nvPr/>
        </p:nvSpPr>
        <p:spPr>
          <a:xfrm>
            <a:off x="8869680" y="4078224"/>
            <a:ext cx="2773375" cy="914400"/>
          </a:xfrm>
          <a:prstGeom prst="rect">
            <a:avLst/>
          </a:prstGeom>
          <a:noFill/>
          <a:ln/>
        </p:spPr>
        <p:txBody>
          <a:bodyPr wrap="square" lIns="0" tIns="0" rIns="0" bIns="0" rtlCol="0" anchor="t"/>
          <a:lstStyle/>
          <a:p>
            <a:pPr indent="0" marL="0">
              <a:buNone/>
            </a:pPr>
            <a:r>
              <a:rPr lang="en-US" sz="1400" dirty="0">
                <a:solidFill>
                  <a:schemeClr val="tx1"/>
                </a:solidFill>
              </a:rPr>
              <a:t>put smartphone insurance in the top three: rarely, but not never. That is the exploring.</a:t>
            </a:r>
            <a:endParaRPr lang="en-US" sz="1400" dirty="0"/>
          </a:p>
        </p:txBody>
      </p:sp>
      <p:sp>
        <p:nvSpPr>
          <p:cNvPr id="31" name="Card 161"/>
          <p:cNvSpPr/>
          <p:nvPr/>
        </p:nvSpPr>
        <p:spPr>
          <a:xfrm>
            <a:off x="7635240" y="5120640"/>
            <a:ext cx="4007815" cy="1115568"/>
          </a:xfrm>
          <a:prstGeom prst="roundRect">
            <a:avLst>
              <a:gd name="adj" fmla="val 6557"/>
            </a:avLst>
          </a:prstGeom>
          <a:solidFill>
            <a:schemeClr val="bg2"/>
          </a:solidFill>
          <a:ln/>
        </p:spPr>
      </p:sp>
      <p:sp>
        <p:nvSpPr>
          <p:cNvPr id="32" name="Text 162"/>
          <p:cNvSpPr txBox="1"/>
          <p:nvPr/>
        </p:nvSpPr>
        <p:spPr>
          <a:xfrm>
            <a:off x="7818120" y="5212080"/>
            <a:ext cx="3642055" cy="960120"/>
          </a:xfrm>
          <a:prstGeom prst="rect">
            <a:avLst/>
          </a:prstGeom>
          <a:noFill/>
          <a:ln/>
        </p:spPr>
        <p:txBody>
          <a:bodyPr wrap="square" lIns="0" tIns="0" rIns="0" bIns="0" rtlCol="0" anchor="t"/>
          <a:lstStyle/>
          <a:p>
            <a:pPr indent="0" marL="0">
              <a:buNone/>
            </a:pPr>
            <a:r>
              <a:rPr lang="en-US" sz="1300" b="1" dirty="0">
                <a:solidFill>
                  <a:schemeClr val="tx1"/>
                </a:solidFill>
              </a:rPr>
              <a:t>Reading α and β: </a:t>
            </a:r>
            <a:pPr indent="0" marL="0">
              <a:buNone/>
            </a:pPr>
            <a:r>
              <a:rPr lang="en-US" sz="1300" dirty="0">
                <a:solidFill>
                  <a:schemeClr val="tx1"/>
                </a:solidFill>
              </a:rPr>
              <a:t>α counts take-ups plus one; β counts views without a take-up plus one. Pay-later has about 1,074 responses' worth of evidence; insurance about 87.</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4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Log, then reply</a:t>
            </a:r>
            <a:endParaRPr lang="en-US" sz="3600" dirty="0"/>
          </a:p>
        </p:txBody>
      </p:sp>
      <p:sp>
        <p:nvSpPr>
          <p:cNvPr id="4" name="Step 163"/>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164"/>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165"/>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166"/>
          <p:cNvSpPr txBox="1"/>
          <p:nvPr/>
        </p:nvSpPr>
        <p:spPr>
          <a:xfrm>
            <a:off x="10198303"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8" name="Step 167"/>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168"/>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169"/>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11" name="Text 170"/>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Before answering, the API writes down what it is about to show, then replies with the offers and a ticket number.</a:t>
            </a:r>
            <a:endParaRPr lang="en-US" sz="1600" dirty="0"/>
          </a:p>
        </p:txBody>
      </p:sp>
      <p:sp>
        <p:nvSpPr>
          <p:cNvPr id="12" name="Card 171"/>
          <p:cNvSpPr/>
          <p:nvPr/>
        </p:nvSpPr>
        <p:spPr>
          <a:xfrm>
            <a:off x="548640" y="1874520"/>
            <a:ext cx="4343400" cy="3566160"/>
          </a:xfrm>
          <a:prstGeom prst="roundRect">
            <a:avLst>
              <a:gd name="adj" fmla="val 2051"/>
            </a:avLst>
          </a:prstGeom>
          <a:solidFill>
            <a:schemeClr val="bg2"/>
          </a:solidFill>
          <a:ln/>
        </p:spPr>
      </p:sp>
      <p:sp>
        <p:nvSpPr>
          <p:cNvPr id="13" name="Text 172"/>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173"/>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Before handing anything over, the assistant writes in the receipt book: who, when, which three products, in what order.</a:t>
            </a:r>
            <a:endParaRPr lang="en-US" sz="1600" dirty="0"/>
          </a:p>
          <a:p>
            <a:pPr indent="0" marL="0">
              <a:spcAft>
                <a:spcPts val="1000"/>
              </a:spcAft>
              <a:buNone/>
            </a:pPr>
            <a:r>
              <a:rPr lang="en-US" sz="1600" dirty="0">
                <a:solidFill>
                  <a:schemeClr val="tx1"/>
                </a:solidFill>
              </a:rPr>
              <a:t>Then the customer gets the products and a ticket number, so whatever they do next can be matched to this exact visit.</a:t>
            </a:r>
            <a:endParaRPr lang="en-US" sz="1600" dirty="0"/>
          </a:p>
        </p:txBody>
      </p:sp>
      <p:sp>
        <p:nvSpPr>
          <p:cNvPr id="15" name="Panel 174"/>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175"/>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176"/>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177"/>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178"/>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Log first, so every offer a customer can respond to is on record, written in one transaction. The context saved here is what step 7 learns under, so a response can't land in the wrong segment.</a:t>
            </a:r>
            <a:endParaRPr lang="en-US" sz="1400" dirty="0"/>
          </a:p>
        </p:txBody>
      </p:sp>
      <p:sp>
        <p:nvSpPr>
          <p:cNvPr id="20" name="Text 179"/>
          <p:cNvSpPr txBox="1"/>
          <p:nvPr/>
        </p:nvSpPr>
        <p:spPr>
          <a:xfrm>
            <a:off x="5440680" y="2404872"/>
            <a:ext cx="2872588" cy="256032"/>
          </a:xfrm>
          <a:prstGeom prst="rect">
            <a:avLst/>
          </a:prstGeom>
          <a:noFill/>
          <a:ln/>
        </p:spPr>
        <p:txBody>
          <a:bodyPr wrap="square" lIns="0" tIns="0" rIns="0" bIns="0" rtlCol="0" anchor="t"/>
          <a:lstStyle/>
          <a:p>
            <a:pPr indent="0" marL="0">
              <a:buNone/>
            </a:pPr>
            <a:r>
              <a:rPr lang="en-US" sz="1200" b="1" dirty="0">
                <a:solidFill>
                  <a:schemeClr val="tx1"/>
                </a:solidFill>
              </a:rPr>
              <a:t>invocations: one row per app open</a:t>
            </a:r>
            <a:endParaRPr lang="en-US" sz="1200" dirty="0"/>
          </a:p>
        </p:txBody>
      </p:sp>
      <p:graphicFrame>
        <p:nvGraphicFramePr>
          <p:cNvPr id="9" name="Table 180"/>
          <p:cNvGraphicFramePr>
            <a:graphicFrameLocks noGrp="1"/>
          </p:cNvGraphicFramePr>
          <p:nvPr>
            <p:extLst>
              <p:ext uri="{D42A27DB-BD31-4B8C-83A1-F6EECF244321}">
                <p14:modId xmlns:p14="http://schemas.microsoft.com/office/powerpoint/2010/main" val="1579011935"/>
              </p:ext>
            </p:extLst>
          </p:nvPr>
        </p:nvGraphicFramePr>
        <p:xfrm>
          <a:off x="5440680" y="2697480"/>
          <a:ext cx="2872588" cy="914400"/>
        </p:xfrm>
        <a:graphic>
          <a:graphicData uri="http://schemas.openxmlformats.org/drawingml/2006/table">
            <a:tbl>
              <a:tblPr/>
              <a:tblGrid>
                <a:gridCol w="1206487"/>
                <a:gridCol w="1666101"/>
              </a:tblGrid>
              <a:tr h="265176">
                <a:tc>
                  <a:txBody>
                    <a:bodyPr/>
                    <a:lstStyle/>
                    <a:p>
                      <a:pPr indent="0" marL="0">
                        <a:buNone/>
                      </a:pPr>
                      <a:r>
                        <a:rPr lang="en-US" sz="1200" b="1" dirty="0">
                          <a:solidFill>
                            <a:schemeClr val="bg1"/>
                          </a:solidFill>
                        </a:rPr>
                        <a:t>Column</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Value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265176">
                <a:tc>
                  <a:txBody>
                    <a:bodyPr/>
                    <a:lstStyle/>
                    <a:p>
                      <a:pPr indent="0" marL="0">
                        <a:buNone/>
                      </a:pPr>
                      <a:r>
                        <a:rPr lang="en-US" sz="1200" dirty="0">
                          <a:solidFill>
                            <a:schemeClr val="tx1"/>
                          </a:solidFill>
                        </a:rPr>
                        <a:t>invocation_id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37b1a492…</a:t>
                      </a:r>
                      <a:endParaRPr lang="en-US" sz="1200" dirty="0">
                        <a:latin typeface="Consolas" charset="0"/>
                        <a:ea typeface="Consolas" charset="0"/>
                        <a:cs typeface="Consolas" charset="0"/>
                      </a:endParaRPr>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customer_id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C00042</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policy</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thompson_seg…_decay</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segment</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small_business</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context</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all 10 fields, as JSON</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bl>
          </a:graphicData>
        </a:graphic>
      </p:graphicFrame>
      <p:sp>
        <p:nvSpPr>
          <p:cNvPr id="22" name="Text 181"/>
          <p:cNvSpPr txBox="1"/>
          <p:nvPr/>
        </p:nvSpPr>
        <p:spPr>
          <a:xfrm>
            <a:off x="8496148" y="2404872"/>
            <a:ext cx="2872588" cy="256032"/>
          </a:xfrm>
          <a:prstGeom prst="rect">
            <a:avLst/>
          </a:prstGeom>
          <a:noFill/>
          <a:ln/>
        </p:spPr>
        <p:txBody>
          <a:bodyPr wrap="square" lIns="0" tIns="0" rIns="0" bIns="0" rtlCol="0" anchor="t"/>
          <a:lstStyle/>
          <a:p>
            <a:pPr indent="0" marL="0">
              <a:buNone/>
            </a:pPr>
            <a:r>
              <a:rPr lang="en-US" sz="1200" b="1" dirty="0">
                <a:solidFill>
                  <a:schemeClr val="tx1"/>
                </a:solidFill>
              </a:rPr>
              <a:t>impressions: one row per offer shown</a:t>
            </a:r>
            <a:endParaRPr lang="en-US" sz="1200" dirty="0"/>
          </a:p>
        </p:txBody>
      </p:sp>
      <p:graphicFrame>
        <p:nvGraphicFramePr>
          <p:cNvPr id="17" name="Table 182"/>
          <p:cNvGraphicFramePr>
            <a:graphicFrameLocks noGrp="1"/>
          </p:cNvGraphicFramePr>
          <p:nvPr>
            <p:extLst>
              <p:ext uri="{D42A27DB-BD31-4B8C-83A1-F6EECF244321}">
                <p14:modId xmlns:p14="http://schemas.microsoft.com/office/powerpoint/2010/main" val="1579011935"/>
              </p:ext>
            </p:extLst>
          </p:nvPr>
        </p:nvGraphicFramePr>
        <p:xfrm>
          <a:off x="8496148" y="2697480"/>
          <a:ext cx="2872588" cy="914400"/>
        </p:xfrm>
        <a:graphic>
          <a:graphicData uri="http://schemas.openxmlformats.org/drawingml/2006/table">
            <a:tbl>
              <a:tblPr/>
              <a:tblGrid>
                <a:gridCol w="746873"/>
                <a:gridCol w="1436294"/>
                <a:gridCol w="689421"/>
              </a:tblGrid>
              <a:tr h="265176">
                <a:tc>
                  <a:txBody>
                    <a:bodyPr/>
                    <a:lstStyle/>
                    <a:p>
                      <a:pPr indent="0" marL="0">
                        <a:buNone/>
                      </a:pPr>
                      <a:r>
                        <a:rPr lang="en-US" sz="1200" b="1" dirty="0">
                          <a:solidFill>
                            <a:schemeClr val="bg1"/>
                          </a:solidFill>
                        </a:rPr>
                        <a:t>Position</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Offer</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Score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265176">
                <a:tc>
                  <a:txBody>
                    <a:bodyPr/>
                    <a:lstStyle/>
                    <a:p>
                      <a:pPr indent="0" marL="0">
                        <a:buNone/>
                      </a:pPr>
                      <a:r>
                        <a:rPr lang="en-US" sz="1200" dirty="0">
                          <a:solidFill>
                            <a:schemeClr val="tx1"/>
                          </a:solidFill>
                        </a:rPr>
                        <a:t>1</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paylater_voucher</a:t>
                      </a:r>
                      <a:endParaRPr lang="en-US" sz="1100" dirty="0">
                        <a:latin typeface="Consolas" charset="0"/>
                        <a:ea typeface="Consolas" charset="0"/>
                        <a:cs typeface="Consolas" charset="0"/>
                      </a:endParaRPr>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0.227</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2</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data_20gb</a:t>
                      </a:r>
                      <a:endParaRPr lang="en-US" sz="1100" dirty="0">
                        <a:latin typeface="Consolas" charset="0"/>
                        <a:ea typeface="Consolas" charset="0"/>
                        <a:cs typeface="Consolas" charset="0"/>
                      </a:endParaRPr>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0.183</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3</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device_insurance</a:t>
                      </a:r>
                      <a:endParaRPr lang="en-US" sz="1100" dirty="0">
                        <a:latin typeface="Consolas" charset="0"/>
                        <a:ea typeface="Consolas" charset="0"/>
                        <a:cs typeface="Consolas" charset="0"/>
                      </a:endParaRPr>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0.126</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bl>
          </a:graphicData>
        </a:graphic>
      </p:graphicFrame>
      <p:sp>
        <p:nvSpPr>
          <p:cNvPr id="24" name="Text 183"/>
          <p:cNvSpPr txBox="1"/>
          <p:nvPr/>
        </p:nvSpPr>
        <p:spPr>
          <a:xfrm>
            <a:off x="5440680" y="4526280"/>
            <a:ext cx="5928055" cy="530352"/>
          </a:xfrm>
          <a:prstGeom prst="rect">
            <a:avLst/>
          </a:prstGeom>
          <a:noFill/>
          <a:ln/>
        </p:spPr>
        <p:txBody>
          <a:bodyPr wrap="square" lIns="0" tIns="0" rIns="0" bIns="0" rtlCol="0" anchor="t"/>
          <a:lstStyle/>
          <a:p>
            <a:pPr marL="177800" indent="-177800">
              <a:spcAft>
                <a:spcPts val="300"/>
              </a:spcAft>
              <a:buSzPct val="100000"/>
              <a:buChar char="•"/>
            </a:pPr>
            <a:r>
              <a:rPr lang="en-US" sz="1200" b="1" dirty="0">
                <a:solidFill>
                  <a:schemeClr val="tx1"/>
                </a:solidFill>
              </a:rPr>
              <a:t>The reply: </a:t>
            </a:r>
            <a:pPr indent="0" marL="0">
              <a:spcAft>
                <a:spcPts val="300"/>
              </a:spcAft>
              <a:buNone/>
            </a:pPr>
            <a:r>
              <a:rPr lang="en-US" sz="1200" dirty="0">
                <a:solidFill>
                  <a:schemeClr val="tx1"/>
                </a:solidFill>
              </a:rPr>
              <a:t>200, the invocation_id and the three offers, with an X-Response-Time-ms header.</a:t>
            </a:r>
            <a:endParaRPr lang="en-US" sz="1200" dirty="0"/>
          </a:p>
          <a:p>
            <a:pPr marL="177800" indent="-177800">
              <a:spcAft>
                <a:spcPts val="300"/>
              </a:spcAft>
              <a:buSzPct val="100000"/>
              <a:buChar char="•"/>
            </a:pPr>
            <a:r>
              <a:rPr lang="en-US" sz="1200" b="1" dirty="0">
                <a:solidFill>
                  <a:schemeClr val="tx1"/>
                </a:solidFill>
              </a:rPr>
              <a:t>Speed: </a:t>
            </a:r>
            <a:pPr indent="0" marL="0">
              <a:spcAft>
                <a:spcPts val="300"/>
              </a:spcAft>
              <a:buNone/>
            </a:pPr>
            <a:r>
              <a:rPr lang="en-US" sz="1200" dirty="0">
                <a:solidFill>
                  <a:schemeClr val="tx1"/>
                </a:solidFill>
              </a:rPr>
              <a:t>11 ms at the 95th percentile for one worker on Postgres, measured end to end.</a:t>
            </a:r>
            <a:endParaRPr lang="en-US" sz="1200" dirty="0"/>
          </a:p>
        </p:txBody>
      </p:sp>
      <p:sp>
        <p:nvSpPr>
          <p:cNvPr id="25" name="Text 184"/>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events/log.py · record_invocation()   ·   api/timing.py</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5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Responds</a:t>
            </a:r>
            <a:endParaRPr lang="en-US" sz="3600" dirty="0"/>
          </a:p>
        </p:txBody>
      </p:sp>
      <p:sp>
        <p:nvSpPr>
          <p:cNvPr id="4" name="Step 185"/>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186"/>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187"/>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188"/>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189"/>
          <p:cNvSpPr txBox="1"/>
          <p:nvPr/>
        </p:nvSpPr>
        <p:spPr>
          <a:xfrm>
            <a:off x="10582351"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9" name="Step 190"/>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191"/>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11" name="Text 192"/>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The customer reacts to each offer, and the app reports each outcome to the second endpoint.</a:t>
            </a:r>
            <a:endParaRPr lang="en-US" sz="1600" dirty="0"/>
          </a:p>
        </p:txBody>
      </p:sp>
      <p:sp>
        <p:nvSpPr>
          <p:cNvPr id="12" name="Card 193"/>
          <p:cNvSpPr/>
          <p:nvPr/>
        </p:nvSpPr>
        <p:spPr>
          <a:xfrm>
            <a:off x="548640" y="1874520"/>
            <a:ext cx="4343400" cy="3566160"/>
          </a:xfrm>
          <a:prstGeom prst="roundRect">
            <a:avLst>
              <a:gd name="adj" fmla="val 2051"/>
            </a:avLst>
          </a:prstGeom>
          <a:solidFill>
            <a:schemeClr val="bg2"/>
          </a:solidFill>
          <a:ln/>
        </p:spPr>
      </p:sp>
      <p:sp>
        <p:nvSpPr>
          <p:cNvPr id="13" name="Text 194"/>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195"/>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The customer buys one, looks at one and puts it back, or never notices one. Ours took the pay-later voucher, the first offer.</a:t>
            </a:r>
            <a:endParaRPr lang="en-US" sz="1600" dirty="0"/>
          </a:p>
          <a:p>
            <a:pPr indent="0" marL="0">
              <a:spcAft>
                <a:spcPts val="1000"/>
              </a:spcAft>
              <a:buNone/>
            </a:pPr>
            <a:r>
              <a:rPr lang="en-US" sz="1600" dirty="0">
                <a:solidFill>
                  <a:schemeClr val="tx1"/>
                </a:solidFill>
              </a:rPr>
              <a:t>People read from the top, so position matters: the first slot gets far more attention than the third.</a:t>
            </a:r>
            <a:endParaRPr lang="en-US" sz="1600" dirty="0"/>
          </a:p>
        </p:txBody>
      </p:sp>
      <p:sp>
        <p:nvSpPr>
          <p:cNvPr id="15" name="Panel 196"/>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197"/>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198"/>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199"/>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200"/>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Three outcomes give each response a precise meaning, and modelling attention by position makes the order matter, which is what lets the ranking be judged fairly.</a:t>
            </a:r>
            <a:endParaRPr lang="en-US" sz="1400" dirty="0"/>
          </a:p>
        </p:txBody>
      </p:sp>
      <p:sp>
        <p:nvSpPr>
          <p:cNvPr id="20" name="Outcome 201"/>
          <p:cNvSpPr/>
          <p:nvPr/>
        </p:nvSpPr>
        <p:spPr>
          <a:xfrm>
            <a:off x="5440680" y="2423160"/>
            <a:ext cx="1884578" cy="749808"/>
          </a:xfrm>
          <a:prstGeom prst="roundRect">
            <a:avLst>
              <a:gd name="adj" fmla="val 7317"/>
            </a:avLst>
          </a:prstGeom>
          <a:solidFill>
            <a:schemeClr val="accent1"/>
          </a:solidFill>
          <a:ln/>
        </p:spPr>
      </p:sp>
      <p:sp>
        <p:nvSpPr>
          <p:cNvPr id="21" name="Text 202"/>
          <p:cNvSpPr txBox="1"/>
          <p:nvPr/>
        </p:nvSpPr>
        <p:spPr>
          <a:xfrm>
            <a:off x="5577840" y="2514600"/>
            <a:ext cx="1610258" cy="292608"/>
          </a:xfrm>
          <a:prstGeom prst="rect">
            <a:avLst/>
          </a:prstGeom>
          <a:noFill/>
          <a:ln/>
        </p:spPr>
        <p:txBody>
          <a:bodyPr wrap="square" lIns="0" tIns="0" rIns="0" bIns="0" rtlCol="0" anchor="t"/>
          <a:lstStyle/>
          <a:p>
            <a:pPr indent="0" marL="0">
              <a:buNone/>
            </a:pPr>
            <a:r>
              <a:rPr lang="en-US" sz="1400" b="1" dirty="0">
                <a:solidFill>
                  <a:schemeClr val="bg1"/>
                </a:solidFill>
                <a:latin typeface="Consolas" pitchFamily="34" charset="0"/>
                <a:ea typeface="Consolas" pitchFamily="34" charset="-122"/>
                <a:cs typeface="Consolas" pitchFamily="34" charset="-120"/>
              </a:rPr>
              <a:t>taken_up</a:t>
            </a:r>
            <a:endParaRPr lang="en-US" sz="1400" dirty="0"/>
          </a:p>
        </p:txBody>
      </p:sp>
      <p:sp>
        <p:nvSpPr>
          <p:cNvPr id="22" name="Text 203"/>
          <p:cNvSpPr txBox="1"/>
          <p:nvPr/>
        </p:nvSpPr>
        <p:spPr>
          <a:xfrm>
            <a:off x="5577840" y="2834640"/>
            <a:ext cx="1610258" cy="274320"/>
          </a:xfrm>
          <a:prstGeom prst="rect">
            <a:avLst/>
          </a:prstGeom>
          <a:noFill/>
          <a:ln/>
        </p:spPr>
        <p:txBody>
          <a:bodyPr wrap="square" lIns="0" tIns="0" rIns="0" bIns="0" rtlCol="0" anchor="t"/>
          <a:lstStyle/>
          <a:p>
            <a:pPr indent="0" marL="0">
              <a:buNone/>
            </a:pPr>
            <a:r>
              <a:rPr lang="en-US" sz="1200" dirty="0">
                <a:solidFill>
                  <a:schemeClr val="bg2"/>
                </a:solidFill>
              </a:rPr>
              <a:t>noticed and taken</a:t>
            </a:r>
            <a:endParaRPr lang="en-US" sz="1200" dirty="0"/>
          </a:p>
        </p:txBody>
      </p:sp>
      <p:sp>
        <p:nvSpPr>
          <p:cNvPr id="23" name="Outcome 204"/>
          <p:cNvSpPr/>
          <p:nvPr/>
        </p:nvSpPr>
        <p:spPr>
          <a:xfrm>
            <a:off x="7462418" y="2423160"/>
            <a:ext cx="1884578" cy="749808"/>
          </a:xfrm>
          <a:prstGeom prst="roundRect">
            <a:avLst>
              <a:gd name="adj" fmla="val 7317"/>
            </a:avLst>
          </a:prstGeom>
          <a:solidFill>
            <a:schemeClr val="accent3"/>
          </a:solidFill>
          <a:ln/>
        </p:spPr>
      </p:sp>
      <p:sp>
        <p:nvSpPr>
          <p:cNvPr id="24" name="Text 205"/>
          <p:cNvSpPr txBox="1"/>
          <p:nvPr/>
        </p:nvSpPr>
        <p:spPr>
          <a:xfrm>
            <a:off x="7599578" y="2514600"/>
            <a:ext cx="1610258"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viewed</a:t>
            </a:r>
            <a:endParaRPr lang="en-US" sz="1400" dirty="0"/>
          </a:p>
        </p:txBody>
      </p:sp>
      <p:sp>
        <p:nvSpPr>
          <p:cNvPr id="25" name="Text 206"/>
          <p:cNvSpPr txBox="1"/>
          <p:nvPr/>
        </p:nvSpPr>
        <p:spPr>
          <a:xfrm>
            <a:off x="7599578" y="2834640"/>
            <a:ext cx="1610258" cy="274320"/>
          </a:xfrm>
          <a:prstGeom prst="rect">
            <a:avLst/>
          </a:prstGeom>
          <a:noFill/>
          <a:ln/>
        </p:spPr>
        <p:txBody>
          <a:bodyPr wrap="square" lIns="0" tIns="0" rIns="0" bIns="0" rtlCol="0" anchor="t"/>
          <a:lstStyle/>
          <a:p>
            <a:pPr indent="0" marL="0">
              <a:buNone/>
            </a:pPr>
            <a:r>
              <a:rPr lang="en-US" sz="1200" dirty="0">
                <a:solidFill>
                  <a:schemeClr val="tx1"/>
                </a:solidFill>
              </a:rPr>
              <a:t>noticed, not taken</a:t>
            </a:r>
            <a:endParaRPr lang="en-US" sz="1200" dirty="0"/>
          </a:p>
        </p:txBody>
      </p:sp>
      <p:sp>
        <p:nvSpPr>
          <p:cNvPr id="26" name="Outcome 207"/>
          <p:cNvSpPr/>
          <p:nvPr/>
        </p:nvSpPr>
        <p:spPr>
          <a:xfrm>
            <a:off x="9484157" y="2423160"/>
            <a:ext cx="1884578" cy="749808"/>
          </a:xfrm>
          <a:prstGeom prst="roundRect">
            <a:avLst>
              <a:gd name="adj" fmla="val 7317"/>
            </a:avLst>
          </a:prstGeom>
          <a:solidFill>
            <a:schemeClr val="bg2"/>
          </a:solidFill>
          <a:ln/>
        </p:spPr>
      </p:sp>
      <p:sp>
        <p:nvSpPr>
          <p:cNvPr id="27" name="Text 208"/>
          <p:cNvSpPr txBox="1"/>
          <p:nvPr/>
        </p:nvSpPr>
        <p:spPr>
          <a:xfrm>
            <a:off x="9621317" y="2514600"/>
            <a:ext cx="1610258"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ignored</a:t>
            </a:r>
            <a:endParaRPr lang="en-US" sz="1400" dirty="0"/>
          </a:p>
        </p:txBody>
      </p:sp>
      <p:sp>
        <p:nvSpPr>
          <p:cNvPr id="28" name="Text 209"/>
          <p:cNvSpPr txBox="1"/>
          <p:nvPr/>
        </p:nvSpPr>
        <p:spPr>
          <a:xfrm>
            <a:off x="9621317" y="2834640"/>
            <a:ext cx="1610258" cy="274320"/>
          </a:xfrm>
          <a:prstGeom prst="rect">
            <a:avLst/>
          </a:prstGeom>
          <a:noFill/>
          <a:ln/>
        </p:spPr>
        <p:txBody>
          <a:bodyPr wrap="square" lIns="0" tIns="0" rIns="0" bIns="0" rtlCol="0" anchor="t"/>
          <a:lstStyle/>
          <a:p>
            <a:pPr indent="0" marL="0">
              <a:buNone/>
            </a:pPr>
            <a:r>
              <a:rPr lang="en-US" sz="1200" dirty="0">
                <a:solidFill>
                  <a:schemeClr val="tx1"/>
                </a:solidFill>
              </a:rPr>
              <a:t>never noticed</a:t>
            </a:r>
            <a:endParaRPr lang="en-US" sz="1200" dirty="0"/>
          </a:p>
        </p:txBody>
      </p:sp>
      <p:sp>
        <p:nvSpPr>
          <p:cNvPr id="29" name="Card 210"/>
          <p:cNvSpPr/>
          <p:nvPr/>
        </p:nvSpPr>
        <p:spPr>
          <a:xfrm>
            <a:off x="5440680" y="3319272"/>
            <a:ext cx="5928055" cy="841248"/>
          </a:xfrm>
          <a:prstGeom prst="roundRect">
            <a:avLst>
              <a:gd name="adj" fmla="val 5435"/>
            </a:avLst>
          </a:prstGeom>
          <a:solidFill>
            <a:schemeClr val="tx1"/>
          </a:solidFill>
          <a:ln/>
        </p:spPr>
      </p:sp>
      <p:sp>
        <p:nvSpPr>
          <p:cNvPr id="30" name="Text 211"/>
          <p:cNvSpPr txBox="1"/>
          <p:nvPr/>
        </p:nvSpPr>
        <p:spPr>
          <a:xfrm>
            <a:off x="5605272" y="3429000"/>
            <a:ext cx="5653735" cy="658368"/>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POST /response</a:t>
            </a:r>
            <a:endParaRPr lang="en-US" sz="1200" dirty="0"/>
          </a:p>
          <a:p>
            <a:pPr indent="0" marL="0">
              <a:buNone/>
            </a:pPr>
            <a:r>
              <a:rPr lang="en-US" sz="1200" dirty="0">
                <a:solidFill>
                  <a:schemeClr val="bg2"/>
                </a:solidFill>
                <a:latin typeface="Consolas" pitchFamily="34" charset="0"/>
                <a:ea typeface="Consolas" pitchFamily="34" charset="-122"/>
                <a:cs typeface="Consolas" pitchFamily="34" charset="-120"/>
              </a:rPr>
              <a:t>{"invocation_id": "37b1a492…", "offer_id": "paylater_voucher",</a:t>
            </a:r>
            <a:endParaRPr lang="en-US" sz="1200" dirty="0"/>
          </a:p>
          <a:p>
            <a:pPr indent="0" marL="0">
              <a:buNone/>
            </a:pPr>
            <a:r>
              <a:rPr lang="en-US" sz="1200" dirty="0">
                <a:solidFill>
                  <a:schemeClr val="bg2"/>
                </a:solidFill>
                <a:latin typeface="Consolas" pitchFamily="34" charset="0"/>
                <a:ea typeface="Consolas" pitchFamily="34" charset="-122"/>
                <a:cs typeface="Consolas" pitchFamily="34" charset="-120"/>
              </a:rPr>
              <a:t> "outcome": "taken_up"}</a:t>
            </a:r>
            <a:endParaRPr lang="en-US" sz="1200" dirty="0"/>
          </a:p>
        </p:txBody>
      </p:sp>
      <p:sp>
        <p:nvSpPr>
          <p:cNvPr id="31" name="Text 212"/>
          <p:cNvSpPr txBox="1"/>
          <p:nvPr/>
        </p:nvSpPr>
        <p:spPr>
          <a:xfrm>
            <a:off x="5440680" y="4251960"/>
            <a:ext cx="5928055" cy="713232"/>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chemeClr val="tx1"/>
                </a:solidFill>
              </a:rPr>
              <a:t>In the simulator: </a:t>
            </a:r>
            <a:pPr indent="0" marL="0">
              <a:spcAft>
                <a:spcPts val="600"/>
              </a:spcAft>
              <a:buNone/>
            </a:pPr>
            <a:r>
              <a:rPr lang="en-US" sz="1200" dirty="0">
                <a:solidFill>
                  <a:schemeClr val="tx1"/>
                </a:solidFill>
              </a:rPr>
              <a:t>customers notice the first offer always, the second 6 times in 10, the third 4 in 10. A noticed offer is taken with its true probability, and the first take-up ends the visit.</a:t>
            </a:r>
            <a:endParaRPr lang="en-US" sz="1200" dirty="0"/>
          </a:p>
          <a:p>
            <a:pPr marL="177800" indent="-177800">
              <a:spcAft>
                <a:spcPts val="600"/>
              </a:spcAft>
              <a:buSzPct val="100000"/>
              <a:buChar char="•"/>
            </a:pPr>
            <a:r>
              <a:rPr lang="en-US" sz="1200" b="1" dirty="0">
                <a:solidFill>
                  <a:schemeClr val="tx1"/>
                </a:solidFill>
              </a:rPr>
              <a:t>Optional: </a:t>
            </a:r>
            <a:pPr indent="0" marL="0">
              <a:spcAft>
                <a:spcPts val="600"/>
              </a:spcAft>
              <a:buNone/>
            </a:pPr>
            <a:r>
              <a:rPr lang="en-US" sz="1200" dirty="0">
                <a:solidFill>
                  <a:schemeClr val="tx1"/>
                </a:solidFill>
              </a:rPr>
              <a:t>a value, such as the rand amount spent.</a:t>
            </a:r>
            <a:endParaRPr lang="en-US" sz="1200" dirty="0"/>
          </a:p>
        </p:txBody>
      </p:sp>
      <p:sp>
        <p:nvSpPr>
          <p:cNvPr id="32" name="Text 213"/>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api/main.py · respond()   ·   simulator/ground_truth.py · ResponseModel</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6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Score, log once</a:t>
            </a:r>
            <a:endParaRPr lang="en-US" sz="3600" dirty="0"/>
          </a:p>
        </p:txBody>
      </p:sp>
      <p:sp>
        <p:nvSpPr>
          <p:cNvPr id="4" name="Step 214"/>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215"/>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216"/>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217"/>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218"/>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219"/>
          <p:cNvSpPr txBox="1"/>
          <p:nvPr/>
        </p:nvSpPr>
        <p:spPr>
          <a:xfrm>
            <a:off x="10966399"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10" name="Step 220"/>
          <p:cNvSpPr txBox="1"/>
          <p:nvPr/>
        </p:nvSpPr>
        <p:spPr>
          <a:xfrm>
            <a:off x="1135044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11" name="Text 221"/>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The API checks the response against the logged app open, turns it into a reward, and records it exactly once.</a:t>
            </a:r>
            <a:endParaRPr lang="en-US" sz="1600" dirty="0"/>
          </a:p>
        </p:txBody>
      </p:sp>
      <p:sp>
        <p:nvSpPr>
          <p:cNvPr id="12" name="Card 222"/>
          <p:cNvSpPr/>
          <p:nvPr/>
        </p:nvSpPr>
        <p:spPr>
          <a:xfrm>
            <a:off x="548640" y="1874520"/>
            <a:ext cx="4343400" cy="3566160"/>
          </a:xfrm>
          <a:prstGeom prst="roundRect">
            <a:avLst>
              <a:gd name="adj" fmla="val 2051"/>
            </a:avLst>
          </a:prstGeom>
          <a:solidFill>
            <a:schemeClr val="bg2"/>
          </a:solidFill>
          <a:ln/>
        </p:spPr>
      </p:sp>
      <p:sp>
        <p:nvSpPr>
          <p:cNvPr id="13" name="Text 223"/>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224"/>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The assistant checks the ticket: is it real, and was this product actually offered? Then the result goes in the receipt book, once.</a:t>
            </a:r>
            <a:endParaRPr lang="en-US" sz="1600" dirty="0"/>
          </a:p>
          <a:p>
            <a:pPr indent="0" marL="0">
              <a:spcAft>
                <a:spcPts val="1000"/>
              </a:spcAft>
              <a:buNone/>
            </a:pPr>
            <a:r>
              <a:rPr lang="en-US" sz="1600" dirty="0">
                <a:solidFill>
                  <a:schemeClr val="tx1"/>
                </a:solidFill>
              </a:rPr>
              <a:t>Bought scores 1. Looked and left scores 0. Never noticed scores nothing at all: you can't learn from something nobody saw.</a:t>
            </a:r>
            <a:endParaRPr lang="en-US" sz="1600" dirty="0"/>
          </a:p>
        </p:txBody>
      </p:sp>
      <p:sp>
        <p:nvSpPr>
          <p:cNvPr id="15" name="Panel 225"/>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226"/>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227"/>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228"/>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229"/>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The database enforces “once”, not the application, so it holds even when two copies arrive at the same moment on different servers. Logging before learning means the record survives a failed update.</a:t>
            </a:r>
            <a:endParaRPr lang="en-US" sz="1400" dirty="0"/>
          </a:p>
        </p:txBody>
      </p:sp>
      <p:sp>
        <p:nvSpPr>
          <p:cNvPr id="20" name="Step 230"/>
          <p:cNvSpPr txBox="1"/>
          <p:nvPr/>
        </p:nvSpPr>
        <p:spPr>
          <a:xfrm>
            <a:off x="5440680" y="2441448"/>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1" name="Text 231"/>
          <p:cNvSpPr txBox="1"/>
          <p:nvPr/>
        </p:nvSpPr>
        <p:spPr>
          <a:xfrm>
            <a:off x="5852160" y="2423160"/>
            <a:ext cx="5516575" cy="475488"/>
          </a:xfrm>
          <a:prstGeom prst="rect">
            <a:avLst/>
          </a:prstGeom>
          <a:noFill/>
          <a:ln/>
        </p:spPr>
        <p:txBody>
          <a:bodyPr wrap="square" lIns="0" tIns="0" rIns="0" bIns="0" rtlCol="0" anchor="t"/>
          <a:lstStyle/>
          <a:p>
            <a:pPr indent="0" marL="0">
              <a:buNone/>
            </a:pPr>
            <a:r>
              <a:rPr lang="en-US" sz="1200" b="1" dirty="0">
                <a:solidFill>
                  <a:schemeClr val="tx1"/>
                </a:solidFill>
              </a:rPr>
              <a:t>Read the app open back:  </a:t>
            </a:r>
            <a:pPr indent="0" marL="0">
              <a:buNone/>
            </a:pPr>
            <a:r>
              <a:rPr lang="en-US" sz="1200" dirty="0">
                <a:solidFill>
                  <a:schemeClr val="tx1"/>
                </a:solidFill>
              </a:rPr>
              <a:t>one query: its policy, its context, and the offers it showed</a:t>
            </a:r>
            <a:endParaRPr lang="en-US" sz="1200" dirty="0"/>
          </a:p>
        </p:txBody>
      </p:sp>
      <p:sp>
        <p:nvSpPr>
          <p:cNvPr id="22" name="Step 232"/>
          <p:cNvSpPr txBox="1"/>
          <p:nvPr/>
        </p:nvSpPr>
        <p:spPr>
          <a:xfrm>
            <a:off x="5440680" y="2944368"/>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3" name="Text 233"/>
          <p:cNvSpPr txBox="1"/>
          <p:nvPr/>
        </p:nvSpPr>
        <p:spPr>
          <a:xfrm>
            <a:off x="5852160" y="2926080"/>
            <a:ext cx="5516575" cy="475488"/>
          </a:xfrm>
          <a:prstGeom prst="rect">
            <a:avLst/>
          </a:prstGeom>
          <a:noFill/>
          <a:ln/>
        </p:spPr>
        <p:txBody>
          <a:bodyPr wrap="square" lIns="0" tIns="0" rIns="0" bIns="0" rtlCol="0" anchor="t"/>
          <a:lstStyle/>
          <a:p>
            <a:pPr indent="0" marL="0">
              <a:buNone/>
            </a:pPr>
            <a:r>
              <a:rPr lang="en-US" sz="1200" b="1" dirty="0">
                <a:solidFill>
                  <a:schemeClr val="tx1"/>
                </a:solidFill>
              </a:rPr>
              <a:t>Check it:  </a:t>
            </a:r>
            <a:pPr indent="0" marL="0">
              <a:buNone/>
            </a:pPr>
            <a:r>
              <a:rPr lang="en-US" sz="1200" dirty="0">
                <a:solidFill>
                  <a:schemeClr val="tx1"/>
                </a:solidFill>
              </a:rPr>
              <a:t>unknown invocation or offer: 404. Offer not shown: 422 (the real test: airtime_r50_bonus was refused)</a:t>
            </a:r>
            <a:endParaRPr lang="en-US" sz="1200" dirty="0"/>
          </a:p>
        </p:txBody>
      </p:sp>
      <p:sp>
        <p:nvSpPr>
          <p:cNvPr id="24" name="Step 234"/>
          <p:cNvSpPr txBox="1"/>
          <p:nvPr/>
        </p:nvSpPr>
        <p:spPr>
          <a:xfrm>
            <a:off x="5440680" y="3447288"/>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5" name="Text 235"/>
          <p:cNvSpPr txBox="1"/>
          <p:nvPr/>
        </p:nvSpPr>
        <p:spPr>
          <a:xfrm>
            <a:off x="5852160" y="3429000"/>
            <a:ext cx="5516575" cy="475488"/>
          </a:xfrm>
          <a:prstGeom prst="rect">
            <a:avLst/>
          </a:prstGeom>
          <a:noFill/>
          <a:ln/>
        </p:spPr>
        <p:txBody>
          <a:bodyPr wrap="square" lIns="0" tIns="0" rIns="0" bIns="0" rtlCol="0" anchor="t"/>
          <a:lstStyle/>
          <a:p>
            <a:pPr indent="0" marL="0">
              <a:buNone/>
            </a:pPr>
            <a:r>
              <a:rPr lang="en-US" sz="1200" b="1" dirty="0">
                <a:solidFill>
                  <a:schemeClr val="tx1"/>
                </a:solidFill>
              </a:rPr>
              <a:t>Score it:  </a:t>
            </a:r>
            <a:pPr indent="0" marL="0">
              <a:buNone/>
            </a:pPr>
            <a:r>
              <a:rPr lang="en-US" sz="1200" dirty="0">
                <a:solidFill>
                  <a:schemeClr val="tx1"/>
                </a:solidFill>
              </a:rPr>
              <a:t>taken up 1 · viewed 0 · ignored: no update. A revenue policy scores margin ÷ the top margin.</a:t>
            </a:r>
            <a:endParaRPr lang="en-US" sz="1200" dirty="0"/>
          </a:p>
        </p:txBody>
      </p:sp>
      <p:sp>
        <p:nvSpPr>
          <p:cNvPr id="26" name="Step 236"/>
          <p:cNvSpPr txBox="1"/>
          <p:nvPr/>
        </p:nvSpPr>
        <p:spPr>
          <a:xfrm>
            <a:off x="5440680" y="3950208"/>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7" name="Text 237"/>
          <p:cNvSpPr txBox="1"/>
          <p:nvPr/>
        </p:nvSpPr>
        <p:spPr>
          <a:xfrm>
            <a:off x="5852160" y="3931920"/>
            <a:ext cx="5516575" cy="475488"/>
          </a:xfrm>
          <a:prstGeom prst="rect">
            <a:avLst/>
          </a:prstGeom>
          <a:noFill/>
          <a:ln/>
        </p:spPr>
        <p:txBody>
          <a:bodyPr wrap="square" lIns="0" tIns="0" rIns="0" bIns="0" rtlCol="0" anchor="t"/>
          <a:lstStyle/>
          <a:p>
            <a:pPr indent="0" marL="0">
              <a:buNone/>
            </a:pPr>
            <a:r>
              <a:rPr lang="en-US" sz="1200" b="1" dirty="0">
                <a:solidFill>
                  <a:schemeClr val="tx1"/>
                </a:solidFill>
              </a:rPr>
              <a:t>Record it once:  </a:t>
            </a:r>
            <a:pPr indent="0" marL="0">
              <a:buNone/>
            </a:pPr>
            <a:r>
              <a:rPr lang="en-US" sz="1200" dirty="0">
                <a:solidFill>
                  <a:schemeClr val="tx1"/>
                </a:solidFill>
              </a:rPr>
              <a:t>primary key (invocation_id, offer_id) and ON CONFLICT DO NOTHING RETURNING: a repeat gets 409 (it did)</a:t>
            </a:r>
            <a:endParaRPr lang="en-US" sz="1200" dirty="0"/>
          </a:p>
        </p:txBody>
      </p:sp>
      <p:sp>
        <p:nvSpPr>
          <p:cNvPr id="28" name="Card 238"/>
          <p:cNvSpPr/>
          <p:nvPr/>
        </p:nvSpPr>
        <p:spPr>
          <a:xfrm>
            <a:off x="5440680" y="4480560"/>
            <a:ext cx="5928055" cy="566928"/>
          </a:xfrm>
          <a:prstGeom prst="roundRect">
            <a:avLst>
              <a:gd name="adj" fmla="val 8065"/>
            </a:avLst>
          </a:prstGeom>
          <a:solidFill>
            <a:schemeClr val="tx1"/>
          </a:solidFill>
          <a:ln/>
        </p:spPr>
      </p:sp>
      <p:sp>
        <p:nvSpPr>
          <p:cNvPr id="29" name="Text 239"/>
          <p:cNvSpPr txBox="1"/>
          <p:nvPr/>
        </p:nvSpPr>
        <p:spPr>
          <a:xfrm>
            <a:off x="5605272" y="4590288"/>
            <a:ext cx="5653735" cy="384048"/>
          </a:xfrm>
          <a:prstGeom prst="rect">
            <a:avLst/>
          </a:prstGeom>
          <a:noFill/>
          <a:ln/>
        </p:spPr>
        <p:txBody>
          <a:bodyPr wrap="square" lIns="0" tIns="0" rIns="0" bIns="0" rtlCol="0" anchor="t"/>
          <a:lstStyle/>
          <a:p>
            <a:pPr indent="0" marL="0">
              <a:buNone/>
            </a:pPr>
            <a:r>
              <a:rPr lang="en-US" sz="1100" dirty="0">
                <a:solidFill>
                  <a:schemeClr val="bg2"/>
                </a:solidFill>
                <a:latin typeface="Consolas" pitchFamily="34" charset="0"/>
                <a:ea typeface="Consolas" pitchFamily="34" charset="-122"/>
                <a:cs typeface="Consolas" pitchFamily="34" charset="-120"/>
              </a:rPr>
              <a:t>200 {"reward": 1.0, "model_updated": true}</a:t>
            </a:r>
            <a:endParaRPr lang="en-US" sz="1100" dirty="0"/>
          </a:p>
          <a:p>
            <a:pPr indent="0" marL="0">
              <a:buNone/>
            </a:pPr>
            <a:r>
              <a:rPr lang="en-US" sz="1100" dirty="0">
                <a:solidFill>
                  <a:schemeClr val="bg2"/>
                </a:solidFill>
                <a:latin typeface="Consolas" pitchFamily="34" charset="0"/>
                <a:ea typeface="Consolas" pitchFamily="34" charset="-122"/>
                <a:cs typeface="Consolas" pitchFamily="34" charset="-120"/>
              </a:rPr>
              <a:t>409 {"detail": "… 'paylater_voucher' … was already recorded"}</a:t>
            </a:r>
            <a:endParaRPr lang="en-US" sz="1100" dirty="0"/>
          </a:p>
        </p:txBody>
      </p:sp>
      <p:sp>
        <p:nvSpPr>
          <p:cNvPr id="30" name="Text 240"/>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api/main.py · respond()  ·  rewards.py  ·  events/log.py · record_response()</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7 OF 7</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Learn and forget</a:t>
            </a:r>
            <a:endParaRPr lang="en-US" sz="3600" dirty="0"/>
          </a:p>
        </p:txBody>
      </p:sp>
      <p:sp>
        <p:nvSpPr>
          <p:cNvPr id="4" name="Step 241"/>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242"/>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243"/>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244"/>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245"/>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246"/>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247"/>
          <p:cNvSpPr txBox="1"/>
          <p:nvPr/>
        </p:nvSpPr>
        <p:spPr>
          <a:xfrm>
            <a:off x="11350447"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1" name="Text 248"/>
          <p:cNvSpPr txBox="1"/>
          <p:nvPr/>
        </p:nvSpPr>
        <p:spPr>
          <a:xfrm>
            <a:off x="548640" y="1417320"/>
            <a:ext cx="11094415" cy="384048"/>
          </a:xfrm>
          <a:prstGeom prst="rect">
            <a:avLst/>
          </a:prstGeom>
          <a:noFill/>
          <a:ln/>
        </p:spPr>
        <p:txBody>
          <a:bodyPr wrap="square" lIns="0" tIns="0" rIns="0" bIns="0" rtlCol="0" anchor="t"/>
          <a:lstStyle/>
          <a:p>
            <a:pPr indent="0" marL="0">
              <a:buNone/>
            </a:pPr>
            <a:r>
              <a:rPr lang="en-US" sz="1600" dirty="0">
                <a:solidFill>
                  <a:schemeClr val="tx2"/>
                </a:solidFill>
              </a:rPr>
              <a:t>In one transaction, every belief in the segment fades a little, then the offer taken up gains the new evidence.</a:t>
            </a:r>
            <a:endParaRPr lang="en-US" sz="1600" dirty="0"/>
          </a:p>
        </p:txBody>
      </p:sp>
      <p:sp>
        <p:nvSpPr>
          <p:cNvPr id="12" name="Card 249"/>
          <p:cNvSpPr/>
          <p:nvPr/>
        </p:nvSpPr>
        <p:spPr>
          <a:xfrm>
            <a:off x="548640" y="1874520"/>
            <a:ext cx="4343400" cy="3566160"/>
          </a:xfrm>
          <a:prstGeom prst="roundRect">
            <a:avLst>
              <a:gd name="adj" fmla="val 2051"/>
            </a:avLst>
          </a:prstGeom>
          <a:solidFill>
            <a:schemeClr val="bg2"/>
          </a:solidFill>
          <a:ln/>
        </p:spPr>
      </p:sp>
      <p:sp>
        <p:nvSpPr>
          <p:cNvPr id="13" name="Text 250"/>
          <p:cNvSpPr txBox="1"/>
          <p:nvPr/>
        </p:nvSpPr>
        <p:spPr>
          <a:xfrm>
            <a:off x="822960" y="2075688"/>
            <a:ext cx="3794760"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IN PLAIN WORDS</a:t>
            </a:r>
            <a:endParaRPr lang="en-US" sz="1100" dirty="0"/>
          </a:p>
        </p:txBody>
      </p:sp>
      <p:sp>
        <p:nvSpPr>
          <p:cNvPr id="14" name="Text 251"/>
          <p:cNvSpPr txBox="1"/>
          <p:nvPr/>
        </p:nvSpPr>
        <p:spPr>
          <a:xfrm>
            <a:off x="822960" y="2423160"/>
            <a:ext cx="3794760" cy="283464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The assistant updates the small-business page. First every line fades slightly, so last month's habits count a little less. Then the pay-later line gets one more sale.</a:t>
            </a:r>
            <a:endParaRPr lang="en-US" sz="1600" dirty="0"/>
          </a:p>
          <a:p>
            <a:pPr indent="0" marL="0">
              <a:spcAft>
                <a:spcPts val="1000"/>
              </a:spcAft>
              <a:buNone/>
            </a:pPr>
            <a:r>
              <a:rPr lang="en-US" sz="1600" dirty="0">
                <a:solidFill>
                  <a:schemeClr val="tx1"/>
                </a:solidFill>
              </a:rPr>
              <a:t>The very next small-business customer, on any server, is served from the updated page.</a:t>
            </a:r>
            <a:endParaRPr lang="en-US" sz="1600" dirty="0"/>
          </a:p>
        </p:txBody>
      </p:sp>
      <p:sp>
        <p:nvSpPr>
          <p:cNvPr id="15" name="Panel 252"/>
          <p:cNvSpPr/>
          <p:nvPr/>
        </p:nvSpPr>
        <p:spPr>
          <a:xfrm>
            <a:off x="5166360" y="1874520"/>
            <a:ext cx="6476695" cy="3566160"/>
          </a:xfrm>
          <a:prstGeom prst="roundRect">
            <a:avLst>
              <a:gd name="adj" fmla="val 2051"/>
            </a:avLst>
          </a:prstGeom>
          <a:solidFill>
            <a:schemeClr val="bg1"/>
          </a:solidFill>
          <a:ln w="12700">
            <a:solidFill>
              <a:schemeClr val="accent3"/>
            </a:solidFill>
            <a:prstDash val="solid"/>
          </a:ln>
        </p:spPr>
      </p:sp>
      <p:sp>
        <p:nvSpPr>
          <p:cNvPr id="16" name="Text 253"/>
          <p:cNvSpPr txBox="1"/>
          <p:nvPr/>
        </p:nvSpPr>
        <p:spPr>
          <a:xfrm>
            <a:off x="5440680" y="2075688"/>
            <a:ext cx="5928055" cy="237744"/>
          </a:xfrm>
          <a:prstGeom prst="rect">
            <a:avLst/>
          </a:prstGeom>
          <a:noFill/>
          <a:ln/>
        </p:spPr>
        <p:txBody>
          <a:bodyPr wrap="square" lIns="0" tIns="0" rIns="0" bIns="0" rtlCol="0" anchor="t"/>
          <a:lstStyle/>
          <a:p>
            <a:pPr indent="0" marL="0">
              <a:buNone/>
            </a:pPr>
            <a:r>
              <a:rPr lang="en-US" sz="1100" b="1" spc="120" kern="0" dirty="0">
                <a:solidFill>
                  <a:schemeClr val="accent1"/>
                </a:solidFill>
              </a:rPr>
              <a:t>UNDER THE HOOD</a:t>
            </a:r>
            <a:endParaRPr lang="en-US" sz="1100" dirty="0"/>
          </a:p>
        </p:txBody>
      </p:sp>
      <p:sp>
        <p:nvSpPr>
          <p:cNvPr id="17" name="Why 254"/>
          <p:cNvSpPr/>
          <p:nvPr/>
        </p:nvSpPr>
        <p:spPr>
          <a:xfrm>
            <a:off x="548640" y="5577840"/>
            <a:ext cx="11094415" cy="731520"/>
          </a:xfrm>
          <a:prstGeom prst="roundRect">
            <a:avLst>
              <a:gd name="adj" fmla="val 10000"/>
            </a:avLst>
          </a:prstGeom>
          <a:solidFill>
            <a:schemeClr val="accent2">
              <a:alpha val="16000"/>
            </a:schemeClr>
          </a:solidFill>
          <a:ln/>
        </p:spPr>
      </p:sp>
      <p:sp>
        <p:nvSpPr>
          <p:cNvPr id="18" name="Text 255"/>
          <p:cNvSpPr txBox="1"/>
          <p:nvPr/>
        </p:nvSpPr>
        <p:spPr>
          <a:xfrm>
            <a:off x="822960" y="5632704"/>
            <a:ext cx="3657600" cy="237744"/>
          </a:xfrm>
          <a:prstGeom prst="rect">
            <a:avLst/>
          </a:prstGeom>
          <a:noFill/>
          <a:ln/>
        </p:spPr>
        <p:txBody>
          <a:bodyPr wrap="square" lIns="0" tIns="0" rIns="0" bIns="0" rtlCol="0" anchor="t"/>
          <a:lstStyle/>
          <a:p>
            <a:pPr indent="0" marL="0">
              <a:buNone/>
            </a:pPr>
            <a:r>
              <a:rPr lang="en-US" sz="1100" b="1" spc="120" kern="0" dirty="0">
                <a:solidFill>
                  <a:schemeClr val="accent6"/>
                </a:solidFill>
              </a:rPr>
              <a:t>WHY IT'S BUILT THIS WAY</a:t>
            </a:r>
            <a:endParaRPr lang="en-US" sz="1100" dirty="0"/>
          </a:p>
        </p:txBody>
      </p:sp>
      <p:sp>
        <p:nvSpPr>
          <p:cNvPr id="19" name="Text 256"/>
          <p:cNvSpPr txBox="1"/>
          <p:nvPr/>
        </p:nvSpPr>
        <p:spPr>
          <a:xfrm>
            <a:off x="822960" y="5879592"/>
            <a:ext cx="10545775" cy="402336"/>
          </a:xfrm>
          <a:prstGeom prst="rect">
            <a:avLst/>
          </a:prstGeom>
          <a:noFill/>
          <a:ln/>
        </p:spPr>
        <p:txBody>
          <a:bodyPr wrap="square" lIns="0" tIns="0" rIns="0" bIns="0" rtlCol="0" anchor="t"/>
          <a:lstStyle/>
          <a:p>
            <a:pPr indent="0" marL="0">
              <a:buNone/>
            </a:pPr>
            <a:r>
              <a:rPr lang="en-US" sz="1400" dirty="0">
                <a:solidFill>
                  <a:schemeClr val="tx1"/>
                </a:solidFill>
              </a:rPr>
              <a:t>The update is computed inside the database in one transaction, so simultaneous responses never overwrite each other (a first version lost 74% of them). On Postgres, a lock per segment prevents deadlocks.</a:t>
            </a:r>
            <a:endParaRPr lang="en-US" sz="1400" dirty="0"/>
          </a:p>
        </p:txBody>
      </p:sp>
      <p:graphicFrame>
        <p:nvGraphicFramePr>
          <p:cNvPr id="12" name="Table 257"/>
          <p:cNvGraphicFramePr>
            <a:graphicFrameLocks noGrp="1"/>
          </p:cNvGraphicFramePr>
          <p:nvPr>
            <p:extLst>
              <p:ext uri="{D42A27DB-BD31-4B8C-83A1-F6EECF244321}">
                <p14:modId xmlns:p14="http://schemas.microsoft.com/office/powerpoint/2010/main" val="1579011935"/>
              </p:ext>
            </p:extLst>
          </p:nvPr>
        </p:nvGraphicFramePr>
        <p:xfrm>
          <a:off x="5440680" y="2377440"/>
          <a:ext cx="5928055" cy="914400"/>
        </p:xfrm>
        <a:graphic>
          <a:graphicData uri="http://schemas.openxmlformats.org/drawingml/2006/table">
            <a:tbl>
              <a:tblPr/>
              <a:tblGrid>
                <a:gridCol w="1659855"/>
                <a:gridCol w="1274532"/>
                <a:gridCol w="1274532"/>
                <a:gridCol w="1719136"/>
              </a:tblGrid>
              <a:tr h="265176">
                <a:tc>
                  <a:txBody>
                    <a:bodyPr/>
                    <a:lstStyle/>
                    <a:p>
                      <a:pPr indent="0" marL="0">
                        <a:buNone/>
                      </a:pPr>
                      <a:r>
                        <a:rPr lang="en-US" sz="1200" b="1" dirty="0">
                          <a:solidFill>
                            <a:schemeClr val="bg1"/>
                          </a:solidFill>
                        </a:rPr>
                        <a:t>Offer</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Before: α, β</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After: α, β</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What happened</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265176">
                <a:tc>
                  <a:txBody>
                    <a:bodyPr/>
                    <a:lstStyle/>
                    <a:p>
                      <a:pPr indent="0" marL="0">
                        <a:buNone/>
                      </a:pPr>
                      <a:r>
                        <a:rPr lang="en-US" sz="1200" b="1" dirty="0">
                          <a:solidFill>
                            <a:schemeClr val="tx1"/>
                          </a:solidFill>
                        </a:rPr>
                        <a:t>Pay-later R500 voucher</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220.386, 855.928</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b="1" dirty="0">
                          <a:solidFill>
                            <a:schemeClr val="accent1"/>
                          </a:solidFill>
                        </a:rPr>
                        <a:t>221.342, 855.757</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faded, then +1 take-up</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20GB data bundle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62.774, 394.834</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62.762, 394.755</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faded only</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r h="265176">
                <a:tc>
                  <a:txBody>
                    <a:bodyPr/>
                    <a:lstStyle/>
                    <a:p>
                      <a:pPr indent="0" marL="0">
                        <a:buNone/>
                      </a:pPr>
                      <a:r>
                        <a:rPr lang="en-US" sz="1200" dirty="0">
                          <a:solidFill>
                            <a:schemeClr val="tx1"/>
                          </a:solidFill>
                        </a:rPr>
                        <a:t>Smartphone insurance</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6.429, 82.970</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6.428, 82.953</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c>
                  <a:txBody>
                    <a:bodyPr/>
                    <a:lstStyle/>
                    <a:p>
                      <a:pPr indent="0" marL="0">
                        <a:buNone/>
                      </a:pPr>
                      <a:r>
                        <a:rPr lang="en-US" sz="1200" dirty="0">
                          <a:solidFill>
                            <a:schemeClr val="tx1"/>
                          </a:solidFill>
                        </a:rPr>
                        <a:t>faded only</a:t>
                      </a:r>
                      <a:endParaRPr lang="en-US" sz="1200" dirty="0"/>
                    </a:p>
                  </a:txBody>
                  <a:tcPr marL="91440" marR="91440" marT="36576" marB="36576"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tcPr>
                </a:tc>
              </a:tr>
            </a:tbl>
          </a:graphicData>
        </a:graphic>
      </p:graphicFrame>
      <p:sp>
        <p:nvSpPr>
          <p:cNvPr id="21" name="Card 258"/>
          <p:cNvSpPr/>
          <p:nvPr/>
        </p:nvSpPr>
        <p:spPr>
          <a:xfrm>
            <a:off x="5440680" y="3566160"/>
            <a:ext cx="5928055" cy="1115568"/>
          </a:xfrm>
          <a:prstGeom prst="roundRect">
            <a:avLst>
              <a:gd name="adj" fmla="val 4098"/>
            </a:avLst>
          </a:prstGeom>
          <a:solidFill>
            <a:schemeClr val="tx1"/>
          </a:solidFill>
          <a:ln/>
        </p:spPr>
      </p:sp>
      <p:sp>
        <p:nvSpPr>
          <p:cNvPr id="22" name="Text 259"/>
          <p:cNvSpPr txBox="1"/>
          <p:nvPr/>
        </p:nvSpPr>
        <p:spPr>
          <a:xfrm>
            <a:off x="5605272" y="3675888"/>
            <a:ext cx="5653735" cy="932688"/>
          </a:xfrm>
          <a:prstGeom prst="rect">
            <a:avLst/>
          </a:prstGeom>
          <a:noFill/>
          <a:ln/>
        </p:spPr>
        <p:txBody>
          <a:bodyPr wrap="square" lIns="0" tIns="0" rIns="0" bIns="0" rtlCol="0" anchor="t"/>
          <a:lstStyle/>
          <a:p>
            <a:pPr indent="0" marL="0">
              <a:buNone/>
            </a:pPr>
            <a:r>
              <a:rPr lang="en-US" sz="1100" dirty="0">
                <a:solidFill>
                  <a:schemeClr val="bg2"/>
                </a:solidFill>
                <a:latin typeface="Consolas" pitchFamily="34" charset="0"/>
                <a:ea typeface="Consolas" pitchFamily="34" charset="-122"/>
                <a:cs typeface="Consolas" pitchFamily="34" charset="-120"/>
              </a:rPr>
              <a:t>UPDATE options SET pulls = pulls * 0.9998,</a:t>
            </a:r>
            <a:endParaRPr lang="en-US" sz="1100" dirty="0"/>
          </a:p>
          <a:p>
            <a:pPr indent="0" marL="0">
              <a:buNone/>
            </a:pPr>
            <a:r>
              <a:rPr lang="en-US" sz="1100" dirty="0">
                <a:solidFill>
                  <a:schemeClr val="bg2"/>
                </a:solidFill>
                <a:latin typeface="Consolas" pitchFamily="34" charset="0"/>
                <a:ea typeface="Consolas" pitchFamily="34" charset="-122"/>
                <a:cs typeface="Consolas" pitchFamily="34" charset="-120"/>
              </a:rPr>
              <a:t>                   total_reward = total_reward * 0.9998</a:t>
            </a:r>
            <a:endParaRPr lang="en-US" sz="1100" dirty="0"/>
          </a:p>
          <a:p>
            <a:pPr indent="0" marL="0">
              <a:buNone/>
            </a:pPr>
            <a:r>
              <a:rPr lang="en-US" sz="1100" dirty="0">
                <a:solidFill>
                  <a:schemeClr val="bg2"/>
                </a:solidFill>
                <a:latin typeface="Consolas" pitchFamily="34" charset="0"/>
                <a:ea typeface="Consolas" pitchFamily="34" charset="-122"/>
                <a:cs typeface="Consolas" pitchFamily="34" charset="-120"/>
              </a:rPr>
              <a:t> WHERE policy = :policy AND context_key = 'small_business';</a:t>
            </a:r>
            <a:endParaRPr lang="en-US" sz="1100" dirty="0"/>
          </a:p>
          <a:p>
            <a:pPr indent="0" marL="0">
              <a:buNone/>
            </a:pPr>
            <a:r>
              <a:rPr lang="en-US" sz="1100" dirty="0">
                <a:solidFill>
                  <a:schemeClr val="bg2"/>
                </a:solidFill>
                <a:latin typeface="Consolas" pitchFamily="34" charset="0"/>
                <a:ea typeface="Consolas" pitchFamily="34" charset="-122"/>
                <a:cs typeface="Consolas" pitchFamily="34" charset="-120"/>
              </a:rPr>
              <a:t>INSERT INTO options ... ON CONFLICT DO UPDATE</a:t>
            </a:r>
            <a:endParaRPr lang="en-US" sz="1100" dirty="0"/>
          </a:p>
          <a:p>
            <a:pPr indent="0" marL="0">
              <a:buNone/>
            </a:pPr>
            <a:r>
              <a:rPr lang="en-US" sz="1100" dirty="0">
                <a:solidFill>
                  <a:schemeClr val="bg2"/>
                </a:solidFill>
                <a:latin typeface="Consolas" pitchFamily="34" charset="0"/>
                <a:ea typeface="Consolas" pitchFamily="34" charset="-122"/>
                <a:cs typeface="Consolas" pitchFamily="34" charset="-120"/>
              </a:rPr>
              <a:t>   SET pulls = pulls + 1, total_reward = total_reward + :reward;</a:t>
            </a:r>
            <a:endParaRPr lang="en-US" sz="1100" dirty="0"/>
          </a:p>
        </p:txBody>
      </p:sp>
      <p:sp>
        <p:nvSpPr>
          <p:cNvPr id="23" name="Text 260"/>
          <p:cNvSpPr txBox="1"/>
          <p:nvPr/>
        </p:nvSpPr>
        <p:spPr>
          <a:xfrm>
            <a:off x="5440680" y="4736592"/>
            <a:ext cx="5928055" cy="256032"/>
          </a:xfrm>
          <a:prstGeom prst="rect">
            <a:avLst/>
          </a:prstGeom>
          <a:noFill/>
          <a:ln/>
        </p:spPr>
        <p:txBody>
          <a:bodyPr wrap="square" lIns="0" tIns="0" rIns="0" bIns="0" rtlCol="0" anchor="t"/>
          <a:lstStyle/>
          <a:p>
            <a:pPr indent="0" marL="0">
              <a:buNone/>
            </a:pPr>
            <a:r>
              <a:rPr lang="en-US" sz="1200" i="1" dirty="0">
                <a:solidFill>
                  <a:schemeClr val="tx2"/>
                </a:solidFill>
              </a:rPr>
              <a:t>α = 1 + total_reward and β = 1 + pulls − total_reward are computed by the database itself.</a:t>
            </a:r>
            <a:endParaRPr lang="en-US" sz="1200" dirty="0"/>
          </a:p>
        </p:txBody>
      </p:sp>
      <p:sp>
        <p:nvSpPr>
          <p:cNvPr id="24" name="Text 261"/>
          <p:cNvSpPr txBox="1"/>
          <p:nvPr/>
        </p:nvSpPr>
        <p:spPr>
          <a:xfrm>
            <a:off x="5440680" y="5129784"/>
            <a:ext cx="5928055" cy="237744"/>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store/sql.py · SqlOptionsStore.learn()   ·   algorithms/base.py · update()</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STEP 7 OF 7  ·  A CLOSER LOOK</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Forgetting keeps the model ready for change</a:t>
            </a:r>
            <a:endParaRPr lang="en-US" sz="3600" dirty="0"/>
          </a:p>
        </p:txBody>
      </p:sp>
      <p:sp>
        <p:nvSpPr>
          <p:cNvPr id="4" name="Step 262"/>
          <p:cNvSpPr txBox="1"/>
          <p:nvPr/>
        </p:nvSpPr>
        <p:spPr>
          <a:xfrm>
            <a:off x="904615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5" name="Step 263"/>
          <p:cNvSpPr txBox="1"/>
          <p:nvPr/>
        </p:nvSpPr>
        <p:spPr>
          <a:xfrm>
            <a:off x="9430207"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6" name="Step 264"/>
          <p:cNvSpPr txBox="1"/>
          <p:nvPr/>
        </p:nvSpPr>
        <p:spPr>
          <a:xfrm>
            <a:off x="9814255"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7" name="Step 265"/>
          <p:cNvSpPr txBox="1"/>
          <p:nvPr/>
        </p:nvSpPr>
        <p:spPr>
          <a:xfrm>
            <a:off x="10198303"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8" name="Step 266"/>
          <p:cNvSpPr txBox="1"/>
          <p:nvPr/>
        </p:nvSpPr>
        <p:spPr>
          <a:xfrm>
            <a:off x="10582351"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9" name="Step 267"/>
          <p:cNvSpPr txBox="1"/>
          <p:nvPr/>
        </p:nvSpPr>
        <p:spPr>
          <a:xfrm>
            <a:off x="10966399" y="329184"/>
            <a:ext cx="292608" cy="292608"/>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10" name="Step 268"/>
          <p:cNvSpPr txBox="1"/>
          <p:nvPr/>
        </p:nvSpPr>
        <p:spPr>
          <a:xfrm>
            <a:off x="11350447" y="329184"/>
            <a:ext cx="292608" cy="29260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graphicFrame>
        <p:nvGraphicFramePr>
          <p:cNvPr id="11" name="Forgetting chart" descr=""/>
          <p:cNvGraphicFramePr/>
          <p:nvPr/>
        </p:nvGraphicFramePr>
        <p:xfrm>
          <a:off x="548640" y="17830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12" name="Text 269"/>
          <p:cNvSpPr txBox="1"/>
          <p:nvPr/>
        </p:nvSpPr>
        <p:spPr>
          <a:xfrm>
            <a:off x="548640" y="1481328"/>
            <a:ext cx="6766560" cy="274320"/>
          </a:xfrm>
          <a:prstGeom prst="rect">
            <a:avLst/>
          </a:prstGeom>
          <a:noFill/>
          <a:ln/>
        </p:spPr>
        <p:txBody>
          <a:bodyPr wrap="square" lIns="0" tIns="0" rIns="0" bIns="0" rtlCol="0" anchor="t"/>
          <a:lstStyle/>
          <a:p>
            <a:pPr indent="0" marL="0">
              <a:buNone/>
            </a:pPr>
            <a:r>
              <a:rPr lang="en-US" sz="1300" dirty="0">
                <a:solidFill>
                  <a:schemeClr val="tx2"/>
                </a:solidFill>
              </a:rPr>
              <a:t>How much one response still counts after n later updates in its segment</a:t>
            </a:r>
            <a:endParaRPr lang="en-US" sz="1300" dirty="0"/>
          </a:p>
        </p:txBody>
      </p:sp>
      <p:sp>
        <p:nvSpPr>
          <p:cNvPr id="13" name="Arrow 270"/>
          <p:cNvSpPr/>
          <p:nvPr/>
        </p:nvSpPr>
        <p:spPr>
          <a:xfrm>
            <a:off x="2249139" y="3627338"/>
            <a:ext cx="0" cy="1497874"/>
          </a:xfrm>
          <a:prstGeom prst="line">
            <a:avLst/>
          </a:prstGeom>
          <a:noFill/>
          <a:ln w="15875">
            <a:solidFill>
              <a:schemeClr val="accent6"/>
            </a:solidFill>
            <a:prstDash val="dash"/>
          </a:ln>
        </p:spPr>
      </p:sp>
      <p:sp>
        <p:nvSpPr>
          <p:cNvPr id="14" name="Point 271"/>
          <p:cNvSpPr/>
          <p:nvPr/>
        </p:nvSpPr>
        <p:spPr>
          <a:xfrm>
            <a:off x="2175987" y="3554186"/>
            <a:ext cx="146304" cy="146304"/>
          </a:xfrm>
          <a:prstGeom prst="ellipse">
            <a:avLst/>
          </a:prstGeom>
          <a:solidFill>
            <a:schemeClr val="accent1"/>
          </a:solidFill>
          <a:ln w="19050">
            <a:solidFill>
              <a:schemeClr val="bg1"/>
            </a:solidFill>
            <a:prstDash val="solid"/>
          </a:ln>
        </p:spPr>
      </p:sp>
      <p:sp>
        <p:nvSpPr>
          <p:cNvPr id="15" name="Text 272"/>
          <p:cNvSpPr txBox="1"/>
          <p:nvPr/>
        </p:nvSpPr>
        <p:spPr>
          <a:xfrm>
            <a:off x="2358867" y="3517610"/>
            <a:ext cx="2926080" cy="256032"/>
          </a:xfrm>
          <a:prstGeom prst="rect">
            <a:avLst/>
          </a:prstGeom>
          <a:noFill/>
          <a:ln/>
        </p:spPr>
        <p:txBody>
          <a:bodyPr wrap="square" lIns="0" tIns="0" rIns="0" bIns="0" rtlCol="0" anchor="t"/>
          <a:lstStyle/>
          <a:p>
            <a:pPr indent="0" marL="0">
              <a:buNone/>
            </a:pPr>
            <a:r>
              <a:rPr lang="en-US" sz="1200" b="1" dirty="0">
                <a:solidFill>
                  <a:schemeClr val="accent1"/>
                </a:solidFill>
              </a:rPr>
              <a:t>3,465 updates: half weight (50%)</a:t>
            </a:r>
            <a:endParaRPr lang="en-US" sz="1200" dirty="0"/>
          </a:p>
        </p:txBody>
      </p:sp>
      <p:sp>
        <p:nvSpPr>
          <p:cNvPr id="16" name="Arrow 273"/>
          <p:cNvSpPr/>
          <p:nvPr/>
        </p:nvSpPr>
        <p:spPr>
          <a:xfrm>
            <a:off x="2889204" y="4023248"/>
            <a:ext cx="0" cy="1101964"/>
          </a:xfrm>
          <a:prstGeom prst="line">
            <a:avLst/>
          </a:prstGeom>
          <a:noFill/>
          <a:ln w="15875">
            <a:solidFill>
              <a:schemeClr val="accent6"/>
            </a:solidFill>
            <a:prstDash val="dash"/>
          </a:ln>
        </p:spPr>
      </p:sp>
      <p:sp>
        <p:nvSpPr>
          <p:cNvPr id="17" name="Point 274"/>
          <p:cNvSpPr/>
          <p:nvPr/>
        </p:nvSpPr>
        <p:spPr>
          <a:xfrm>
            <a:off x="2816052" y="3950096"/>
            <a:ext cx="146304" cy="146304"/>
          </a:xfrm>
          <a:prstGeom prst="ellipse">
            <a:avLst/>
          </a:prstGeom>
          <a:solidFill>
            <a:schemeClr val="accent1"/>
          </a:solidFill>
          <a:ln w="19050">
            <a:solidFill>
              <a:schemeClr val="bg1"/>
            </a:solidFill>
            <a:prstDash val="solid"/>
          </a:ln>
        </p:spPr>
      </p:sp>
      <p:sp>
        <p:nvSpPr>
          <p:cNvPr id="18" name="Text 275"/>
          <p:cNvSpPr txBox="1"/>
          <p:nvPr/>
        </p:nvSpPr>
        <p:spPr>
          <a:xfrm>
            <a:off x="2998932" y="3913520"/>
            <a:ext cx="2926080" cy="256032"/>
          </a:xfrm>
          <a:prstGeom prst="rect">
            <a:avLst/>
          </a:prstGeom>
          <a:noFill/>
          <a:ln/>
        </p:spPr>
        <p:txBody>
          <a:bodyPr wrap="square" lIns="0" tIns="0" rIns="0" bIns="0" rtlCol="0" anchor="t"/>
          <a:lstStyle/>
          <a:p>
            <a:pPr indent="0" marL="0">
              <a:buNone/>
            </a:pPr>
            <a:r>
              <a:rPr lang="en-US" sz="1200" b="1" dirty="0">
                <a:solidFill>
                  <a:schemeClr val="accent1"/>
                </a:solidFill>
              </a:rPr>
              <a:t>5,000 updates: about a third (37%)</a:t>
            </a:r>
            <a:endParaRPr lang="en-US" sz="1200" dirty="0"/>
          </a:p>
        </p:txBody>
      </p:sp>
      <p:sp>
        <p:nvSpPr>
          <p:cNvPr id="19" name="Step 276"/>
          <p:cNvSpPr txBox="1"/>
          <p:nvPr/>
        </p:nvSpPr>
        <p:spPr>
          <a:xfrm>
            <a:off x="7635240" y="178308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0" name="Text 277"/>
          <p:cNvSpPr txBox="1"/>
          <p:nvPr/>
        </p:nvSpPr>
        <p:spPr>
          <a:xfrm>
            <a:off x="8183880" y="1709928"/>
            <a:ext cx="3459175"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3,465</a:t>
            </a:r>
            <a:endParaRPr lang="en-US" sz="2400" dirty="0"/>
          </a:p>
        </p:txBody>
      </p:sp>
      <p:sp>
        <p:nvSpPr>
          <p:cNvPr id="21" name="Text 278"/>
          <p:cNvSpPr txBox="1"/>
          <p:nvPr/>
        </p:nvSpPr>
        <p:spPr>
          <a:xfrm>
            <a:off x="8183880" y="2194560"/>
            <a:ext cx="3459175" cy="685800"/>
          </a:xfrm>
          <a:prstGeom prst="rect">
            <a:avLst/>
          </a:prstGeom>
          <a:noFill/>
          <a:ln/>
        </p:spPr>
        <p:txBody>
          <a:bodyPr wrap="square" lIns="0" tIns="0" rIns="0" bIns="0" rtlCol="0" anchor="t"/>
          <a:lstStyle/>
          <a:p>
            <a:pPr indent="0" marL="0">
              <a:buNone/>
            </a:pPr>
            <a:r>
              <a:rPr lang="en-US" sz="1400" dirty="0">
                <a:solidFill>
                  <a:schemeClr val="tx1"/>
                </a:solidFill>
              </a:rPr>
              <a:t>later updates until one response counts half as much</a:t>
            </a:r>
            <a:endParaRPr lang="en-US" sz="1400" dirty="0"/>
          </a:p>
        </p:txBody>
      </p:sp>
      <p:sp>
        <p:nvSpPr>
          <p:cNvPr id="22" name="Step 279"/>
          <p:cNvSpPr txBox="1"/>
          <p:nvPr/>
        </p:nvSpPr>
        <p:spPr>
          <a:xfrm>
            <a:off x="7635240" y="299008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3" name="Text 280"/>
          <p:cNvSpPr txBox="1"/>
          <p:nvPr/>
        </p:nvSpPr>
        <p:spPr>
          <a:xfrm>
            <a:off x="8183880" y="2916936"/>
            <a:ext cx="3459175"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 5,000</a:t>
            </a:r>
            <a:endParaRPr lang="en-US" sz="2400" dirty="0"/>
          </a:p>
        </p:txBody>
      </p:sp>
      <p:sp>
        <p:nvSpPr>
          <p:cNvPr id="24" name="Text 281"/>
          <p:cNvSpPr txBox="1"/>
          <p:nvPr/>
        </p:nvSpPr>
        <p:spPr>
          <a:xfrm>
            <a:off x="8183880" y="3401568"/>
            <a:ext cx="3459175" cy="685800"/>
          </a:xfrm>
          <a:prstGeom prst="rect">
            <a:avLst/>
          </a:prstGeom>
          <a:noFill/>
          <a:ln/>
        </p:spPr>
        <p:txBody>
          <a:bodyPr wrap="square" lIns="0" tIns="0" rIns="0" bIns="0" rtlCol="0" anchor="t"/>
          <a:lstStyle/>
          <a:p>
            <a:pPr indent="0" marL="0">
              <a:buNone/>
            </a:pPr>
            <a:r>
              <a:rPr lang="en-US" sz="1400" dirty="0">
                <a:solidFill>
                  <a:schemeClr val="tx1"/>
                </a:solidFill>
              </a:rPr>
              <a:t>responses' worth of memory per segment: 1 ÷ (1 − 0.9998)</a:t>
            </a:r>
            <a:endParaRPr lang="en-US" sz="1400" dirty="0"/>
          </a:p>
        </p:txBody>
      </p:sp>
      <p:sp>
        <p:nvSpPr>
          <p:cNvPr id="25" name="Step 282"/>
          <p:cNvSpPr txBox="1"/>
          <p:nvPr/>
        </p:nvSpPr>
        <p:spPr>
          <a:xfrm>
            <a:off x="7635240" y="4197096"/>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6" name="Text 283"/>
          <p:cNvSpPr txBox="1"/>
          <p:nvPr/>
        </p:nvSpPr>
        <p:spPr>
          <a:xfrm>
            <a:off x="8183880" y="4123944"/>
            <a:ext cx="3459175"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1,460 vs 5,601</a:t>
            </a:r>
            <a:endParaRPr lang="en-US" sz="2400" dirty="0"/>
          </a:p>
        </p:txBody>
      </p:sp>
      <p:sp>
        <p:nvSpPr>
          <p:cNvPr id="27" name="Text 284"/>
          <p:cNvSpPr txBox="1"/>
          <p:nvPr/>
        </p:nvSpPr>
        <p:spPr>
          <a:xfrm>
            <a:off x="8183880" y="4608576"/>
            <a:ext cx="3459175" cy="685800"/>
          </a:xfrm>
          <a:prstGeom prst="rect">
            <a:avLst/>
          </a:prstGeom>
          <a:noFill/>
          <a:ln/>
        </p:spPr>
        <p:txBody>
          <a:bodyPr wrap="square" lIns="0" tIns="0" rIns="0" bIns="0" rtlCol="0" anchor="t"/>
          <a:lstStyle/>
          <a:p>
            <a:pPr indent="0" marL="0">
              <a:buNone/>
            </a:pPr>
            <a:r>
              <a:rPr lang="en-US" sz="1400" dirty="0">
                <a:solidFill>
                  <a:schemeClr val="tx1"/>
                </a:solidFill>
              </a:rPr>
              <a:t>app opens to find young professionals' new favourite: with forgetting, and without</a:t>
            </a:r>
            <a:endParaRPr lang="en-US" sz="1400" dirty="0"/>
          </a:p>
        </p:txBody>
      </p:sp>
      <p:sp>
        <p:nvSpPr>
          <p:cNvPr id="28" name="Card 285"/>
          <p:cNvSpPr/>
          <p:nvPr/>
        </p:nvSpPr>
        <p:spPr>
          <a:xfrm>
            <a:off x="7635240" y="5349240"/>
            <a:ext cx="4007815" cy="868680"/>
          </a:xfrm>
          <a:prstGeom prst="roundRect">
            <a:avLst>
              <a:gd name="adj" fmla="val 8421"/>
            </a:avLst>
          </a:prstGeom>
          <a:solidFill>
            <a:schemeClr val="bg2"/>
          </a:solidFill>
          <a:ln/>
        </p:spPr>
      </p:sp>
      <p:sp>
        <p:nvSpPr>
          <p:cNvPr id="29" name="Text 286"/>
          <p:cNvSpPr txBox="1"/>
          <p:nvPr/>
        </p:nvSpPr>
        <p:spPr>
          <a:xfrm>
            <a:off x="7818120" y="5422392"/>
            <a:ext cx="3642055" cy="749808"/>
          </a:xfrm>
          <a:prstGeom prst="rect">
            <a:avLst/>
          </a:prstGeom>
          <a:noFill/>
          <a:ln/>
        </p:spPr>
        <p:txBody>
          <a:bodyPr wrap="square" lIns="0" tIns="0" rIns="0" bIns="0" rtlCol="0" anchor="t"/>
          <a:lstStyle/>
          <a:p>
            <a:pPr indent="0" marL="0">
              <a:buNone/>
            </a:pPr>
            <a:r>
              <a:rPr lang="en-US" sz="1300" b="1" dirty="0">
                <a:solidFill>
                  <a:schemeClr val="tx1"/>
                </a:solidFill>
              </a:rPr>
              <a:t>Why fade every offer, not just the one shown? </a:t>
            </a:r>
            <a:pPr indent="0" marL="0">
              <a:buNone/>
            </a:pPr>
            <a:r>
              <a:rPr lang="en-US" sz="1300" dirty="0">
                <a:solidFill>
                  <a:schemeClr val="tx1"/>
                </a:solidFill>
              </a:rPr>
              <a:t>An offer that stops being shown would otherwise keep an old, confident belief forever.</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PUTTING IT TOGETHER</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One real app open, end to end</a:t>
            </a:r>
            <a:endParaRPr lang="en-US" sz="3600" dirty="0"/>
          </a:p>
        </p:txBody>
      </p:sp>
      <p:sp>
        <p:nvSpPr>
          <p:cNvPr id="4" name="Card 287"/>
          <p:cNvSpPr/>
          <p:nvPr/>
        </p:nvSpPr>
        <p:spPr>
          <a:xfrm>
            <a:off x="548640" y="1645920"/>
            <a:ext cx="11094415" cy="530352"/>
          </a:xfrm>
          <a:prstGeom prst="roundRect">
            <a:avLst>
              <a:gd name="adj" fmla="val 13793"/>
            </a:avLst>
          </a:prstGeom>
          <a:solidFill>
            <a:schemeClr val="bg1"/>
          </a:solidFill>
          <a:ln w="9525">
            <a:solidFill>
              <a:srgbClr val="D7E0E5"/>
            </a:solidFill>
            <a:prstDash val="solid"/>
          </a:ln>
        </p:spPr>
      </p:sp>
      <p:sp>
        <p:nvSpPr>
          <p:cNvPr id="5" name="Step 288"/>
          <p:cNvSpPr txBox="1"/>
          <p:nvPr/>
        </p:nvSpPr>
        <p:spPr>
          <a:xfrm>
            <a:off x="685800" y="173736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289"/>
          <p:cNvSpPr txBox="1"/>
          <p:nvPr/>
        </p:nvSpPr>
        <p:spPr>
          <a:xfrm>
            <a:off x="1188720" y="1764792"/>
            <a:ext cx="2377440" cy="310896"/>
          </a:xfrm>
          <a:prstGeom prst="rect">
            <a:avLst/>
          </a:prstGeom>
          <a:noFill/>
          <a:ln/>
        </p:spPr>
        <p:txBody>
          <a:bodyPr wrap="square" lIns="0" tIns="0" rIns="0" bIns="0" rtlCol="0" anchor="t"/>
          <a:lstStyle/>
          <a:p>
            <a:pPr indent="0" marL="0">
              <a:buNone/>
            </a:pPr>
            <a:r>
              <a:rPr lang="en-US" sz="1600" b="1" dirty="0">
                <a:solidFill>
                  <a:schemeClr val="tx1"/>
                </a:solidFill>
              </a:rPr>
              <a:t>Opens the app</a:t>
            </a:r>
            <a:endParaRPr lang="en-US" sz="1600" dirty="0"/>
          </a:p>
        </p:txBody>
      </p:sp>
      <p:sp>
        <p:nvSpPr>
          <p:cNvPr id="7" name="Text 290"/>
          <p:cNvSpPr txBox="1"/>
          <p:nvPr/>
        </p:nvSpPr>
        <p:spPr>
          <a:xfrm>
            <a:off x="3657600" y="1764792"/>
            <a:ext cx="7802575" cy="310896"/>
          </a:xfrm>
          <a:prstGeom prst="rect">
            <a:avLst/>
          </a:prstGeom>
          <a:noFill/>
          <a:ln/>
        </p:spPr>
        <p:txBody>
          <a:bodyPr wrap="square" lIns="0" tIns="0" rIns="0" bIns="0" rtlCol="0" anchor="t"/>
          <a:lstStyle/>
          <a:p>
            <a:pPr indent="0" marL="0">
              <a:buNone/>
            </a:pPr>
            <a:r>
              <a:rPr lang="en-US" sz="1500" dirty="0">
                <a:solidFill>
                  <a:schemeClr val="tx1"/>
                </a:solidFill>
              </a:rPr>
              <a:t>C00042 sends POST /invocations</a:t>
            </a:r>
            <a:endParaRPr lang="en-US" sz="1500" dirty="0"/>
          </a:p>
        </p:txBody>
      </p:sp>
      <p:sp>
        <p:nvSpPr>
          <p:cNvPr id="8" name="Card 291"/>
          <p:cNvSpPr/>
          <p:nvPr/>
        </p:nvSpPr>
        <p:spPr>
          <a:xfrm>
            <a:off x="548640" y="2276856"/>
            <a:ext cx="11094415" cy="530352"/>
          </a:xfrm>
          <a:prstGeom prst="roundRect">
            <a:avLst>
              <a:gd name="adj" fmla="val 13793"/>
            </a:avLst>
          </a:prstGeom>
          <a:solidFill>
            <a:schemeClr val="bg1"/>
          </a:solidFill>
          <a:ln w="9525">
            <a:solidFill>
              <a:srgbClr val="D7E0E5"/>
            </a:solidFill>
            <a:prstDash val="solid"/>
          </a:ln>
        </p:spPr>
      </p:sp>
      <p:sp>
        <p:nvSpPr>
          <p:cNvPr id="9" name="Step 292"/>
          <p:cNvSpPr txBox="1"/>
          <p:nvPr/>
        </p:nvSpPr>
        <p:spPr>
          <a:xfrm>
            <a:off x="685800" y="2368296"/>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293"/>
          <p:cNvSpPr txBox="1"/>
          <p:nvPr/>
        </p:nvSpPr>
        <p:spPr>
          <a:xfrm>
            <a:off x="1188720" y="2395728"/>
            <a:ext cx="2377440" cy="310896"/>
          </a:xfrm>
          <a:prstGeom prst="rect">
            <a:avLst/>
          </a:prstGeom>
          <a:noFill/>
          <a:ln/>
        </p:spPr>
        <p:txBody>
          <a:bodyPr wrap="square" lIns="0" tIns="0" rIns="0" bIns="0" rtlCol="0" anchor="t"/>
          <a:lstStyle/>
          <a:p>
            <a:pPr indent="0" marL="0">
              <a:buNone/>
            </a:pPr>
            <a:r>
              <a:rPr lang="en-US" sz="1600" b="1" dirty="0">
                <a:solidFill>
                  <a:schemeClr val="tx1"/>
                </a:solidFill>
              </a:rPr>
              <a:t>Build the moment</a:t>
            </a:r>
            <a:endParaRPr lang="en-US" sz="1600" dirty="0"/>
          </a:p>
        </p:txBody>
      </p:sp>
      <p:sp>
        <p:nvSpPr>
          <p:cNvPr id="11" name="Text 294"/>
          <p:cNvSpPr txBox="1"/>
          <p:nvPr/>
        </p:nvSpPr>
        <p:spPr>
          <a:xfrm>
            <a:off x="3657600" y="2395728"/>
            <a:ext cx="7802575" cy="310896"/>
          </a:xfrm>
          <a:prstGeom prst="rect">
            <a:avLst/>
          </a:prstGeom>
          <a:noFill/>
          <a:ln/>
        </p:spPr>
        <p:txBody>
          <a:bodyPr wrap="square" lIns="0" tIns="0" rIns="0" bIns="0" rtlCol="0" anchor="t"/>
          <a:lstStyle/>
          <a:p>
            <a:pPr indent="0" marL="0">
              <a:buNone/>
            </a:pPr>
            <a:r>
              <a:rPr lang="en-US" sz="1500" dirty="0">
                <a:solidFill>
                  <a:schemeClr val="tx1"/>
                </a:solidFill>
              </a:rPr>
              <a:t>small business · Wednesday evening · not payday week · 10 eligible offers</a:t>
            </a:r>
            <a:endParaRPr lang="en-US" sz="1500" dirty="0"/>
          </a:p>
        </p:txBody>
      </p:sp>
      <p:sp>
        <p:nvSpPr>
          <p:cNvPr id="12" name="Card 295"/>
          <p:cNvSpPr/>
          <p:nvPr/>
        </p:nvSpPr>
        <p:spPr>
          <a:xfrm>
            <a:off x="548640" y="2907792"/>
            <a:ext cx="11094415" cy="530352"/>
          </a:xfrm>
          <a:prstGeom prst="roundRect">
            <a:avLst>
              <a:gd name="adj" fmla="val 13793"/>
            </a:avLst>
          </a:prstGeom>
          <a:solidFill>
            <a:schemeClr val="bg2"/>
          </a:solidFill>
          <a:ln/>
        </p:spPr>
      </p:sp>
      <p:sp>
        <p:nvSpPr>
          <p:cNvPr id="13" name="Step 296"/>
          <p:cNvSpPr txBox="1"/>
          <p:nvPr/>
        </p:nvSpPr>
        <p:spPr>
          <a:xfrm>
            <a:off x="685800" y="2999232"/>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297"/>
          <p:cNvSpPr txBox="1"/>
          <p:nvPr/>
        </p:nvSpPr>
        <p:spPr>
          <a:xfrm>
            <a:off x="1188720" y="3026664"/>
            <a:ext cx="2377440" cy="310896"/>
          </a:xfrm>
          <a:prstGeom prst="rect">
            <a:avLst/>
          </a:prstGeom>
          <a:noFill/>
          <a:ln/>
        </p:spPr>
        <p:txBody>
          <a:bodyPr wrap="square" lIns="0" tIns="0" rIns="0" bIns="0" rtlCol="0" anchor="t"/>
          <a:lstStyle/>
          <a:p>
            <a:pPr indent="0" marL="0">
              <a:buNone/>
            </a:pPr>
            <a:r>
              <a:rPr lang="en-US" sz="1600" b="1" dirty="0">
                <a:solidFill>
                  <a:schemeClr val="tx1"/>
                </a:solidFill>
              </a:rPr>
              <a:t>Rank by drawing</a:t>
            </a:r>
            <a:endParaRPr lang="en-US" sz="1600" dirty="0"/>
          </a:p>
        </p:txBody>
      </p:sp>
      <p:sp>
        <p:nvSpPr>
          <p:cNvPr id="15" name="Text 298"/>
          <p:cNvSpPr txBox="1"/>
          <p:nvPr/>
        </p:nvSpPr>
        <p:spPr>
          <a:xfrm>
            <a:off x="3657600" y="3026664"/>
            <a:ext cx="7802575" cy="310896"/>
          </a:xfrm>
          <a:prstGeom prst="rect">
            <a:avLst/>
          </a:prstGeom>
          <a:noFill/>
          <a:ln/>
        </p:spPr>
        <p:txBody>
          <a:bodyPr wrap="square" lIns="0" tIns="0" rIns="0" bIns="0" rtlCol="0" anchor="t"/>
          <a:lstStyle/>
          <a:p>
            <a:pPr indent="0" marL="0">
              <a:buNone/>
            </a:pPr>
            <a:r>
              <a:rPr lang="en-US" sz="1500" dirty="0">
                <a:solidFill>
                  <a:schemeClr val="tx1"/>
                </a:solidFill>
              </a:rPr>
              <a:t>draws: pay-later 22.7%, 20GB data 18.3%, smartphone insurance 12.6%</a:t>
            </a:r>
            <a:endParaRPr lang="en-US" sz="1500" dirty="0"/>
          </a:p>
        </p:txBody>
      </p:sp>
      <p:sp>
        <p:nvSpPr>
          <p:cNvPr id="16" name="Card 299"/>
          <p:cNvSpPr/>
          <p:nvPr/>
        </p:nvSpPr>
        <p:spPr>
          <a:xfrm>
            <a:off x="548640" y="3538728"/>
            <a:ext cx="11094415" cy="530352"/>
          </a:xfrm>
          <a:prstGeom prst="roundRect">
            <a:avLst>
              <a:gd name="adj" fmla="val 13793"/>
            </a:avLst>
          </a:prstGeom>
          <a:solidFill>
            <a:schemeClr val="bg1"/>
          </a:solidFill>
          <a:ln w="9525">
            <a:solidFill>
              <a:srgbClr val="D7E0E5"/>
            </a:solidFill>
            <a:prstDash val="solid"/>
          </a:ln>
        </p:spPr>
      </p:sp>
      <p:sp>
        <p:nvSpPr>
          <p:cNvPr id="17" name="Step 300"/>
          <p:cNvSpPr txBox="1"/>
          <p:nvPr/>
        </p:nvSpPr>
        <p:spPr>
          <a:xfrm>
            <a:off x="685800" y="3630168"/>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301"/>
          <p:cNvSpPr txBox="1"/>
          <p:nvPr/>
        </p:nvSpPr>
        <p:spPr>
          <a:xfrm>
            <a:off x="1188720" y="3657600"/>
            <a:ext cx="2377440" cy="310896"/>
          </a:xfrm>
          <a:prstGeom prst="rect">
            <a:avLst/>
          </a:prstGeom>
          <a:noFill/>
          <a:ln/>
        </p:spPr>
        <p:txBody>
          <a:bodyPr wrap="square" lIns="0" tIns="0" rIns="0" bIns="0" rtlCol="0" anchor="t"/>
          <a:lstStyle/>
          <a:p>
            <a:pPr indent="0" marL="0">
              <a:buNone/>
            </a:pPr>
            <a:r>
              <a:rPr lang="en-US" sz="1600" b="1" dirty="0">
                <a:solidFill>
                  <a:schemeClr val="tx1"/>
                </a:solidFill>
              </a:rPr>
              <a:t>Log, then reply</a:t>
            </a:r>
            <a:endParaRPr lang="en-US" sz="1600" dirty="0"/>
          </a:p>
        </p:txBody>
      </p:sp>
      <p:sp>
        <p:nvSpPr>
          <p:cNvPr id="19" name="Text 302"/>
          <p:cNvSpPr txBox="1"/>
          <p:nvPr/>
        </p:nvSpPr>
        <p:spPr>
          <a:xfrm>
            <a:off x="3657600" y="3657600"/>
            <a:ext cx="7802575" cy="310896"/>
          </a:xfrm>
          <a:prstGeom prst="rect">
            <a:avLst/>
          </a:prstGeom>
          <a:noFill/>
          <a:ln/>
        </p:spPr>
        <p:txBody>
          <a:bodyPr wrap="square" lIns="0" tIns="0" rIns="0" bIns="0" rtlCol="0" anchor="t"/>
          <a:lstStyle/>
          <a:p>
            <a:pPr indent="0" marL="0">
              <a:buNone/>
            </a:pPr>
            <a:r>
              <a:rPr lang="en-US" sz="1500" dirty="0">
                <a:solidFill>
                  <a:schemeClr val="tx1"/>
                </a:solidFill>
              </a:rPr>
              <a:t>1 invocation and 3 impressions written; ticket 37b1a492…</a:t>
            </a:r>
            <a:endParaRPr lang="en-US" sz="1500" dirty="0"/>
          </a:p>
        </p:txBody>
      </p:sp>
      <p:sp>
        <p:nvSpPr>
          <p:cNvPr id="20" name="Card 303"/>
          <p:cNvSpPr/>
          <p:nvPr/>
        </p:nvSpPr>
        <p:spPr>
          <a:xfrm>
            <a:off x="548640" y="4169664"/>
            <a:ext cx="11094415" cy="530352"/>
          </a:xfrm>
          <a:prstGeom prst="roundRect">
            <a:avLst>
              <a:gd name="adj" fmla="val 13793"/>
            </a:avLst>
          </a:prstGeom>
          <a:solidFill>
            <a:schemeClr val="bg1"/>
          </a:solidFill>
          <a:ln w="9525">
            <a:solidFill>
              <a:srgbClr val="D7E0E5"/>
            </a:solidFill>
            <a:prstDash val="solid"/>
          </a:ln>
        </p:spPr>
      </p:sp>
      <p:sp>
        <p:nvSpPr>
          <p:cNvPr id="21" name="Step 304"/>
          <p:cNvSpPr txBox="1"/>
          <p:nvPr/>
        </p:nvSpPr>
        <p:spPr>
          <a:xfrm>
            <a:off x="685800" y="4261104"/>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2" name="Text 305"/>
          <p:cNvSpPr txBox="1"/>
          <p:nvPr/>
        </p:nvSpPr>
        <p:spPr>
          <a:xfrm>
            <a:off x="1188720" y="4288536"/>
            <a:ext cx="2377440" cy="310896"/>
          </a:xfrm>
          <a:prstGeom prst="rect">
            <a:avLst/>
          </a:prstGeom>
          <a:noFill/>
          <a:ln/>
        </p:spPr>
        <p:txBody>
          <a:bodyPr wrap="square" lIns="0" tIns="0" rIns="0" bIns="0" rtlCol="0" anchor="t"/>
          <a:lstStyle/>
          <a:p>
            <a:pPr indent="0" marL="0">
              <a:buNone/>
            </a:pPr>
            <a:r>
              <a:rPr lang="en-US" sz="1600" b="1" dirty="0">
                <a:solidFill>
                  <a:schemeClr val="tx1"/>
                </a:solidFill>
              </a:rPr>
              <a:t>Responds</a:t>
            </a:r>
            <a:endParaRPr lang="en-US" sz="1600" dirty="0"/>
          </a:p>
        </p:txBody>
      </p:sp>
      <p:sp>
        <p:nvSpPr>
          <p:cNvPr id="23" name="Text 306"/>
          <p:cNvSpPr txBox="1"/>
          <p:nvPr/>
        </p:nvSpPr>
        <p:spPr>
          <a:xfrm>
            <a:off x="3657600" y="4288536"/>
            <a:ext cx="7802575" cy="310896"/>
          </a:xfrm>
          <a:prstGeom prst="rect">
            <a:avLst/>
          </a:prstGeom>
          <a:noFill/>
          <a:ln/>
        </p:spPr>
        <p:txBody>
          <a:bodyPr wrap="square" lIns="0" tIns="0" rIns="0" bIns="0" rtlCol="0" anchor="t"/>
          <a:lstStyle/>
          <a:p>
            <a:pPr indent="0" marL="0">
              <a:buNone/>
            </a:pPr>
            <a:r>
              <a:rPr lang="en-US" sz="1500" dirty="0">
                <a:solidFill>
                  <a:schemeClr val="tx1"/>
                </a:solidFill>
              </a:rPr>
              <a:t>takes up the pay-later voucher, in the first position</a:t>
            </a:r>
            <a:endParaRPr lang="en-US" sz="1500" dirty="0"/>
          </a:p>
        </p:txBody>
      </p:sp>
      <p:sp>
        <p:nvSpPr>
          <p:cNvPr id="24" name="Card 307"/>
          <p:cNvSpPr/>
          <p:nvPr/>
        </p:nvSpPr>
        <p:spPr>
          <a:xfrm>
            <a:off x="548640" y="4800600"/>
            <a:ext cx="11094415" cy="530352"/>
          </a:xfrm>
          <a:prstGeom prst="roundRect">
            <a:avLst>
              <a:gd name="adj" fmla="val 13793"/>
            </a:avLst>
          </a:prstGeom>
          <a:solidFill>
            <a:schemeClr val="bg1"/>
          </a:solidFill>
          <a:ln w="9525">
            <a:solidFill>
              <a:srgbClr val="D7E0E5"/>
            </a:solidFill>
            <a:prstDash val="solid"/>
          </a:ln>
        </p:spPr>
      </p:sp>
      <p:sp>
        <p:nvSpPr>
          <p:cNvPr id="25" name="Step 308"/>
          <p:cNvSpPr txBox="1"/>
          <p:nvPr/>
        </p:nvSpPr>
        <p:spPr>
          <a:xfrm>
            <a:off x="685800" y="4892040"/>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6" name="Text 309"/>
          <p:cNvSpPr txBox="1"/>
          <p:nvPr/>
        </p:nvSpPr>
        <p:spPr>
          <a:xfrm>
            <a:off x="1188720" y="4919472"/>
            <a:ext cx="2377440" cy="310896"/>
          </a:xfrm>
          <a:prstGeom prst="rect">
            <a:avLst/>
          </a:prstGeom>
          <a:noFill/>
          <a:ln/>
        </p:spPr>
        <p:txBody>
          <a:bodyPr wrap="square" lIns="0" tIns="0" rIns="0" bIns="0" rtlCol="0" anchor="t"/>
          <a:lstStyle/>
          <a:p>
            <a:pPr indent="0" marL="0">
              <a:buNone/>
            </a:pPr>
            <a:r>
              <a:rPr lang="en-US" sz="1600" b="1" dirty="0">
                <a:solidFill>
                  <a:schemeClr val="tx1"/>
                </a:solidFill>
              </a:rPr>
              <a:t>Score, log once</a:t>
            </a:r>
            <a:endParaRPr lang="en-US" sz="1600" dirty="0"/>
          </a:p>
        </p:txBody>
      </p:sp>
      <p:sp>
        <p:nvSpPr>
          <p:cNvPr id="27" name="Text 310"/>
          <p:cNvSpPr txBox="1"/>
          <p:nvPr/>
        </p:nvSpPr>
        <p:spPr>
          <a:xfrm>
            <a:off x="3657600" y="4919472"/>
            <a:ext cx="7802575" cy="310896"/>
          </a:xfrm>
          <a:prstGeom prst="rect">
            <a:avLst/>
          </a:prstGeom>
          <a:noFill/>
          <a:ln/>
        </p:spPr>
        <p:txBody>
          <a:bodyPr wrap="square" lIns="0" tIns="0" rIns="0" bIns="0" rtlCol="0" anchor="t"/>
          <a:lstStyle/>
          <a:p>
            <a:pPr indent="0" marL="0">
              <a:buNone/>
            </a:pPr>
            <a:r>
              <a:rPr lang="en-US" sz="1500" dirty="0">
                <a:solidFill>
                  <a:schemeClr val="tx1"/>
                </a:solidFill>
              </a:rPr>
              <a:t>checked, reward 1, recorded once; a repeat was refused with 409</a:t>
            </a:r>
            <a:endParaRPr lang="en-US" sz="1500" dirty="0"/>
          </a:p>
        </p:txBody>
      </p:sp>
      <p:sp>
        <p:nvSpPr>
          <p:cNvPr id="28" name="Card 311"/>
          <p:cNvSpPr/>
          <p:nvPr/>
        </p:nvSpPr>
        <p:spPr>
          <a:xfrm>
            <a:off x="548640" y="5431536"/>
            <a:ext cx="11094415" cy="530352"/>
          </a:xfrm>
          <a:prstGeom prst="roundRect">
            <a:avLst>
              <a:gd name="adj" fmla="val 13793"/>
            </a:avLst>
          </a:prstGeom>
          <a:solidFill>
            <a:schemeClr val="bg2"/>
          </a:solidFill>
          <a:ln/>
        </p:spPr>
      </p:sp>
      <p:sp>
        <p:nvSpPr>
          <p:cNvPr id="29" name="Step 312"/>
          <p:cNvSpPr txBox="1"/>
          <p:nvPr/>
        </p:nvSpPr>
        <p:spPr>
          <a:xfrm>
            <a:off x="685800" y="5522976"/>
            <a:ext cx="347472" cy="34747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0" name="Text 313"/>
          <p:cNvSpPr txBox="1"/>
          <p:nvPr/>
        </p:nvSpPr>
        <p:spPr>
          <a:xfrm>
            <a:off x="1188720" y="5550408"/>
            <a:ext cx="2377440" cy="310896"/>
          </a:xfrm>
          <a:prstGeom prst="rect">
            <a:avLst/>
          </a:prstGeom>
          <a:noFill/>
          <a:ln/>
        </p:spPr>
        <p:txBody>
          <a:bodyPr wrap="square" lIns="0" tIns="0" rIns="0" bIns="0" rtlCol="0" anchor="t"/>
          <a:lstStyle/>
          <a:p>
            <a:pPr indent="0" marL="0">
              <a:buNone/>
            </a:pPr>
            <a:r>
              <a:rPr lang="en-US" sz="1600" b="1" dirty="0">
                <a:solidFill>
                  <a:schemeClr val="tx1"/>
                </a:solidFill>
              </a:rPr>
              <a:t>Learn and forget</a:t>
            </a:r>
            <a:endParaRPr lang="en-US" sz="1600" dirty="0"/>
          </a:p>
        </p:txBody>
      </p:sp>
      <p:sp>
        <p:nvSpPr>
          <p:cNvPr id="31" name="Text 314"/>
          <p:cNvSpPr txBox="1"/>
          <p:nvPr/>
        </p:nvSpPr>
        <p:spPr>
          <a:xfrm>
            <a:off x="3657600" y="5550408"/>
            <a:ext cx="7802575" cy="310896"/>
          </a:xfrm>
          <a:prstGeom prst="rect">
            <a:avLst/>
          </a:prstGeom>
          <a:noFill/>
          <a:ln/>
        </p:spPr>
        <p:txBody>
          <a:bodyPr wrap="square" lIns="0" tIns="0" rIns="0" bIns="0" rtlCol="0" anchor="t"/>
          <a:lstStyle/>
          <a:p>
            <a:pPr indent="0" marL="0">
              <a:buNone/>
            </a:pPr>
            <a:r>
              <a:rPr lang="en-US" sz="1500" dirty="0">
                <a:solidFill>
                  <a:schemeClr val="tx1"/>
                </a:solidFill>
              </a:rPr>
              <a:t>pay-later α 220.386 → 221.342; every other small-business belief faded by 0.02%</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PUTTING IT TOGETHER</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Thousands of loops turn a guess into knowledge</a:t>
            </a:r>
            <a:endParaRPr lang="en-US" sz="3600" dirty="0"/>
          </a:p>
        </p:txBody>
      </p:sp>
      <p:sp>
        <p:nvSpPr>
          <p:cNvPr id="4" name="Text 315"/>
          <p:cNvSpPr txBox="1"/>
          <p:nvPr/>
        </p:nvSpPr>
        <p:spPr>
          <a:xfrm>
            <a:off x="548640" y="1481328"/>
            <a:ext cx="11094415" cy="274320"/>
          </a:xfrm>
          <a:prstGeom prst="rect">
            <a:avLst/>
          </a:prstGeom>
          <a:noFill/>
          <a:ln/>
        </p:spPr>
        <p:txBody>
          <a:bodyPr wrap="square" lIns="0" tIns="0" rIns="0" bIns="0" rtlCol="0" anchor="t"/>
          <a:lstStyle/>
          <a:p>
            <a:pPr indent="0" marL="0">
              <a:buNone/>
            </a:pPr>
            <a:r>
              <a:rPr lang="en-US" sz="1300" dirty="0">
                <a:solidFill>
                  <a:schemeClr val="tx2"/>
                </a:solidFill>
              </a:rPr>
              <a:t>The range each small-business belief covers (90% of its weight), as app opens add up (first of the 10 published runs)</a:t>
            </a:r>
            <a:endParaRPr lang="en-US" sz="1300" dirty="0"/>
          </a:p>
        </p:txBody>
      </p:sp>
      <p:sp>
        <p:nvSpPr>
          <p:cNvPr id="5" name="Arrow 316"/>
          <p:cNvSpPr/>
          <p:nvPr/>
        </p:nvSpPr>
        <p:spPr>
          <a:xfrm>
            <a:off x="2377440" y="1965960"/>
            <a:ext cx="0" cy="3584448"/>
          </a:xfrm>
          <a:prstGeom prst="line">
            <a:avLst/>
          </a:prstGeom>
          <a:noFill/>
          <a:ln w="9525">
            <a:solidFill>
              <a:schemeClr val="accent3"/>
            </a:solidFill>
            <a:prstDash val="dot"/>
          </a:ln>
        </p:spPr>
      </p:sp>
      <p:sp>
        <p:nvSpPr>
          <p:cNvPr id="6" name="Text 317"/>
          <p:cNvSpPr txBox="1"/>
          <p:nvPr/>
        </p:nvSpPr>
        <p:spPr>
          <a:xfrm>
            <a:off x="2103120" y="5596128"/>
            <a:ext cx="548640" cy="237744"/>
          </a:xfrm>
          <a:prstGeom prst="rect">
            <a:avLst/>
          </a:prstGeom>
          <a:noFill/>
          <a:ln/>
        </p:spPr>
        <p:txBody>
          <a:bodyPr wrap="square" lIns="0" tIns="0" rIns="0" bIns="0" rtlCol="0" anchor="t"/>
          <a:lstStyle/>
          <a:p>
            <a:pPr algn="ctr" indent="0" marL="0">
              <a:buNone/>
            </a:pPr>
            <a:r>
              <a:rPr lang="en-US" sz="1200" dirty="0">
                <a:solidFill>
                  <a:schemeClr val="tx2"/>
                </a:solidFill>
              </a:rPr>
              <a:t>0%</a:t>
            </a:r>
            <a:endParaRPr lang="en-US" sz="1200" dirty="0"/>
          </a:p>
        </p:txBody>
      </p:sp>
      <p:sp>
        <p:nvSpPr>
          <p:cNvPr id="7" name="Arrow 318"/>
          <p:cNvSpPr/>
          <p:nvPr/>
        </p:nvSpPr>
        <p:spPr>
          <a:xfrm>
            <a:off x="4373880" y="1965960"/>
            <a:ext cx="0" cy="3584448"/>
          </a:xfrm>
          <a:prstGeom prst="line">
            <a:avLst/>
          </a:prstGeom>
          <a:noFill/>
          <a:ln w="9525">
            <a:solidFill>
              <a:schemeClr val="accent3"/>
            </a:solidFill>
            <a:prstDash val="dot"/>
          </a:ln>
        </p:spPr>
      </p:sp>
      <p:sp>
        <p:nvSpPr>
          <p:cNvPr id="8" name="Text 319"/>
          <p:cNvSpPr txBox="1"/>
          <p:nvPr/>
        </p:nvSpPr>
        <p:spPr>
          <a:xfrm>
            <a:off x="4099560" y="5596128"/>
            <a:ext cx="548640" cy="237744"/>
          </a:xfrm>
          <a:prstGeom prst="rect">
            <a:avLst/>
          </a:prstGeom>
          <a:noFill/>
          <a:ln/>
        </p:spPr>
        <p:txBody>
          <a:bodyPr wrap="square" lIns="0" tIns="0" rIns="0" bIns="0" rtlCol="0" anchor="t"/>
          <a:lstStyle/>
          <a:p>
            <a:pPr algn="ctr" indent="0" marL="0">
              <a:buNone/>
            </a:pPr>
            <a:r>
              <a:rPr lang="en-US" sz="1200" dirty="0">
                <a:solidFill>
                  <a:schemeClr val="tx2"/>
                </a:solidFill>
              </a:rPr>
              <a:t>10%</a:t>
            </a:r>
            <a:endParaRPr lang="en-US" sz="1200" dirty="0"/>
          </a:p>
        </p:txBody>
      </p:sp>
      <p:sp>
        <p:nvSpPr>
          <p:cNvPr id="9" name="Arrow 320"/>
          <p:cNvSpPr/>
          <p:nvPr/>
        </p:nvSpPr>
        <p:spPr>
          <a:xfrm>
            <a:off x="6370320" y="1965960"/>
            <a:ext cx="0" cy="3584448"/>
          </a:xfrm>
          <a:prstGeom prst="line">
            <a:avLst/>
          </a:prstGeom>
          <a:noFill/>
          <a:ln w="9525">
            <a:solidFill>
              <a:schemeClr val="accent3"/>
            </a:solidFill>
            <a:prstDash val="dot"/>
          </a:ln>
        </p:spPr>
      </p:sp>
      <p:sp>
        <p:nvSpPr>
          <p:cNvPr id="10" name="Text 321"/>
          <p:cNvSpPr txBox="1"/>
          <p:nvPr/>
        </p:nvSpPr>
        <p:spPr>
          <a:xfrm>
            <a:off x="6096000" y="5596128"/>
            <a:ext cx="548640" cy="237744"/>
          </a:xfrm>
          <a:prstGeom prst="rect">
            <a:avLst/>
          </a:prstGeom>
          <a:noFill/>
          <a:ln/>
        </p:spPr>
        <p:txBody>
          <a:bodyPr wrap="square" lIns="0" tIns="0" rIns="0" bIns="0" rtlCol="0" anchor="t"/>
          <a:lstStyle/>
          <a:p>
            <a:pPr algn="ctr" indent="0" marL="0">
              <a:buNone/>
            </a:pPr>
            <a:r>
              <a:rPr lang="en-US" sz="1200" dirty="0">
                <a:solidFill>
                  <a:schemeClr val="tx2"/>
                </a:solidFill>
              </a:rPr>
              <a:t>20%</a:t>
            </a:r>
            <a:endParaRPr lang="en-US" sz="1200" dirty="0"/>
          </a:p>
        </p:txBody>
      </p:sp>
      <p:sp>
        <p:nvSpPr>
          <p:cNvPr id="11" name="Arrow 322"/>
          <p:cNvSpPr/>
          <p:nvPr/>
        </p:nvSpPr>
        <p:spPr>
          <a:xfrm>
            <a:off x="8366760" y="1965960"/>
            <a:ext cx="0" cy="3584448"/>
          </a:xfrm>
          <a:prstGeom prst="line">
            <a:avLst/>
          </a:prstGeom>
          <a:noFill/>
          <a:ln w="9525">
            <a:solidFill>
              <a:schemeClr val="accent3"/>
            </a:solidFill>
            <a:prstDash val="dot"/>
          </a:ln>
        </p:spPr>
      </p:sp>
      <p:sp>
        <p:nvSpPr>
          <p:cNvPr id="12" name="Text 323"/>
          <p:cNvSpPr txBox="1"/>
          <p:nvPr/>
        </p:nvSpPr>
        <p:spPr>
          <a:xfrm>
            <a:off x="8092440" y="5596128"/>
            <a:ext cx="548640" cy="237744"/>
          </a:xfrm>
          <a:prstGeom prst="rect">
            <a:avLst/>
          </a:prstGeom>
          <a:noFill/>
          <a:ln/>
        </p:spPr>
        <p:txBody>
          <a:bodyPr wrap="square" lIns="0" tIns="0" rIns="0" bIns="0" rtlCol="0" anchor="t"/>
          <a:lstStyle/>
          <a:p>
            <a:pPr algn="ctr" indent="0" marL="0">
              <a:buNone/>
            </a:pPr>
            <a:r>
              <a:rPr lang="en-US" sz="1200" dirty="0">
                <a:solidFill>
                  <a:schemeClr val="tx2"/>
                </a:solidFill>
              </a:rPr>
              <a:t>30%</a:t>
            </a:r>
            <a:endParaRPr lang="en-US" sz="1200" dirty="0"/>
          </a:p>
        </p:txBody>
      </p:sp>
      <p:sp>
        <p:nvSpPr>
          <p:cNvPr id="13" name="Text 324"/>
          <p:cNvSpPr txBox="1"/>
          <p:nvPr/>
        </p:nvSpPr>
        <p:spPr>
          <a:xfrm>
            <a:off x="548640" y="2167128"/>
            <a:ext cx="1691640" cy="274320"/>
          </a:xfrm>
          <a:prstGeom prst="rect">
            <a:avLst/>
          </a:prstGeom>
          <a:noFill/>
          <a:ln/>
        </p:spPr>
        <p:txBody>
          <a:bodyPr wrap="square" lIns="0" tIns="0" rIns="0" bIns="0" rtlCol="0" anchor="t"/>
          <a:lstStyle/>
          <a:p>
            <a:pPr algn="r" indent="0" marL="0">
              <a:buNone/>
            </a:pPr>
            <a:r>
              <a:rPr lang="en-US" sz="1400" b="1" dirty="0">
                <a:solidFill>
                  <a:schemeClr val="tx1"/>
                </a:solidFill>
              </a:rPr>
              <a:t>after 2,500</a:t>
            </a:r>
            <a:endParaRPr lang="en-US" sz="1400" dirty="0"/>
          </a:p>
        </p:txBody>
      </p:sp>
      <p:sp>
        <p:nvSpPr>
          <p:cNvPr id="14" name="Range 325"/>
          <p:cNvSpPr/>
          <p:nvPr/>
        </p:nvSpPr>
        <p:spPr>
          <a:xfrm>
            <a:off x="5196413" y="2103120"/>
            <a:ext cx="2240006" cy="237744"/>
          </a:xfrm>
          <a:prstGeom prst="roundRect">
            <a:avLst>
              <a:gd name="adj" fmla="val 23077"/>
            </a:avLst>
          </a:prstGeom>
          <a:solidFill>
            <a:schemeClr val="accent1"/>
          </a:solidFill>
          <a:ln/>
        </p:spPr>
      </p:sp>
      <p:sp>
        <p:nvSpPr>
          <p:cNvPr id="15" name="Mean 326"/>
          <p:cNvSpPr/>
          <p:nvPr/>
        </p:nvSpPr>
        <p:spPr>
          <a:xfrm>
            <a:off x="6209645" y="2167128"/>
            <a:ext cx="109728" cy="109728"/>
          </a:xfrm>
          <a:prstGeom prst="ellipse">
            <a:avLst/>
          </a:prstGeom>
          <a:solidFill>
            <a:schemeClr val="bg1"/>
          </a:solidFill>
          <a:ln/>
        </p:spPr>
      </p:sp>
      <p:sp>
        <p:nvSpPr>
          <p:cNvPr id="16" name="Range 327"/>
          <p:cNvSpPr/>
          <p:nvPr/>
        </p:nvSpPr>
        <p:spPr>
          <a:xfrm>
            <a:off x="2708849" y="2468880"/>
            <a:ext cx="3751311" cy="237744"/>
          </a:xfrm>
          <a:prstGeom prst="roundRect">
            <a:avLst>
              <a:gd name="adj" fmla="val 23077"/>
            </a:avLst>
          </a:prstGeom>
          <a:solidFill>
            <a:schemeClr val="accent2"/>
          </a:solidFill>
          <a:ln/>
        </p:spPr>
      </p:sp>
      <p:sp>
        <p:nvSpPr>
          <p:cNvPr id="17" name="Mean 328"/>
          <p:cNvSpPr/>
          <p:nvPr/>
        </p:nvSpPr>
        <p:spPr>
          <a:xfrm>
            <a:off x="4107393" y="2532888"/>
            <a:ext cx="109728" cy="109728"/>
          </a:xfrm>
          <a:prstGeom prst="ellipse">
            <a:avLst/>
          </a:prstGeom>
          <a:solidFill>
            <a:schemeClr val="bg1"/>
          </a:solidFill>
          <a:ln/>
        </p:spPr>
      </p:sp>
      <p:sp>
        <p:nvSpPr>
          <p:cNvPr id="18" name="Text 329"/>
          <p:cNvSpPr txBox="1"/>
          <p:nvPr/>
        </p:nvSpPr>
        <p:spPr>
          <a:xfrm>
            <a:off x="548640" y="3063240"/>
            <a:ext cx="1691640" cy="274320"/>
          </a:xfrm>
          <a:prstGeom prst="rect">
            <a:avLst/>
          </a:prstGeom>
          <a:noFill/>
          <a:ln/>
        </p:spPr>
        <p:txBody>
          <a:bodyPr wrap="square" lIns="0" tIns="0" rIns="0" bIns="0" rtlCol="0" anchor="t"/>
          <a:lstStyle/>
          <a:p>
            <a:pPr algn="r" indent="0" marL="0">
              <a:buNone/>
            </a:pPr>
            <a:r>
              <a:rPr lang="en-US" sz="1400" b="1" dirty="0">
                <a:solidFill>
                  <a:schemeClr val="tx1"/>
                </a:solidFill>
              </a:rPr>
              <a:t>after 10,000</a:t>
            </a:r>
            <a:endParaRPr lang="en-US" sz="1400" dirty="0"/>
          </a:p>
        </p:txBody>
      </p:sp>
      <p:sp>
        <p:nvSpPr>
          <p:cNvPr id="19" name="Range 330"/>
          <p:cNvSpPr/>
          <p:nvPr/>
        </p:nvSpPr>
        <p:spPr>
          <a:xfrm>
            <a:off x="7186864" y="2999232"/>
            <a:ext cx="1106028" cy="237744"/>
          </a:xfrm>
          <a:prstGeom prst="roundRect">
            <a:avLst>
              <a:gd name="adj" fmla="val 23077"/>
            </a:avLst>
          </a:prstGeom>
          <a:solidFill>
            <a:schemeClr val="accent1"/>
          </a:solidFill>
          <a:ln/>
        </p:spPr>
      </p:sp>
      <p:sp>
        <p:nvSpPr>
          <p:cNvPr id="20" name="Mean 331"/>
          <p:cNvSpPr/>
          <p:nvPr/>
        </p:nvSpPr>
        <p:spPr>
          <a:xfrm>
            <a:off x="7679025" y="3063240"/>
            <a:ext cx="109728" cy="109728"/>
          </a:xfrm>
          <a:prstGeom prst="ellipse">
            <a:avLst/>
          </a:prstGeom>
          <a:solidFill>
            <a:schemeClr val="bg1"/>
          </a:solidFill>
          <a:ln/>
        </p:spPr>
      </p:sp>
      <p:sp>
        <p:nvSpPr>
          <p:cNvPr id="21" name="Range 332"/>
          <p:cNvSpPr/>
          <p:nvPr/>
        </p:nvSpPr>
        <p:spPr>
          <a:xfrm>
            <a:off x="2738796" y="3364992"/>
            <a:ext cx="2547457" cy="237744"/>
          </a:xfrm>
          <a:prstGeom prst="roundRect">
            <a:avLst>
              <a:gd name="adj" fmla="val 23077"/>
            </a:avLst>
          </a:prstGeom>
          <a:solidFill>
            <a:schemeClr val="accent2"/>
          </a:solidFill>
          <a:ln/>
        </p:spPr>
      </p:sp>
      <p:sp>
        <p:nvSpPr>
          <p:cNvPr id="22" name="Mean 333"/>
          <p:cNvSpPr/>
          <p:nvPr/>
        </p:nvSpPr>
        <p:spPr>
          <a:xfrm>
            <a:off x="3708105" y="3429000"/>
            <a:ext cx="109728" cy="109728"/>
          </a:xfrm>
          <a:prstGeom prst="ellipse">
            <a:avLst/>
          </a:prstGeom>
          <a:solidFill>
            <a:schemeClr val="bg1"/>
          </a:solidFill>
          <a:ln/>
        </p:spPr>
      </p:sp>
      <p:sp>
        <p:nvSpPr>
          <p:cNvPr id="23" name="Text 334"/>
          <p:cNvSpPr txBox="1"/>
          <p:nvPr/>
        </p:nvSpPr>
        <p:spPr>
          <a:xfrm>
            <a:off x="548640" y="3959352"/>
            <a:ext cx="1691640" cy="274320"/>
          </a:xfrm>
          <a:prstGeom prst="rect">
            <a:avLst/>
          </a:prstGeom>
          <a:noFill/>
          <a:ln/>
        </p:spPr>
        <p:txBody>
          <a:bodyPr wrap="square" lIns="0" tIns="0" rIns="0" bIns="0" rtlCol="0" anchor="t"/>
          <a:lstStyle/>
          <a:p>
            <a:pPr algn="r" indent="0" marL="0">
              <a:buNone/>
            </a:pPr>
            <a:r>
              <a:rPr lang="en-US" sz="1400" b="1" dirty="0">
                <a:solidFill>
                  <a:schemeClr val="tx1"/>
                </a:solidFill>
              </a:rPr>
              <a:t>after 25,000</a:t>
            </a:r>
            <a:endParaRPr lang="en-US" sz="1400" dirty="0"/>
          </a:p>
        </p:txBody>
      </p:sp>
      <p:sp>
        <p:nvSpPr>
          <p:cNvPr id="24" name="Range 335"/>
          <p:cNvSpPr/>
          <p:nvPr/>
        </p:nvSpPr>
        <p:spPr>
          <a:xfrm>
            <a:off x="5903153" y="3895344"/>
            <a:ext cx="664815" cy="237744"/>
          </a:xfrm>
          <a:prstGeom prst="roundRect">
            <a:avLst>
              <a:gd name="adj" fmla="val 23077"/>
            </a:avLst>
          </a:prstGeom>
          <a:solidFill>
            <a:schemeClr val="accent1"/>
          </a:solidFill>
          <a:ln/>
        </p:spPr>
      </p:sp>
      <p:sp>
        <p:nvSpPr>
          <p:cNvPr id="25" name="Mean 336"/>
          <p:cNvSpPr/>
          <p:nvPr/>
        </p:nvSpPr>
        <p:spPr>
          <a:xfrm>
            <a:off x="6175705" y="3959352"/>
            <a:ext cx="109728" cy="109728"/>
          </a:xfrm>
          <a:prstGeom prst="ellipse">
            <a:avLst/>
          </a:prstGeom>
          <a:solidFill>
            <a:schemeClr val="bg1"/>
          </a:solidFill>
          <a:ln/>
        </p:spPr>
      </p:sp>
      <p:sp>
        <p:nvSpPr>
          <p:cNvPr id="26" name="Range 337"/>
          <p:cNvSpPr/>
          <p:nvPr/>
        </p:nvSpPr>
        <p:spPr>
          <a:xfrm>
            <a:off x="3924681" y="4261104"/>
            <a:ext cx="1667027" cy="237744"/>
          </a:xfrm>
          <a:prstGeom prst="roundRect">
            <a:avLst>
              <a:gd name="adj" fmla="val 23077"/>
            </a:avLst>
          </a:prstGeom>
          <a:solidFill>
            <a:schemeClr val="accent2"/>
          </a:solidFill>
          <a:ln/>
        </p:spPr>
      </p:sp>
      <p:sp>
        <p:nvSpPr>
          <p:cNvPr id="27" name="Mean 338"/>
          <p:cNvSpPr/>
          <p:nvPr/>
        </p:nvSpPr>
        <p:spPr>
          <a:xfrm>
            <a:off x="4648429" y="4325112"/>
            <a:ext cx="109728" cy="109728"/>
          </a:xfrm>
          <a:prstGeom prst="ellipse">
            <a:avLst/>
          </a:prstGeom>
          <a:solidFill>
            <a:schemeClr val="bg1"/>
          </a:solidFill>
          <a:ln/>
        </p:spPr>
      </p:sp>
      <p:sp>
        <p:nvSpPr>
          <p:cNvPr id="28" name="Text 339"/>
          <p:cNvSpPr txBox="1"/>
          <p:nvPr/>
        </p:nvSpPr>
        <p:spPr>
          <a:xfrm>
            <a:off x="548640" y="4855464"/>
            <a:ext cx="1691640" cy="274320"/>
          </a:xfrm>
          <a:prstGeom prst="rect">
            <a:avLst/>
          </a:prstGeom>
          <a:noFill/>
          <a:ln/>
        </p:spPr>
        <p:txBody>
          <a:bodyPr wrap="square" lIns="0" tIns="0" rIns="0" bIns="0" rtlCol="0" anchor="t"/>
          <a:lstStyle/>
          <a:p>
            <a:pPr algn="r" indent="0" marL="0">
              <a:buNone/>
            </a:pPr>
            <a:r>
              <a:rPr lang="en-US" sz="1400" b="1" dirty="0">
                <a:solidFill>
                  <a:schemeClr val="tx1"/>
                </a:solidFill>
              </a:rPr>
              <a:t>after 50,000</a:t>
            </a:r>
            <a:endParaRPr lang="en-US" sz="1400" dirty="0"/>
          </a:p>
        </p:txBody>
      </p:sp>
      <p:sp>
        <p:nvSpPr>
          <p:cNvPr id="29" name="Range 340"/>
          <p:cNvSpPr/>
          <p:nvPr/>
        </p:nvSpPr>
        <p:spPr>
          <a:xfrm>
            <a:off x="6160694" y="4791456"/>
            <a:ext cx="555010" cy="237744"/>
          </a:xfrm>
          <a:prstGeom prst="roundRect">
            <a:avLst>
              <a:gd name="adj" fmla="val 23077"/>
            </a:avLst>
          </a:prstGeom>
          <a:solidFill>
            <a:schemeClr val="accent1"/>
          </a:solidFill>
          <a:ln/>
        </p:spPr>
      </p:sp>
      <p:sp>
        <p:nvSpPr>
          <p:cNvPr id="30" name="Mean 341"/>
          <p:cNvSpPr/>
          <p:nvPr/>
        </p:nvSpPr>
        <p:spPr>
          <a:xfrm>
            <a:off x="6381339" y="4855464"/>
            <a:ext cx="109728" cy="109728"/>
          </a:xfrm>
          <a:prstGeom prst="ellipse">
            <a:avLst/>
          </a:prstGeom>
          <a:solidFill>
            <a:schemeClr val="bg1"/>
          </a:solidFill>
          <a:ln/>
        </p:spPr>
      </p:sp>
      <p:sp>
        <p:nvSpPr>
          <p:cNvPr id="31" name="Range 342"/>
          <p:cNvSpPr/>
          <p:nvPr/>
        </p:nvSpPr>
        <p:spPr>
          <a:xfrm>
            <a:off x="3838834" y="5157216"/>
            <a:ext cx="1529273" cy="237744"/>
          </a:xfrm>
          <a:prstGeom prst="roundRect">
            <a:avLst>
              <a:gd name="adj" fmla="val 23077"/>
            </a:avLst>
          </a:prstGeom>
          <a:solidFill>
            <a:schemeClr val="accent2"/>
          </a:solidFill>
          <a:ln/>
        </p:spPr>
      </p:sp>
      <p:sp>
        <p:nvSpPr>
          <p:cNvPr id="32" name="Mean 343"/>
          <p:cNvSpPr/>
          <p:nvPr/>
        </p:nvSpPr>
        <p:spPr>
          <a:xfrm>
            <a:off x="4498696" y="5221224"/>
            <a:ext cx="109728" cy="109728"/>
          </a:xfrm>
          <a:prstGeom prst="ellipse">
            <a:avLst/>
          </a:prstGeom>
          <a:solidFill>
            <a:schemeClr val="bg1"/>
          </a:solidFill>
          <a:ln/>
        </p:spPr>
      </p:sp>
      <p:sp>
        <p:nvSpPr>
          <p:cNvPr id="33" name="Key 344"/>
          <p:cNvSpPr/>
          <p:nvPr/>
        </p:nvSpPr>
        <p:spPr>
          <a:xfrm>
            <a:off x="2377440" y="6035040"/>
            <a:ext cx="411480" cy="201168"/>
          </a:xfrm>
          <a:prstGeom prst="roundRect">
            <a:avLst>
              <a:gd name="adj" fmla="val 22727"/>
            </a:avLst>
          </a:prstGeom>
          <a:solidFill>
            <a:schemeClr val="accent1"/>
          </a:solidFill>
          <a:ln/>
        </p:spPr>
      </p:sp>
      <p:sp>
        <p:nvSpPr>
          <p:cNvPr id="34" name="Text 345"/>
          <p:cNvSpPr txBox="1"/>
          <p:nvPr/>
        </p:nvSpPr>
        <p:spPr>
          <a:xfrm>
            <a:off x="2880360" y="6007608"/>
            <a:ext cx="2743200" cy="256032"/>
          </a:xfrm>
          <a:prstGeom prst="rect">
            <a:avLst/>
          </a:prstGeom>
          <a:noFill/>
          <a:ln/>
        </p:spPr>
        <p:txBody>
          <a:bodyPr wrap="square" lIns="0" tIns="0" rIns="0" bIns="0" rtlCol="0" anchor="t"/>
          <a:lstStyle/>
          <a:p>
            <a:pPr indent="0" marL="0">
              <a:buNone/>
            </a:pPr>
            <a:r>
              <a:rPr lang="en-US" sz="1200" dirty="0">
                <a:solidFill>
                  <a:schemeClr val="tx1"/>
                </a:solidFill>
              </a:rPr>
              <a:t>Pay-later voucher: shown often</a:t>
            </a:r>
            <a:endParaRPr lang="en-US" sz="1200" dirty="0"/>
          </a:p>
        </p:txBody>
      </p:sp>
      <p:sp>
        <p:nvSpPr>
          <p:cNvPr id="35" name="Key 346"/>
          <p:cNvSpPr/>
          <p:nvPr/>
        </p:nvSpPr>
        <p:spPr>
          <a:xfrm>
            <a:off x="5486400" y="6035040"/>
            <a:ext cx="411480" cy="201168"/>
          </a:xfrm>
          <a:prstGeom prst="roundRect">
            <a:avLst>
              <a:gd name="adj" fmla="val 22727"/>
            </a:avLst>
          </a:prstGeom>
          <a:solidFill>
            <a:schemeClr val="accent2"/>
          </a:solidFill>
          <a:ln/>
        </p:spPr>
      </p:sp>
      <p:sp>
        <p:nvSpPr>
          <p:cNvPr id="36" name="Text 347"/>
          <p:cNvSpPr txBox="1"/>
          <p:nvPr/>
        </p:nvSpPr>
        <p:spPr>
          <a:xfrm>
            <a:off x="5989320" y="6007608"/>
            <a:ext cx="2743200" cy="256032"/>
          </a:xfrm>
          <a:prstGeom prst="rect">
            <a:avLst/>
          </a:prstGeom>
          <a:noFill/>
          <a:ln/>
        </p:spPr>
        <p:txBody>
          <a:bodyPr wrap="square" lIns="0" tIns="0" rIns="0" bIns="0" rtlCol="0" anchor="t"/>
          <a:lstStyle/>
          <a:p>
            <a:pPr indent="0" marL="0">
              <a:buNone/>
            </a:pPr>
            <a:r>
              <a:rPr lang="en-US" sz="1200" dirty="0">
                <a:solidFill>
                  <a:schemeClr val="tx1"/>
                </a:solidFill>
              </a:rPr>
              <a:t>Smartphone insurance: shown rarely</a:t>
            </a:r>
            <a:endParaRPr lang="en-US" sz="1200" dirty="0"/>
          </a:p>
        </p:txBody>
      </p:sp>
      <p:sp>
        <p:nvSpPr>
          <p:cNvPr id="37" name="Text 348"/>
          <p:cNvSpPr txBox="1"/>
          <p:nvPr/>
        </p:nvSpPr>
        <p:spPr>
          <a:xfrm>
            <a:off x="8778240" y="1828800"/>
            <a:ext cx="2864815"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11 → 3 points</a:t>
            </a:r>
            <a:endParaRPr lang="en-US" sz="2600" dirty="0"/>
          </a:p>
        </p:txBody>
      </p:sp>
      <p:sp>
        <p:nvSpPr>
          <p:cNvPr id="38" name="Text 349"/>
          <p:cNvSpPr txBox="1"/>
          <p:nvPr/>
        </p:nvSpPr>
        <p:spPr>
          <a:xfrm>
            <a:off x="8778240" y="2359152"/>
            <a:ext cx="2864815" cy="868680"/>
          </a:xfrm>
          <a:prstGeom prst="rect">
            <a:avLst/>
          </a:prstGeom>
          <a:noFill/>
          <a:ln/>
        </p:spPr>
        <p:txBody>
          <a:bodyPr wrap="square" lIns="0" tIns="0" rIns="0" bIns="0" rtlCol="0" anchor="t"/>
          <a:lstStyle/>
          <a:p>
            <a:pPr indent="0" marL="0">
              <a:buNone/>
            </a:pPr>
            <a:r>
              <a:rPr lang="en-US" sz="1400" dirty="0">
                <a:solidFill>
                  <a:schemeClr val="tx1"/>
                </a:solidFill>
              </a:rPr>
              <a:t>how wide pay-later's range is after 2,500 app opens, and after 50,000: from 14%–25% to 19%–22%</a:t>
            </a:r>
            <a:endParaRPr lang="en-US" sz="1400" dirty="0"/>
          </a:p>
        </p:txBody>
      </p:sp>
      <p:sp>
        <p:nvSpPr>
          <p:cNvPr id="39" name="Text 350"/>
          <p:cNvSpPr txBox="1"/>
          <p:nvPr/>
        </p:nvSpPr>
        <p:spPr>
          <a:xfrm>
            <a:off x="8778240" y="3291840"/>
            <a:ext cx="2864815" cy="502920"/>
          </a:xfrm>
          <a:prstGeom prst="rect">
            <a:avLst/>
          </a:prstGeom>
          <a:noFill/>
          <a:ln/>
        </p:spPr>
        <p:txBody>
          <a:bodyPr wrap="square" lIns="0" tIns="0" rIns="0" bIns="0" rtlCol="0" anchor="t"/>
          <a:lstStyle/>
          <a:p>
            <a:pPr indent="0" marL="0">
              <a:buNone/>
            </a:pPr>
            <a:r>
              <a:rPr lang="en-US" sz="2600" b="1" dirty="0">
                <a:solidFill>
                  <a:schemeClr val="accent6"/>
                </a:solidFill>
                <a:latin typeface="+mj-lt" pitchFamily="34" charset="0"/>
                <a:ea typeface="+mj-lt" pitchFamily="34" charset="-122"/>
                <a:cs typeface="+mj-lt" pitchFamily="34" charset="-120"/>
              </a:rPr>
              <a:t>19 → 8 points</a:t>
            </a:r>
            <a:endParaRPr lang="en-US" sz="2600" dirty="0"/>
          </a:p>
        </p:txBody>
      </p:sp>
      <p:sp>
        <p:nvSpPr>
          <p:cNvPr id="40" name="Text 351"/>
          <p:cNvSpPr txBox="1"/>
          <p:nvPr/>
        </p:nvSpPr>
        <p:spPr>
          <a:xfrm>
            <a:off x="8778240" y="3822192"/>
            <a:ext cx="2864815" cy="868680"/>
          </a:xfrm>
          <a:prstGeom prst="rect">
            <a:avLst/>
          </a:prstGeom>
          <a:noFill/>
          <a:ln/>
        </p:spPr>
        <p:txBody>
          <a:bodyPr wrap="square" lIns="0" tIns="0" rIns="0" bIns="0" rtlCol="0" anchor="t"/>
          <a:lstStyle/>
          <a:p>
            <a:pPr indent="0" marL="0">
              <a:buNone/>
            </a:pPr>
            <a:r>
              <a:rPr lang="en-US" sz="1400" dirty="0">
                <a:solidFill>
                  <a:schemeClr val="tx1"/>
                </a:solidFill>
              </a:rPr>
              <a:t>for smartphone insurance: shown rarely, so it narrows slowly; that wide range is why it still gets tried.</a:t>
            </a:r>
            <a:endParaRPr lang="en-US" sz="1400" dirty="0"/>
          </a:p>
        </p:txBody>
      </p:sp>
      <p:sp>
        <p:nvSpPr>
          <p:cNvPr id="41" name="Card 352"/>
          <p:cNvSpPr/>
          <p:nvPr/>
        </p:nvSpPr>
        <p:spPr>
          <a:xfrm>
            <a:off x="8778240" y="4800600"/>
            <a:ext cx="2864815" cy="1234440"/>
          </a:xfrm>
          <a:prstGeom prst="roundRect">
            <a:avLst>
              <a:gd name="adj" fmla="val 5926"/>
            </a:avLst>
          </a:prstGeom>
          <a:solidFill>
            <a:schemeClr val="bg2"/>
          </a:solidFill>
          <a:ln/>
        </p:spPr>
      </p:sp>
      <p:sp>
        <p:nvSpPr>
          <p:cNvPr id="42" name="Text 353"/>
          <p:cNvSpPr txBox="1"/>
          <p:nvPr/>
        </p:nvSpPr>
        <p:spPr>
          <a:xfrm>
            <a:off x="8961120" y="4892040"/>
            <a:ext cx="2499055" cy="1097280"/>
          </a:xfrm>
          <a:prstGeom prst="rect">
            <a:avLst/>
          </a:prstGeom>
          <a:noFill/>
          <a:ln/>
        </p:spPr>
        <p:txBody>
          <a:bodyPr wrap="square" lIns="0" tIns="0" rIns="0" bIns="0" rtlCol="0" anchor="t"/>
          <a:lstStyle/>
          <a:p>
            <a:pPr indent="0" marL="0">
              <a:buNone/>
            </a:pPr>
            <a:r>
              <a:rPr lang="en-US" sz="1300" b="1" dirty="0">
                <a:solidFill>
                  <a:schemeClr val="tx1"/>
                </a:solidFill>
              </a:rPr>
              <a:t>The centre moves too. </a:t>
            </a:r>
            <a:pPr indent="0" marL="0">
              <a:buNone/>
            </a:pPr>
            <a:r>
              <a:rPr lang="en-US" sz="1300" dirty="0">
                <a:solidFill>
                  <a:schemeClr val="tx1"/>
                </a:solidFill>
              </a:rPr>
              <a:t>Small businesses want pay-later most mid-month; with forgetting, the belief follows that monthly cycle.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QUESTIONS PEOPLE ASK</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Six questions, short answers</a:t>
            </a:r>
            <a:endParaRPr lang="en-US" sz="3600" dirty="0"/>
          </a:p>
        </p:txBody>
      </p:sp>
      <p:sp>
        <p:nvSpPr>
          <p:cNvPr id="4" name="Card 354"/>
          <p:cNvSpPr/>
          <p:nvPr/>
        </p:nvSpPr>
        <p:spPr>
          <a:xfrm>
            <a:off x="548640" y="1645920"/>
            <a:ext cx="5410048" cy="1325880"/>
          </a:xfrm>
          <a:prstGeom prst="roundRect">
            <a:avLst>
              <a:gd name="adj" fmla="val 5517"/>
            </a:avLst>
          </a:prstGeom>
          <a:solidFill>
            <a:schemeClr val="bg2"/>
          </a:solidFill>
          <a:ln/>
        </p:spPr>
      </p:sp>
      <p:sp>
        <p:nvSpPr>
          <p:cNvPr id="5" name="Text 355"/>
          <p:cNvSpPr txBox="1"/>
          <p:nvPr/>
        </p:nvSpPr>
        <p:spPr>
          <a:xfrm>
            <a:off x="822960" y="181051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Does it ever stop exploring?</a:t>
            </a:r>
            <a:endParaRPr lang="en-US" sz="1600" dirty="0"/>
          </a:p>
        </p:txBody>
      </p:sp>
      <p:sp>
        <p:nvSpPr>
          <p:cNvPr id="6" name="Text 356"/>
          <p:cNvSpPr txBox="1"/>
          <p:nvPr/>
        </p:nvSpPr>
        <p:spPr>
          <a:xfrm>
            <a:off x="822960" y="2194560"/>
            <a:ext cx="4861408" cy="685800"/>
          </a:xfrm>
          <a:prstGeom prst="rect">
            <a:avLst/>
          </a:prstGeom>
          <a:noFill/>
          <a:ln/>
        </p:spPr>
        <p:txBody>
          <a:bodyPr wrap="square" lIns="0" tIns="0" rIns="0" bIns="0" rtlCol="0" anchor="t"/>
          <a:lstStyle/>
          <a:p>
            <a:pPr indent="0" marL="0">
              <a:buNone/>
            </a:pPr>
            <a:r>
              <a:rPr lang="en-US" sz="1400" dirty="0">
                <a:solidFill>
                  <a:schemeClr val="tx1"/>
                </a:solidFill>
              </a:rPr>
              <a:t>It explores less as beliefs narrow, but forgetting keeps a little doubt, so it can still notice a change.</a:t>
            </a:r>
            <a:endParaRPr lang="en-US" sz="1400" dirty="0"/>
          </a:p>
        </p:txBody>
      </p:sp>
      <p:sp>
        <p:nvSpPr>
          <p:cNvPr id="7" name="Card 357"/>
          <p:cNvSpPr/>
          <p:nvPr/>
        </p:nvSpPr>
        <p:spPr>
          <a:xfrm>
            <a:off x="6233008" y="1645920"/>
            <a:ext cx="5410048" cy="1325880"/>
          </a:xfrm>
          <a:prstGeom prst="roundRect">
            <a:avLst>
              <a:gd name="adj" fmla="val 5517"/>
            </a:avLst>
          </a:prstGeom>
          <a:solidFill>
            <a:schemeClr val="bg2"/>
          </a:solidFill>
          <a:ln/>
        </p:spPr>
      </p:sp>
      <p:sp>
        <p:nvSpPr>
          <p:cNvPr id="8" name="Text 358"/>
          <p:cNvSpPr txBox="1"/>
          <p:nvPr/>
        </p:nvSpPr>
        <p:spPr>
          <a:xfrm>
            <a:off x="6507328" y="181051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What if the app sends the same response twice?</a:t>
            </a:r>
            <a:endParaRPr lang="en-US" sz="1600" dirty="0"/>
          </a:p>
        </p:txBody>
      </p:sp>
      <p:sp>
        <p:nvSpPr>
          <p:cNvPr id="9" name="Text 359"/>
          <p:cNvSpPr txBox="1"/>
          <p:nvPr/>
        </p:nvSpPr>
        <p:spPr>
          <a:xfrm>
            <a:off x="6507328" y="2194560"/>
            <a:ext cx="4861408" cy="685800"/>
          </a:xfrm>
          <a:prstGeom prst="rect">
            <a:avLst/>
          </a:prstGeom>
          <a:noFill/>
          <a:ln/>
        </p:spPr>
        <p:txBody>
          <a:bodyPr wrap="square" lIns="0" tIns="0" rIns="0" bIns="0" rtlCol="0" anchor="t"/>
          <a:lstStyle/>
          <a:p>
            <a:pPr indent="0" marL="0">
              <a:buNone/>
            </a:pPr>
            <a:r>
              <a:rPr lang="en-US" sz="1400" dirty="0">
                <a:solidFill>
                  <a:schemeClr val="tx1"/>
                </a:solidFill>
              </a:rPr>
              <a:t>The database refuses the second copy with 409, so the response is learned once.</a:t>
            </a:r>
            <a:endParaRPr lang="en-US" sz="1400" dirty="0"/>
          </a:p>
        </p:txBody>
      </p:sp>
      <p:sp>
        <p:nvSpPr>
          <p:cNvPr id="10" name="Card 360"/>
          <p:cNvSpPr/>
          <p:nvPr/>
        </p:nvSpPr>
        <p:spPr>
          <a:xfrm>
            <a:off x="548640" y="3154680"/>
            <a:ext cx="5410048" cy="1325880"/>
          </a:xfrm>
          <a:prstGeom prst="roundRect">
            <a:avLst>
              <a:gd name="adj" fmla="val 5517"/>
            </a:avLst>
          </a:prstGeom>
          <a:solidFill>
            <a:schemeClr val="bg2"/>
          </a:solidFill>
          <a:ln/>
        </p:spPr>
      </p:sp>
      <p:sp>
        <p:nvSpPr>
          <p:cNvPr id="11" name="Text 361"/>
          <p:cNvSpPr txBox="1"/>
          <p:nvPr/>
        </p:nvSpPr>
        <p:spPr>
          <a:xfrm>
            <a:off x="822960" y="331927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What if two servers learn at the same moment?</a:t>
            </a:r>
            <a:endParaRPr lang="en-US" sz="1600" dirty="0"/>
          </a:p>
        </p:txBody>
      </p:sp>
      <p:sp>
        <p:nvSpPr>
          <p:cNvPr id="12" name="Text 362"/>
          <p:cNvSpPr txBox="1"/>
          <p:nvPr/>
        </p:nvSpPr>
        <p:spPr>
          <a:xfrm>
            <a:off x="822960" y="3703320"/>
            <a:ext cx="4861408" cy="685800"/>
          </a:xfrm>
          <a:prstGeom prst="rect">
            <a:avLst/>
          </a:prstGeom>
          <a:noFill/>
          <a:ln/>
        </p:spPr>
        <p:txBody>
          <a:bodyPr wrap="square" lIns="0" tIns="0" rIns="0" bIns="0" rtlCol="0" anchor="t"/>
          <a:lstStyle/>
          <a:p>
            <a:pPr indent="0" marL="0">
              <a:buNone/>
            </a:pPr>
            <a:r>
              <a:rPr lang="en-US" sz="1400" dirty="0">
                <a:solidFill>
                  <a:schemeClr val="tx1"/>
                </a:solidFill>
              </a:rPr>
              <a:t>The update is computed inside the database in one transaction; nothing is overwritten.</a:t>
            </a:r>
            <a:endParaRPr lang="en-US" sz="1400" dirty="0"/>
          </a:p>
        </p:txBody>
      </p:sp>
      <p:sp>
        <p:nvSpPr>
          <p:cNvPr id="13" name="Card 363"/>
          <p:cNvSpPr/>
          <p:nvPr/>
        </p:nvSpPr>
        <p:spPr>
          <a:xfrm>
            <a:off x="6233008" y="3154680"/>
            <a:ext cx="5410048" cy="1325880"/>
          </a:xfrm>
          <a:prstGeom prst="roundRect">
            <a:avLst>
              <a:gd name="adj" fmla="val 5517"/>
            </a:avLst>
          </a:prstGeom>
          <a:solidFill>
            <a:schemeClr val="bg2"/>
          </a:solidFill>
          <a:ln/>
        </p:spPr>
      </p:sp>
      <p:sp>
        <p:nvSpPr>
          <p:cNvPr id="14" name="Text 364"/>
          <p:cNvSpPr txBox="1"/>
          <p:nvPr/>
        </p:nvSpPr>
        <p:spPr>
          <a:xfrm>
            <a:off x="6507328" y="331927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What happens with a brand-new offer?</a:t>
            </a:r>
            <a:endParaRPr lang="en-US" sz="1600" dirty="0"/>
          </a:p>
        </p:txBody>
      </p:sp>
      <p:sp>
        <p:nvSpPr>
          <p:cNvPr id="15" name="Text 365"/>
          <p:cNvSpPr txBox="1"/>
          <p:nvPr/>
        </p:nvSpPr>
        <p:spPr>
          <a:xfrm>
            <a:off x="6507328" y="3703320"/>
            <a:ext cx="4861408" cy="685800"/>
          </a:xfrm>
          <a:prstGeom prst="rect">
            <a:avLst/>
          </a:prstGeom>
          <a:noFill/>
          <a:ln/>
        </p:spPr>
        <p:txBody>
          <a:bodyPr wrap="square" lIns="0" tIns="0" rIns="0" bIns="0" rtlCol="0" anchor="t"/>
          <a:lstStyle/>
          <a:p>
            <a:pPr indent="0" marL="0">
              <a:buNone/>
            </a:pPr>
            <a:r>
              <a:rPr lang="en-US" sz="1400" dirty="0">
                <a:solidFill>
                  <a:schemeClr val="tx1"/>
                </a:solidFill>
              </a:rPr>
              <a:t>It starts at Beta(1, 1), a flat guess, so its draws are wide and it gets tried early.</a:t>
            </a:r>
            <a:endParaRPr lang="en-US" sz="1400" dirty="0"/>
          </a:p>
        </p:txBody>
      </p:sp>
      <p:sp>
        <p:nvSpPr>
          <p:cNvPr id="16" name="Card 366"/>
          <p:cNvSpPr/>
          <p:nvPr/>
        </p:nvSpPr>
        <p:spPr>
          <a:xfrm>
            <a:off x="548640" y="4663440"/>
            <a:ext cx="5410048" cy="1325880"/>
          </a:xfrm>
          <a:prstGeom prst="roundRect">
            <a:avLst>
              <a:gd name="adj" fmla="val 5517"/>
            </a:avLst>
          </a:prstGeom>
          <a:solidFill>
            <a:schemeClr val="bg2"/>
          </a:solidFill>
          <a:ln/>
        </p:spPr>
      </p:sp>
      <p:sp>
        <p:nvSpPr>
          <p:cNvPr id="17" name="Text 367"/>
          <p:cNvSpPr txBox="1"/>
          <p:nvPr/>
        </p:nvSpPr>
        <p:spPr>
          <a:xfrm>
            <a:off x="822960" y="482803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What if a customer ignores everything?</a:t>
            </a:r>
            <a:endParaRPr lang="en-US" sz="1600" dirty="0"/>
          </a:p>
        </p:txBody>
      </p:sp>
      <p:sp>
        <p:nvSpPr>
          <p:cNvPr id="18" name="Text 368"/>
          <p:cNvSpPr txBox="1"/>
          <p:nvPr/>
        </p:nvSpPr>
        <p:spPr>
          <a:xfrm>
            <a:off x="822960" y="5212080"/>
            <a:ext cx="4861408" cy="685800"/>
          </a:xfrm>
          <a:prstGeom prst="rect">
            <a:avLst/>
          </a:prstGeom>
          <a:noFill/>
          <a:ln/>
        </p:spPr>
        <p:txBody>
          <a:bodyPr wrap="square" lIns="0" tIns="0" rIns="0" bIns="0" rtlCol="0" anchor="t"/>
          <a:lstStyle/>
          <a:p>
            <a:pPr indent="0" marL="0">
              <a:buNone/>
            </a:pPr>
            <a:r>
              <a:rPr lang="en-US" sz="1400" dirty="0">
                <a:solidFill>
                  <a:schemeClr val="tx1"/>
                </a:solidFill>
              </a:rPr>
              <a:t>Nothing changes: an offer nobody noticed says nothing about whether it appeals.</a:t>
            </a:r>
            <a:endParaRPr lang="en-US" sz="1400" dirty="0"/>
          </a:p>
        </p:txBody>
      </p:sp>
      <p:sp>
        <p:nvSpPr>
          <p:cNvPr id="19" name="Card 369"/>
          <p:cNvSpPr/>
          <p:nvPr/>
        </p:nvSpPr>
        <p:spPr>
          <a:xfrm>
            <a:off x="6233008" y="4663440"/>
            <a:ext cx="5410048" cy="1325880"/>
          </a:xfrm>
          <a:prstGeom prst="roundRect">
            <a:avLst>
              <a:gd name="adj" fmla="val 5517"/>
            </a:avLst>
          </a:prstGeom>
          <a:solidFill>
            <a:schemeClr val="bg2"/>
          </a:solidFill>
          <a:ln/>
        </p:spPr>
      </p:sp>
      <p:sp>
        <p:nvSpPr>
          <p:cNvPr id="20" name="Text 370"/>
          <p:cNvSpPr txBox="1"/>
          <p:nvPr/>
        </p:nvSpPr>
        <p:spPr>
          <a:xfrm>
            <a:off x="6507328" y="482803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Does it know what customers really want?</a:t>
            </a:r>
            <a:endParaRPr lang="en-US" sz="1600" dirty="0"/>
          </a:p>
        </p:txBody>
      </p:sp>
      <p:sp>
        <p:nvSpPr>
          <p:cNvPr id="21" name="Text 371"/>
          <p:cNvSpPr txBox="1"/>
          <p:nvPr/>
        </p:nvSpPr>
        <p:spPr>
          <a:xfrm>
            <a:off x="6507328" y="5212080"/>
            <a:ext cx="4861408" cy="685800"/>
          </a:xfrm>
          <a:prstGeom prst="rect">
            <a:avLst/>
          </a:prstGeom>
          <a:noFill/>
          <a:ln/>
        </p:spPr>
        <p:txBody>
          <a:bodyPr wrap="square" lIns="0" tIns="0" rIns="0" bIns="0" rtlCol="0" anchor="t"/>
          <a:lstStyle/>
          <a:p>
            <a:pPr indent="0" marL="0">
              <a:buNone/>
            </a:pPr>
            <a:r>
              <a:rPr lang="en-US" sz="1400" dirty="0">
                <a:solidFill>
                  <a:schemeClr val="tx1"/>
                </a:solidFill>
              </a:rPr>
              <a:t>No. Only the simulator knows the true rates; the recommender learns from responses alone.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04672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GLOSSARY</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The words, in plain terms and precise ones</a:t>
            </a:r>
            <a:endParaRPr lang="en-US" sz="3600" dirty="0"/>
          </a:p>
        </p:txBody>
      </p:sp>
      <p:graphicFrame>
        <p:nvGraphicFramePr>
          <p:cNvPr id="17" name="Table 372"/>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011680"/>
                <a:gridCol w="4206240"/>
                <a:gridCol w="4876495"/>
              </a:tblGrid>
              <a:tr h="457200">
                <a:tc>
                  <a:txBody>
                    <a:bodyPr/>
                    <a:lstStyle/>
                    <a:p>
                      <a:pPr indent="0" marL="0">
                        <a:buNone/>
                      </a:pPr>
                      <a:r>
                        <a:rPr lang="en-US" sz="1400" b="1" dirty="0">
                          <a:solidFill>
                            <a:schemeClr val="bg1"/>
                          </a:solidFill>
                        </a:rPr>
                        <a:t>Term</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In plain terms</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Precisely</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457200">
                <a:tc>
                  <a:txBody>
                    <a:bodyPr/>
                    <a:lstStyle/>
                    <a:p>
                      <a:pPr indent="0" marL="0">
                        <a:buNone/>
                      </a:pPr>
                      <a:r>
                        <a:rPr lang="en-US" sz="1400" b="1" dirty="0">
                          <a:solidFill>
                            <a:schemeClr val="tx1"/>
                          </a:solidFill>
                        </a:rPr>
                        <a:t>Invocation</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app open, asking for offers</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POST /invocations; logged with an invocation_id</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Segment</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kind of customer</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the context key a policy pools its evidence under</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Belief</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what it thinks an offer's take-up rate is, and how sure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a Beta(α, β) distribution per segment × offer</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Draw</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plausible guess picked from the belief</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one random sample from Beta(α, β)</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Reward</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score of an outcome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taken up 1, viewed 0, ignored: no update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Forgetting</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old evidence counts a little less</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every count × γ = 0.9998 on each update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Options store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notebook</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the options table: the model's state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Event log</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receipt book</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the invocations, impressions and responses tables</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Idempotent</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doing it twice has the same effect as once</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a primary key plus ON CONFLICT DO NOTHING</a:t>
                      </a:r>
                      <a:endParaRPr lang="en-US" sz="1400" dirty="0"/>
                    </a:p>
                  </a:txBody>
                  <a:tcPr marL="137160" marR="137160" marT="45720" marB="45720"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600" b="1" dirty="0">
                <a:solidFill>
                  <a:schemeClr val="bg1"/>
                </a:solidFill>
              </a:rPr>
              <a:t>The whole loop in one sentence</a:t>
            </a:r>
            <a:endParaRPr lang="en-US" sz="3600" dirty="0"/>
          </a:p>
        </p:txBody>
      </p:sp>
      <p:sp>
        <p:nvSpPr>
          <p:cNvPr id="3" name="Text 373"/>
          <p:cNvSpPr txBox="1"/>
          <p:nvPr/>
        </p:nvSpPr>
        <p:spPr>
          <a:xfrm>
            <a:off x="548640" y="1783080"/>
            <a:ext cx="10058400" cy="146304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Guess from what you believe, show the best guesses, write everything down, learn from every answer, and let old lessons fade.</a:t>
            </a:r>
            <a:endParaRPr lang="en-US" sz="3000" dirty="0"/>
          </a:p>
        </p:txBody>
      </p:sp>
      <p:sp>
        <p:nvSpPr>
          <p:cNvPr id="4" name="Card 374"/>
          <p:cNvSpPr/>
          <p:nvPr/>
        </p:nvSpPr>
        <p:spPr>
          <a:xfrm>
            <a:off x="548640" y="3794760"/>
            <a:ext cx="1467351" cy="1188720"/>
          </a:xfrm>
          <a:prstGeom prst="roundRect">
            <a:avLst>
              <a:gd name="adj" fmla="val 6154"/>
            </a:avLst>
          </a:prstGeom>
          <a:solidFill>
            <a:schemeClr val="bg1">
              <a:alpha val="10000"/>
            </a:schemeClr>
          </a:solidFill>
          <a:ln/>
        </p:spPr>
      </p:sp>
      <p:sp>
        <p:nvSpPr>
          <p:cNvPr id="5" name="Step 375"/>
          <p:cNvSpPr txBox="1"/>
          <p:nvPr/>
        </p:nvSpPr>
        <p:spPr>
          <a:xfrm>
            <a:off x="713232" y="395020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376"/>
          <p:cNvSpPr txBox="1"/>
          <p:nvPr/>
        </p:nvSpPr>
        <p:spPr>
          <a:xfrm>
            <a:off x="713232"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Opens the app</a:t>
            </a:r>
            <a:endParaRPr lang="en-US" sz="1300" dirty="0"/>
          </a:p>
        </p:txBody>
      </p:sp>
      <p:sp>
        <p:nvSpPr>
          <p:cNvPr id="7" name="Card 377"/>
          <p:cNvSpPr/>
          <p:nvPr/>
        </p:nvSpPr>
        <p:spPr>
          <a:xfrm>
            <a:off x="2153151" y="3794760"/>
            <a:ext cx="1467351" cy="1188720"/>
          </a:xfrm>
          <a:prstGeom prst="roundRect">
            <a:avLst>
              <a:gd name="adj" fmla="val 6154"/>
            </a:avLst>
          </a:prstGeom>
          <a:solidFill>
            <a:schemeClr val="bg1">
              <a:alpha val="10000"/>
            </a:schemeClr>
          </a:solidFill>
          <a:ln/>
        </p:spPr>
      </p:sp>
      <p:sp>
        <p:nvSpPr>
          <p:cNvPr id="8" name="Step 378"/>
          <p:cNvSpPr txBox="1"/>
          <p:nvPr/>
        </p:nvSpPr>
        <p:spPr>
          <a:xfrm>
            <a:off x="2317743" y="395020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379"/>
          <p:cNvSpPr txBox="1"/>
          <p:nvPr/>
        </p:nvSpPr>
        <p:spPr>
          <a:xfrm>
            <a:off x="2317743"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Build the moment</a:t>
            </a:r>
            <a:endParaRPr lang="en-US" sz="1300" dirty="0"/>
          </a:p>
        </p:txBody>
      </p:sp>
      <p:sp>
        <p:nvSpPr>
          <p:cNvPr id="10" name="Card 380"/>
          <p:cNvSpPr/>
          <p:nvPr/>
        </p:nvSpPr>
        <p:spPr>
          <a:xfrm>
            <a:off x="3757661" y="3794760"/>
            <a:ext cx="1467351" cy="1188720"/>
          </a:xfrm>
          <a:prstGeom prst="roundRect">
            <a:avLst>
              <a:gd name="adj" fmla="val 6154"/>
            </a:avLst>
          </a:prstGeom>
          <a:solidFill>
            <a:schemeClr val="bg1">
              <a:alpha val="10000"/>
            </a:schemeClr>
          </a:solidFill>
          <a:ln/>
        </p:spPr>
      </p:sp>
      <p:sp>
        <p:nvSpPr>
          <p:cNvPr id="11" name="Step 381"/>
          <p:cNvSpPr txBox="1"/>
          <p:nvPr/>
        </p:nvSpPr>
        <p:spPr>
          <a:xfrm>
            <a:off x="3922253" y="3950208"/>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Text 382"/>
          <p:cNvSpPr txBox="1"/>
          <p:nvPr/>
        </p:nvSpPr>
        <p:spPr>
          <a:xfrm>
            <a:off x="3922253"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Rank by drawing</a:t>
            </a:r>
            <a:endParaRPr lang="en-US" sz="1300" dirty="0"/>
          </a:p>
        </p:txBody>
      </p:sp>
      <p:sp>
        <p:nvSpPr>
          <p:cNvPr id="13" name="Card 383"/>
          <p:cNvSpPr/>
          <p:nvPr/>
        </p:nvSpPr>
        <p:spPr>
          <a:xfrm>
            <a:off x="5362172" y="3794760"/>
            <a:ext cx="1467351" cy="1188720"/>
          </a:xfrm>
          <a:prstGeom prst="roundRect">
            <a:avLst>
              <a:gd name="adj" fmla="val 6154"/>
            </a:avLst>
          </a:prstGeom>
          <a:solidFill>
            <a:schemeClr val="bg1">
              <a:alpha val="10000"/>
            </a:schemeClr>
          </a:solidFill>
          <a:ln/>
        </p:spPr>
      </p:sp>
      <p:sp>
        <p:nvSpPr>
          <p:cNvPr id="14" name="Step 384"/>
          <p:cNvSpPr txBox="1"/>
          <p:nvPr/>
        </p:nvSpPr>
        <p:spPr>
          <a:xfrm>
            <a:off x="5526764" y="395020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385"/>
          <p:cNvSpPr txBox="1"/>
          <p:nvPr/>
        </p:nvSpPr>
        <p:spPr>
          <a:xfrm>
            <a:off x="5526764"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Log, then reply</a:t>
            </a:r>
            <a:endParaRPr lang="en-US" sz="1300" dirty="0"/>
          </a:p>
        </p:txBody>
      </p:sp>
      <p:sp>
        <p:nvSpPr>
          <p:cNvPr id="16" name="Card 386"/>
          <p:cNvSpPr/>
          <p:nvPr/>
        </p:nvSpPr>
        <p:spPr>
          <a:xfrm>
            <a:off x="6966683" y="3794760"/>
            <a:ext cx="1467351" cy="1188720"/>
          </a:xfrm>
          <a:prstGeom prst="roundRect">
            <a:avLst>
              <a:gd name="adj" fmla="val 6154"/>
            </a:avLst>
          </a:prstGeom>
          <a:solidFill>
            <a:schemeClr val="bg1">
              <a:alpha val="10000"/>
            </a:schemeClr>
          </a:solidFill>
          <a:ln/>
        </p:spPr>
      </p:sp>
      <p:sp>
        <p:nvSpPr>
          <p:cNvPr id="17" name="Step 387"/>
          <p:cNvSpPr txBox="1"/>
          <p:nvPr/>
        </p:nvSpPr>
        <p:spPr>
          <a:xfrm>
            <a:off x="7131275" y="395020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Text 388"/>
          <p:cNvSpPr txBox="1"/>
          <p:nvPr/>
        </p:nvSpPr>
        <p:spPr>
          <a:xfrm>
            <a:off x="7131275"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Responds</a:t>
            </a:r>
            <a:endParaRPr lang="en-US" sz="1300" dirty="0"/>
          </a:p>
        </p:txBody>
      </p:sp>
      <p:sp>
        <p:nvSpPr>
          <p:cNvPr id="19" name="Card 389"/>
          <p:cNvSpPr/>
          <p:nvPr/>
        </p:nvSpPr>
        <p:spPr>
          <a:xfrm>
            <a:off x="8571194" y="3794760"/>
            <a:ext cx="1467351" cy="1188720"/>
          </a:xfrm>
          <a:prstGeom prst="roundRect">
            <a:avLst>
              <a:gd name="adj" fmla="val 6154"/>
            </a:avLst>
          </a:prstGeom>
          <a:solidFill>
            <a:schemeClr val="bg1">
              <a:alpha val="10000"/>
            </a:schemeClr>
          </a:solidFill>
          <a:ln/>
        </p:spPr>
      </p:sp>
      <p:sp>
        <p:nvSpPr>
          <p:cNvPr id="20" name="Step 390"/>
          <p:cNvSpPr txBox="1"/>
          <p:nvPr/>
        </p:nvSpPr>
        <p:spPr>
          <a:xfrm>
            <a:off x="8735786" y="395020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391"/>
          <p:cNvSpPr txBox="1"/>
          <p:nvPr/>
        </p:nvSpPr>
        <p:spPr>
          <a:xfrm>
            <a:off x="8735786"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Score, log once</a:t>
            </a:r>
            <a:endParaRPr lang="en-US" sz="1300" dirty="0"/>
          </a:p>
        </p:txBody>
      </p:sp>
      <p:sp>
        <p:nvSpPr>
          <p:cNvPr id="22" name="Card 392"/>
          <p:cNvSpPr/>
          <p:nvPr/>
        </p:nvSpPr>
        <p:spPr>
          <a:xfrm>
            <a:off x="10175704" y="3794760"/>
            <a:ext cx="1467351" cy="1188720"/>
          </a:xfrm>
          <a:prstGeom prst="roundRect">
            <a:avLst>
              <a:gd name="adj" fmla="val 6154"/>
            </a:avLst>
          </a:prstGeom>
          <a:solidFill>
            <a:schemeClr val="bg1">
              <a:alpha val="10000"/>
            </a:schemeClr>
          </a:solidFill>
          <a:ln/>
        </p:spPr>
      </p:sp>
      <p:sp>
        <p:nvSpPr>
          <p:cNvPr id="23" name="Step 393"/>
          <p:cNvSpPr txBox="1"/>
          <p:nvPr/>
        </p:nvSpPr>
        <p:spPr>
          <a:xfrm>
            <a:off x="10340296" y="3950208"/>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24" name="Text 394"/>
          <p:cNvSpPr txBox="1"/>
          <p:nvPr/>
        </p:nvSpPr>
        <p:spPr>
          <a:xfrm>
            <a:off x="10340296" y="4434840"/>
            <a:ext cx="1193031" cy="457200"/>
          </a:xfrm>
          <a:prstGeom prst="rect">
            <a:avLst/>
          </a:prstGeom>
          <a:noFill/>
          <a:ln/>
        </p:spPr>
        <p:txBody>
          <a:bodyPr wrap="square" lIns="0" tIns="0" rIns="0" bIns="0" rtlCol="0" anchor="t"/>
          <a:lstStyle/>
          <a:p>
            <a:pPr indent="0" marL="0">
              <a:buNone/>
            </a:pPr>
            <a:r>
              <a:rPr lang="en-US" sz="1300" b="1" dirty="0">
                <a:solidFill>
                  <a:schemeClr val="bg1"/>
                </a:solidFill>
              </a:rPr>
              <a:t>Learn and forget</a:t>
            </a:r>
            <a:endParaRPr lang="en-US" sz="1300" dirty="0"/>
          </a:p>
        </p:txBody>
      </p:sp>
      <p:sp>
        <p:nvSpPr>
          <p:cNvPr id="25" name="Text 395"/>
          <p:cNvSpPr txBox="1"/>
          <p:nvPr/>
        </p:nvSpPr>
        <p:spPr>
          <a:xfrm>
            <a:off x="548640" y="5486400"/>
            <a:ext cx="11094415" cy="548640"/>
          </a:xfrm>
          <a:prstGeom prst="rect">
            <a:avLst/>
          </a:prstGeom>
          <a:noFill/>
          <a:ln/>
        </p:spPr>
        <p:txBody>
          <a:bodyPr wrap="square" lIns="0" tIns="0" rIns="0" bIns="0" rtlCol="0" anchor="t"/>
          <a:lstStyle/>
          <a:p>
            <a:pPr indent="0" marL="0">
              <a:buNone/>
            </a:pPr>
            <a:r>
              <a:rPr lang="en-US" sz="1300" dirty="0">
                <a:solidFill>
                  <a:schemeClr val="bg2"/>
                </a:solidFill>
              </a:rPr>
              <a:t>Further reading in the repository: docs/how-it-works.html (the full diagram) · DECISIONS.md (the reasoning behind each choice) · WRITEUP.md (the results)</a:t>
            </a:r>
            <a:endParaRPr lang="en-US" sz="1300" dirty="0"/>
          </a:p>
        </p:txBody>
      </p:sp>
    </p:spTree>
  </p:cSld>
  <p:clrMapOvr>
    <a:masterClrMapping/>
  </p:clrMapOvr>
</p:sld>
</file>

<file path=ppt/theme/theme1.xml><?xml version="1.0" encoding="utf-8"?>
<a:theme xmlns:a="http://schemas.openxmlformats.org/drawingml/2006/main" name="Recommender">
  <a:themeElements>
    <a:clrScheme name="Recommender">
      <a:dk1>
        <a:srgbClr val="13202A"/>
      </a:dk1>
      <a:lt1>
        <a:srgbClr val="FFFFFF"/>
      </a:lt1>
      <a:dk2>
        <a:srgbClr val="566773"/>
      </a:dk2>
      <a:lt2>
        <a:srgbClr val="EAF2F5"/>
      </a:lt2>
      <a:accent1>
        <a:srgbClr val="0D6987"/>
      </a:accent1>
      <a:accent2>
        <a:srgbClr val="D98E2B"/>
      </a:accent2>
      <a:accent3>
        <a:srgbClr val="9AA9B4"/>
      </a:accent3>
      <a:accent4>
        <a:srgbClr val="2B7A4B"/>
      </a:accent4>
      <a:accent5>
        <a:srgbClr val="5BB6D6"/>
      </a:accent5>
      <a:accent6>
        <a:srgbClr val="A35F08"/>
      </a:accent6>
      <a:hlink>
        <a:srgbClr val="0D6987"/>
      </a:hlink>
      <a:folHlink>
        <a:srgbClr val="566773"/>
      </a:folHlink>
    </a:clrScheme>
    <a:fontScheme name="Recomme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Sean Mukariri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it works, step by step</dc:title>
  <dc:subject>The seven steps of one app open, for technical and non-technical readers</dc:subject>
  <dc:creator>Sean Mukariri</dc:creator>
  <cp:lastModifiedBy>Sean Mukariri</cp:lastModifiedBy>
  <cp:revision>1</cp:revision>
  <dcterms:created xsi:type="dcterms:W3CDTF">2026-10-22T08:45:03Z</dcterms:created>
  <dcterms:modified xsi:type="dcterms:W3CDTF">2026-10-22T08:45:03Z</dcterms:modified>
</cp:coreProperties>
</file>