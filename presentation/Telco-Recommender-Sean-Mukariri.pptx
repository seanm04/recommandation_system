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579be16-d83f-305c-1f91-a454378bc511}">
          <p14:sldIdLst>
            <p14:sldId id="256"/>
            <p14:sldId id="257"/>
          </p14:sldIdLst>
        </p14:section>
        <p14:section name="Problem and approach" id="{626c03b8-cc7b-0bc5-09a7-f033b977c075}">
          <p14:sldIdLst>
            <p14:sldId id="258"/>
            <p14:sldId id="259"/>
            <p14:sldId id="260"/>
          </p14:sldIdLst>
        </p14:section>
        <p14:section name="Evidence" id="{c9fa2ab2-5659-22a6-525e-27216534c1a4}">
          <p14:sldIdLst>
            <p14:sldId id="261"/>
            <p14:sldId id="262"/>
            <p14:sldId id="263"/>
            <p14:sldId id="264"/>
          </p14:sldIdLst>
        </p14:section>
        <p14:section name="Engineering" id="{9a00884a-3afe-e07c-a1e8-2300b830aa3d}">
          <p14:sldIdLst>
            <p14:sldId id="265"/>
            <p14:sldId id="266"/>
            <p14:sldId id="267"/>
          </p14:sldIdLst>
        </p14:section>
        <p14:section name="Next steps and fit" id="{61c2abfa-e0fb-d59d-7bcb-bf4eed105c0b}">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Three beliefs about take-up, one segment (illustrative)</a:t>
            </a:r>
          </a:p>
        </c:rich>
      </c:tx>
      <c:layout/>
      <c:overlay val="0"/>
    </c:title>
    <c:autoTitleDeleted val="0"/>
    <c:plotArea>
      <c:layout/>
      <c:lineChart>
        <c:varyColors val="0"/>
        <c:ser>
          <c:idx val="0"/>
          <c:order val="0"/>
          <c:tx>
            <c:strRef>
              <c:f>Sheet1!$B$1</c:f>
              <c:strCache>
                <c:ptCount val="1"/>
                <c:pt idx="0">
                  <c:v>Offer A: well known, strong · Beta(61, 141)</c:v>
                </c:pt>
              </c:strCache>
            </c:strRef>
          </c:tx>
          <c:spPr>
            <a:solidFill>
              <a:srgbClr val="0D6987"/>
            </a:solidFill>
            <a:ln w="38100" cap="flat">
              <a:solidFill>
                <a:srgbClr val="0D6987"/>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0D6987"/>
              </a:solidFill>
              <a:ln w="9525" cap="flat">
                <a:solidFill>
                  <a:srgbClr val="0D6987"/>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Sheet1!$B$2:$B$62</c:f>
              <c:numCache>
                <c:formatCode>General</c:formatCode>
                <c:ptCount val="6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0.003</c:v>
                </c:pt>
                <c:pt idx="19">
                  <c:v>0.012</c:v>
                </c:pt>
                <c:pt idx="20">
                  <c:v>0.044</c:v>
                </c:pt>
                <c:pt idx="21">
                  <c:v>0.142</c:v>
                </c:pt>
                <c:pt idx="22">
                  <c:v>0.389</c:v>
                </c:pt>
                <c:pt idx="23">
                  <c:v>0.919</c:v>
                </c:pt>
                <c:pt idx="24">
                  <c:v>1.894</c:v>
                </c:pt>
                <c:pt idx="25">
                  <c:v>3.434</c:v>
                </c:pt>
                <c:pt idx="26">
                  <c:v>5.516</c:v>
                </c:pt>
                <c:pt idx="27">
                  <c:v>7.904</c:v>
                </c:pt>
                <c:pt idx="28">
                  <c:v>10.159</c:v>
                </c:pt>
                <c:pt idx="29">
                  <c:v>11.772</c:v>
                </c:pt>
                <c:pt idx="30">
                  <c:v>12.354</c:v>
                </c:pt>
                <c:pt idx="31">
                  <c:v>11.786</c:v>
                </c:pt>
                <c:pt idx="32">
                  <c:v>10.258</c:v>
                </c:pt>
                <c:pt idx="33">
                  <c:v>8.168</c:v>
                </c:pt>
                <c:pt idx="34">
                  <c:v>5.966</c:v>
                </c:pt>
                <c:pt idx="35">
                  <c:v>4.006</c:v>
                </c:pt>
                <c:pt idx="36">
                  <c:v>2.478</c:v>
                </c:pt>
                <c:pt idx="37">
                  <c:v>1.414</c:v>
                </c:pt>
                <c:pt idx="38">
                  <c:v>0.746</c:v>
                </c:pt>
                <c:pt idx="39">
                  <c:v>0.364</c:v>
                </c:pt>
                <c:pt idx="40">
                  <c:v>0.164</c:v>
                </c:pt>
                <c:pt idx="41">
                  <c:v>0.069</c:v>
                </c:pt>
                <c:pt idx="42">
                  <c:v>0.027</c:v>
                </c:pt>
                <c:pt idx="43">
                  <c:v>0.01</c:v>
                </c:pt>
                <c:pt idx="44">
                  <c:v>0.003</c:v>
                </c:pt>
                <c:pt idx="45">
                  <c:v>0.001</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numCache>
            </c:numRef>
          </c:val>
          <c:smooth val="0"/>
        </c:ser>
        <c:ser>
          <c:idx val="1"/>
          <c:order val="1"/>
          <c:tx>
            <c:strRef>
              <c:f>Sheet1!$C$1</c:f>
              <c:strCache>
                <c:ptCount val="1"/>
                <c:pt idx="0">
                  <c:v>Offer B: well known, weaker · Beta(25, 151)</c:v>
                </c:pt>
              </c:strCache>
            </c:strRef>
          </c:tx>
          <c:spPr>
            <a:solidFill>
              <a:srgbClr val="9AA9B4"/>
            </a:solidFill>
            <a:ln w="38100" cap="flat">
              <a:solidFill>
                <a:srgbClr val="9AA9B4"/>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9AA9B4"/>
              </a:solidFill>
              <a:ln w="9525" cap="flat">
                <a:solidFill>
                  <a:srgbClr val="9AA9B4"/>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Sheet1!$C$2:$C$62</c:f>
              <c:numCache>
                <c:formatCode>General</c:formatCode>
                <c:ptCount val="61"/>
                <c:pt idx="0">
                  <c:v>0</c:v>
                </c:pt>
                <c:pt idx="1">
                  <c:v>0</c:v>
                </c:pt>
                <c:pt idx="2">
                  <c:v>0</c:v>
                </c:pt>
                <c:pt idx="3">
                  <c:v>0</c:v>
                </c:pt>
                <c:pt idx="4">
                  <c:v>0</c:v>
                </c:pt>
                <c:pt idx="5">
                  <c:v>0.001</c:v>
                </c:pt>
                <c:pt idx="6">
                  <c:v>0.014</c:v>
                </c:pt>
                <c:pt idx="7">
                  <c:v>0.114</c:v>
                </c:pt>
                <c:pt idx="8">
                  <c:v>0.554</c:v>
                </c:pt>
                <c:pt idx="9">
                  <c:v>1.817</c:v>
                </c:pt>
                <c:pt idx="10">
                  <c:v>4.342</c:v>
                </c:pt>
                <c:pt idx="11">
                  <c:v>8.003</c:v>
                </c:pt>
                <c:pt idx="12">
                  <c:v>11.86</c:v>
                </c:pt>
                <c:pt idx="13">
                  <c:v>14.584</c:v>
                </c:pt>
                <c:pt idx="14">
                  <c:v>15.247</c:v>
                </c:pt>
                <c:pt idx="15">
                  <c:v>13.816</c:v>
                </c:pt>
                <c:pt idx="16">
                  <c:v>11.018</c:v>
                </c:pt>
                <c:pt idx="17">
                  <c:v>7.831</c:v>
                </c:pt>
                <c:pt idx="18">
                  <c:v>5.011</c:v>
                </c:pt>
                <c:pt idx="19">
                  <c:v>2.912</c:v>
                </c:pt>
                <c:pt idx="20">
                  <c:v>1.547</c:v>
                </c:pt>
                <c:pt idx="21">
                  <c:v>0.756</c:v>
                </c:pt>
                <c:pt idx="22">
                  <c:v>0.342</c:v>
                </c:pt>
                <c:pt idx="23">
                  <c:v>0.143</c:v>
                </c:pt>
                <c:pt idx="24">
                  <c:v>0.056</c:v>
                </c:pt>
                <c:pt idx="25">
                  <c:v>0.02</c:v>
                </c:pt>
                <c:pt idx="26">
                  <c:v>0.007</c:v>
                </c:pt>
                <c:pt idx="27">
                  <c:v>0.002</c:v>
                </c:pt>
                <c:pt idx="28">
                  <c:v>0.001</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numCache>
            </c:numRef>
          </c:val>
          <c:smooth val="0"/>
        </c:ser>
        <c:ser>
          <c:idx val="2"/>
          <c:order val="2"/>
          <c:tx>
            <c:strRef>
              <c:f>Sheet1!$D$1</c:f>
              <c:strCache>
                <c:ptCount val="1"/>
                <c:pt idx="0">
                  <c:v>Offer C: barely tried · Beta(2, 9)</c:v>
                </c:pt>
              </c:strCache>
            </c:strRef>
          </c:tx>
          <c:spPr>
            <a:solidFill>
              <a:srgbClr val="D98E2B"/>
            </a:solidFill>
            <a:ln w="38100" cap="flat">
              <a:solidFill>
                <a:srgbClr val="D98E2B"/>
              </a:solidFill>
              <a:prstDash val="solid"/>
              <a:round/>
            </a:ln>
            <a:effectLst/>
          </c:spPr>
          <c:invertIfNegative val="0"/>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c:symbol val="none"/>
            <c:size val="6"/>
            <c:spPr>
              <a:solidFill>
                <a:srgbClr val="D98E2B"/>
              </a:solidFill>
              <a:ln w="9525" cap="flat">
                <a:solidFill>
                  <a:srgbClr val="D98E2B"/>
                </a:solidFill>
                <a:prstDash val="solid"/>
                <a:round/>
              </a:ln>
              <a:effectLst/>
            </c:spPr>
          </c:marker>
          <c:cat>
            <c:multiLvlStrRef>
              <c:f>Sheet1!$A$2:$A$62</c:f>
              <c:multiLvlStrCache>
                <c:ptCount val="6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lvl>
              </c:multiLvlStrCache>
            </c:multiLvlStrRef>
          </c:cat>
          <c:val>
            <c:numRef>
              <c:f>Sheet1!$D$2:$D$62</c:f>
              <c:numCache>
                <c:formatCode>General</c:formatCode>
                <c:ptCount val="61"/>
                <c:pt idx="0">
                  <c:v>0</c:v>
                </c:pt>
                <c:pt idx="1">
                  <c:v>0.83</c:v>
                </c:pt>
                <c:pt idx="2">
                  <c:v>1.531</c:v>
                </c:pt>
                <c:pt idx="3">
                  <c:v>2.116</c:v>
                </c:pt>
                <c:pt idx="4">
                  <c:v>2.597</c:v>
                </c:pt>
                <c:pt idx="5">
                  <c:v>2.985</c:v>
                </c:pt>
                <c:pt idx="6">
                  <c:v>3.292</c:v>
                </c:pt>
                <c:pt idx="7">
                  <c:v>3.525</c:v>
                </c:pt>
                <c:pt idx="8">
                  <c:v>3.695</c:v>
                </c:pt>
                <c:pt idx="9">
                  <c:v>3.809</c:v>
                </c:pt>
                <c:pt idx="10">
                  <c:v>3.874</c:v>
                </c:pt>
                <c:pt idx="11">
                  <c:v>3.897</c:v>
                </c:pt>
                <c:pt idx="12">
                  <c:v>3.884</c:v>
                </c:pt>
                <c:pt idx="13">
                  <c:v>3.84</c:v>
                </c:pt>
                <c:pt idx="14">
                  <c:v>3.77</c:v>
                </c:pt>
                <c:pt idx="15">
                  <c:v>3.679</c:v>
                </c:pt>
                <c:pt idx="16">
                  <c:v>3.569</c:v>
                </c:pt>
                <c:pt idx="17">
                  <c:v>3.446</c:v>
                </c:pt>
                <c:pt idx="18">
                  <c:v>3.312</c:v>
                </c:pt>
                <c:pt idx="19">
                  <c:v>3.169</c:v>
                </c:pt>
                <c:pt idx="20">
                  <c:v>3.02</c:v>
                </c:pt>
                <c:pt idx="21">
                  <c:v>2.867</c:v>
                </c:pt>
                <c:pt idx="22">
                  <c:v>2.713</c:v>
                </c:pt>
                <c:pt idx="23">
                  <c:v>2.558</c:v>
                </c:pt>
                <c:pt idx="24">
                  <c:v>2.404</c:v>
                </c:pt>
                <c:pt idx="25">
                  <c:v>2.253</c:v>
                </c:pt>
                <c:pt idx="26">
                  <c:v>2.104</c:v>
                </c:pt>
                <c:pt idx="27">
                  <c:v>1.96</c:v>
                </c:pt>
                <c:pt idx="28">
                  <c:v>1.82</c:v>
                </c:pt>
                <c:pt idx="29">
                  <c:v>1.685</c:v>
                </c:pt>
                <c:pt idx="30">
                  <c:v>1.556</c:v>
                </c:pt>
                <c:pt idx="31">
                  <c:v>1.433</c:v>
                </c:pt>
                <c:pt idx="32">
                  <c:v>1.317</c:v>
                </c:pt>
                <c:pt idx="33">
                  <c:v>1.206</c:v>
                </c:pt>
                <c:pt idx="34">
                  <c:v>1.102</c:v>
                </c:pt>
                <c:pt idx="35">
                  <c:v>1.004</c:v>
                </c:pt>
                <c:pt idx="36">
                  <c:v>0.912</c:v>
                </c:pt>
                <c:pt idx="37">
                  <c:v>0.826</c:v>
                </c:pt>
                <c:pt idx="38">
                  <c:v>0.747</c:v>
                </c:pt>
                <c:pt idx="39">
                  <c:v>0.673</c:v>
                </c:pt>
                <c:pt idx="40">
                  <c:v>0.605</c:v>
                </c:pt>
                <c:pt idx="41">
                  <c:v>0.542</c:v>
                </c:pt>
                <c:pt idx="42">
                  <c:v>0.484</c:v>
                </c:pt>
                <c:pt idx="43">
                  <c:v>0.431</c:v>
                </c:pt>
                <c:pt idx="44">
                  <c:v>0.383</c:v>
                </c:pt>
                <c:pt idx="45">
                  <c:v>0.339</c:v>
                </c:pt>
                <c:pt idx="46">
                  <c:v>0.299</c:v>
                </c:pt>
                <c:pt idx="47">
                  <c:v>0.263</c:v>
                </c:pt>
                <c:pt idx="48">
                  <c:v>0.231</c:v>
                </c:pt>
                <c:pt idx="49">
                  <c:v>0.202</c:v>
                </c:pt>
                <c:pt idx="50">
                  <c:v>0.176</c:v>
                </c:pt>
                <c:pt idx="51">
                  <c:v>0.153</c:v>
                </c:pt>
                <c:pt idx="52">
                  <c:v>0.132</c:v>
                </c:pt>
                <c:pt idx="53">
                  <c:v>0.114</c:v>
                </c:pt>
                <c:pt idx="54">
                  <c:v>0.097</c:v>
                </c:pt>
                <c:pt idx="55">
                  <c:v>0.083</c:v>
                </c:pt>
                <c:pt idx="56">
                  <c:v>0.071</c:v>
                </c:pt>
                <c:pt idx="57">
                  <c:v>0.06</c:v>
                </c:pt>
                <c:pt idx="58">
                  <c:v>0.051</c:v>
                </c:pt>
                <c:pt idx="59">
                  <c:v>0.042</c:v>
                </c:pt>
                <c:pt idx="60">
                  <c:v>0.035</c:v>
                </c:pt>
              </c:numCache>
            </c:numRef>
          </c:val>
          <c:smooth val="0"/>
        </c:ser>
        <c:dLbls>
          <c:numFmt formatCode="#,##0" sourceLinked="0"/>
          <c:txPr>
            <a:bodyPr/>
            <a:lstStyle/>
            <a:p>
              <a:pPr>
                <a:defRPr b="0" i="0" strike="noStrike" sz="1200" u="none">
                  <a:solidFill>
                    <a:srgbClr val="1320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66773"/>
                    </a:solidFill>
                    <a:latin typeface="Arial"/>
                  </a:defRPr>
                </a:pPr>
                <a:r>
                  <a:rPr sz="1100" b="0" i="0" u="none" strike="noStrike">
                    <a:solidFill>
                      <a:srgbClr val="566773"/>
                    </a:solidFill>
                    <a:latin typeface="Arial"/>
                  </a:rPr>
                  <a:t>take-up rate</a:t>
                </a:r>
              </a:p>
            </c:rich>
          </c:tx>
          <c:layout/>
          <c:overlay val="0"/>
        </c:title>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tickLblSkip val="10"/>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320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Share of the take-ups an oracle would get  ·  ★ serving in the API</a:t>
            </a:r>
          </a:p>
        </c:rich>
      </c:tx>
      <c:layout/>
      <c:overlay val="0"/>
    </c:title>
    <c:autoTitleDeleted val="0"/>
    <c:plotArea>
      <c:layout/>
      <c:barChart>
        <c:barDir val="bar"/>
        <c:grouping val="clustered"/>
        <c:varyColors val="0"/>
        <c:ser>
          <c:idx val="0"/>
          <c:order val="0"/>
          <c:tx>
            <c:strRef>
              <c:f>Sheet1!$B$1</c:f>
              <c:strCache>
                <c:ptCount val="1"/>
                <c:pt idx="0">
                  <c:v>Share of the oracle (tenths of a percent)</c:v>
                </c:pt>
              </c:strCache>
            </c:strRef>
          </c:tx>
          <c:spPr>
            <a:solidFill>
              <a:srgbClr val="5BB6D6"/>
            </a:solidFill>
            <a:effectLst/>
          </c:spPr>
          <c:invertIfNegative val="0"/>
          <c:dLbls>
            <c:numFmt formatCode="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dPt>
            <c:idx val="0"/>
            <c:invertIfNegative val="0"/>
            <c:bubble3D val="0"/>
            <c:spPr>
              <a:solidFill>
                <a:srgbClr val="5BB6D6"/>
              </a:solidFill>
              <a:effectLst/>
            </c:spPr>
          </c:dPt>
          <c:dPt>
            <c:idx val="1"/>
            <c:invertIfNegative val="0"/>
            <c:bubble3D val="0"/>
            <c:spPr>
              <a:solidFill>
                <a:srgbClr val="0D6987"/>
              </a:solidFill>
              <a:effectLst/>
            </c:spPr>
          </c:dPt>
          <c:dPt>
            <c:idx val="2"/>
            <c:invertIfNegative val="0"/>
            <c:bubble3D val="0"/>
            <c:spPr>
              <a:solidFill>
                <a:srgbClr val="9AA9B4"/>
              </a:solidFill>
              <a:effectLst/>
            </c:spPr>
          </c:dPt>
          <c:dPt>
            <c:idx val="3"/>
            <c:invertIfNegative val="0"/>
            <c:bubble3D val="0"/>
            <c:spPr>
              <a:solidFill>
                <a:srgbClr val="9AA9B4"/>
              </a:solidFill>
              <a:effectLst/>
            </c:spPr>
          </c:dPt>
          <c:dPt>
            <c:idx val="4"/>
            <c:invertIfNegative val="0"/>
            <c:bubble3D val="0"/>
            <c:spPr>
              <a:solidFill>
                <a:srgbClr val="9AA9B4"/>
              </a:solidFill>
              <a:effectLst/>
            </c:spPr>
          </c:dPt>
          <c:dPt>
            <c:idx val="5"/>
            <c:invertIfNegative val="0"/>
            <c:bubble3D val="0"/>
            <c:spPr>
              <a:solidFill>
                <a:srgbClr val="9AA9B4"/>
              </a:solidFill>
              <a:effectLst/>
            </c:spPr>
          </c:dPt>
          <c:dPt>
            <c:idx val="6"/>
            <c:invertIfNegative val="0"/>
            <c:bubble3D val="0"/>
            <c:spPr>
              <a:solidFill>
                <a:srgbClr val="9AA9B4"/>
              </a:solidFill>
              <a:effectLst/>
            </c:spPr>
          </c:dPt>
          <c:dPt>
            <c:idx val="7"/>
            <c:invertIfNegative val="0"/>
            <c:bubble3D val="0"/>
            <c:spPr>
              <a:solidFill>
                <a:srgbClr val="9AA9B4"/>
              </a:solidFill>
              <a:effectLst/>
            </c:spPr>
          </c:dPt>
          <c:dPt>
            <c:idx val="8"/>
            <c:invertIfNegative val="0"/>
            <c:bubble3D val="0"/>
            <c:spPr>
              <a:solidFill>
                <a:srgbClr val="D98E2B"/>
              </a:solidFill>
              <a:effectLst/>
            </c:spPr>
          </c:dPt>
          <c:dPt>
            <c:idx val="9"/>
            <c:invertIfNegative val="0"/>
            <c:bubble3D val="0"/>
            <c:spPr>
              <a:solidFill>
                <a:srgbClr val="D98E2B"/>
              </a:solidFill>
              <a:effectLst/>
            </c:spPr>
          </c:dPt>
          <c:cat>
            <c:multiLvlStrRef>
              <c:f>Sheet1!$A$2:$A$11</c:f>
              <c:multiLvlStrCache>
                <c:ptCount val="10"/>
                <c:lvl>
                  <c:pt idx="0">
                    <c:v>Thompson, customer features (sim only)</c:v>
                  </c:pt>
                  <c:pt idx="1">
                    <c:v>Thompson, per segment + forgetting ★</c:v>
                  </c:pt>
                  <c:pt idx="2">
                    <c:v>Thompson, per segment</c:v>
                  </c:pt>
                  <c:pt idx="3">
                    <c:v>Thompson, segment + payday</c:v>
                  </c:pt>
                  <c:pt idx="4">
                    <c:v>ε-greedy, per segment</c:v>
                  </c:pt>
                  <c:pt idx="5">
                    <c:v>Thompson, revenue reward</c:v>
                  </c:pt>
                  <c:pt idx="6">
                    <c:v>Thompson, one global belief</c:v>
                  </c:pt>
                  <c:pt idx="7">
                    <c:v>ε-greedy, one global belief</c:v>
                  </c:pt>
                  <c:pt idx="8">
                    <c:v>Static popularity (batch model)</c:v>
                  </c:pt>
                  <c:pt idx="9">
                    <c:v>Random offers</c:v>
                  </c:pt>
                </c:lvl>
              </c:multiLvlStrCache>
            </c:multiLvlStrRef>
          </c:cat>
          <c:val>
            <c:numRef>
              <c:f>Sheet1!$B$2:$B$11</c:f>
              <c:numCache>
                <c:formatCode>General</c:formatCode>
                <c:ptCount val="10"/>
                <c:pt idx="0">
                  <c:v>942</c:v>
                </c:pt>
                <c:pt idx="1">
                  <c:v>927</c:v>
                </c:pt>
                <c:pt idx="2">
                  <c:v>924</c:v>
                </c:pt>
                <c:pt idx="3">
                  <c:v>923</c:v>
                </c:pt>
                <c:pt idx="4">
                  <c:v>881</c:v>
                </c:pt>
                <c:pt idx="5">
                  <c:v>724</c:v>
                </c:pt>
                <c:pt idx="6">
                  <c:v>677</c:v>
                </c:pt>
                <c:pt idx="7">
                  <c:v>659</c:v>
                </c:pt>
                <c:pt idx="8">
                  <c:v>608</c:v>
                </c:pt>
                <c:pt idx="9">
                  <c:v>526</c:v>
                </c:pt>
              </c:numCache>
            </c:numRef>
          </c:val>
        </c:ser>
        <c:dLbls>
          <c:numFmt formatCode="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catAx>
      <c:valAx>
        <c:axId val="2094734552"/>
        <c:scaling>
          <c:orientation val="minMax"/>
          <c:max val="1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66773"/>
                </a:solidFill>
                <a:latin typeface="+mn-lt"/>
              </a:defRPr>
            </a:pPr>
            <a:r>
              <a:rPr sz="1300" b="0" i="0" u="none" strike="noStrike">
                <a:solidFill>
                  <a:srgbClr val="566773"/>
                </a:solidFill>
                <a:latin typeface="+mn-lt"/>
              </a:rPr>
              <a:t>Take-ups per app open, before and after the shift</a:t>
            </a:r>
          </a:p>
        </c:rich>
      </c:tx>
      <c:layout/>
      <c:overlay val="0"/>
    </c:title>
    <c:autoTitleDeleted val="0"/>
    <c:plotArea>
      <c:layout/>
      <c:barChart>
        <c:barDir val="col"/>
        <c:grouping val="clustered"/>
        <c:varyColors val="0"/>
        <c:ser>
          <c:idx val="0"/>
          <c:order val="0"/>
          <c:tx>
            <c:strRef>
              <c:f>Sheet1!$B$1</c:f>
              <c:strCache>
                <c:ptCount val="1"/>
                <c:pt idx="0">
                  <c:v>Before the shift</c:v>
                </c:pt>
              </c:strCache>
            </c:strRef>
          </c:tx>
          <c:spPr>
            <a:solidFill>
              <a:srgbClr val="9AA9B4"/>
            </a:solidFill>
            <a:effectLst/>
          </c:spPr>
          <c:invertIfNegative val="0"/>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Static batch model</c:v>
                  </c:pt>
                  <c:pt idx="1">
                    <c:v>Thompson per segment</c:v>
                  </c:pt>
                  <c:pt idx="2">
                    <c:v>… + forgetting ★</c:v>
                  </c:pt>
                </c:lvl>
              </c:multiLvlStrCache>
            </c:multiLvlStrRef>
          </c:cat>
          <c:val>
            <c:numRef>
              <c:f>Sheet1!$B$2:$B$4</c:f>
              <c:numCache>
                <c:formatCode>General</c:formatCode>
                <c:ptCount val="3"/>
                <c:pt idx="0">
                  <c:v>168</c:v>
                </c:pt>
                <c:pt idx="1">
                  <c:v>234</c:v>
                </c:pt>
                <c:pt idx="2">
                  <c:v>231</c:v>
                </c:pt>
              </c:numCache>
            </c:numRef>
          </c:val>
        </c:ser>
        <c:ser>
          <c:idx val="1"/>
          <c:order val="1"/>
          <c:tx>
            <c:strRef>
              <c:f>Sheet1!$C$1</c:f>
              <c:strCache>
                <c:ptCount val="1"/>
                <c:pt idx="0">
                  <c:v>After the shift</c:v>
                </c:pt>
              </c:strCache>
            </c:strRef>
          </c:tx>
          <c:spPr>
            <a:solidFill>
              <a:srgbClr val="0D6987"/>
            </a:solidFill>
            <a:effectLst/>
          </c:spPr>
          <c:invertIfNegative val="0"/>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cat>
            <c:multiLvlStrRef>
              <c:f>Sheet1!$A$2:$A$4</c:f>
              <c:multiLvlStrCache>
                <c:ptCount val="3"/>
                <c:lvl>
                  <c:pt idx="0">
                    <c:v>Static batch model</c:v>
                  </c:pt>
                  <c:pt idx="1">
                    <c:v>Thompson per segment</c:v>
                  </c:pt>
                  <c:pt idx="2">
                    <c:v>… + forgetting ★</c:v>
                  </c:pt>
                </c:lvl>
              </c:multiLvlStrCache>
            </c:multiLvlStrRef>
          </c:cat>
          <c:val>
            <c:numRef>
              <c:f>Sheet1!$C$2:$C$4</c:f>
              <c:numCache>
                <c:formatCode>General</c:formatCode>
                <c:ptCount val="3"/>
                <c:pt idx="0">
                  <c:v>175</c:v>
                </c:pt>
                <c:pt idx="1">
                  <c:v>289</c:v>
                </c:pt>
                <c:pt idx="2">
                  <c:v>295</c:v>
                </c:pt>
              </c:numCache>
            </c:numRef>
          </c:val>
        </c:ser>
        <c:dLbls>
          <c:numFmt formatCode="0\.000" sourceLinked="0"/>
          <c:txPr>
            <a:bodyPr/>
            <a:lstStyle/>
            <a:p>
              <a:pPr>
                <a:defRPr b="0" i="0" strike="noStrike" sz="1200" u="none">
                  <a:solidFill>
                    <a:srgbClr val="1320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7E0E5"/>
            </a:solidFill>
            <a:prstDash val="solid"/>
            <a:round/>
          </a:ln>
        </c:spPr>
        <c:txPr>
          <a:bodyPr/>
          <a:lstStyle/>
          <a:p>
            <a:pPr>
              <a:defRPr sz="1200" b="0" i="0" u="none" strike="noStrike">
                <a:solidFill>
                  <a:srgbClr val="13202A"/>
                </a:solidFill>
                <a:latin typeface="+mn-lt"/>
              </a:defRPr>
            </a:pPr>
            <a:endParaRPr lang="en-US"/>
          </a:p>
        </c:txPr>
        <c:crossAx val="2094734552"/>
        <c:crosses val="autoZero"/>
        <c:auto val="1"/>
        <c:lblAlgn val="ctr"/>
        <c:noMultiLvlLbl val="1"/>
      </c:catAx>
      <c:valAx>
        <c:axId val="2094734552"/>
        <c:scaling>
          <c:orientation val="minMax"/>
          <c:max val="3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6677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320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every time a customer opens the app, this system picks three offers and learns from what the customer does with them, immediately.
It's a portfolio project built for your team. It implements the ideas your platform is built on (a dynamic recommender, an options store, real-time feedback, epsilon-greedy and Thompson sampling, forgetting) from scratch in Python. It doesn't use ecosystem.Ai's product.
The cards on the right are a real ranking from the API: the scores are the draws from each offer's belief. Plan: the answer first, then how it works, the evidence, the engineering, and what I'd build next. About 20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result, so the rest is the evidence for it.
+53% take-ups per app open over a static popularity ranking fitted on a month of history: 0.263 against 0.172, with a 95% bootstrap interval of 46 to 61%.
92.7% of an oracle that knows the hidden take-up probabilities. Static gets 60.8%, random 52.6%.
It beat both baselines on regret in every one of 10 seeds, and in all 18 runs of a sensitivity sweep across six variants of the world.
And it's fast enough to sit in the request path: 11 ms p95 per app open on one worker.
If asked 'why trust a simulation?': that's exactly what the evidence section addresses, including where it doesn't prove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room for three offers. The right three depend on who the customer is and the moment: students want the cheapest data; pensioners want airtime, except in SASSA grant week, when they buy electricity; small businesses reach for pay-later mid-month and a big data bundle at payday.
And preferences move. Halfway through the simulated run, streaming goes viral with young professionals, and an electricity price hike turns families from funeral cover to prepaid electricity.
The usual answer, a monthly batch model, is out of date when it ships, never learns about offers it doesn't show, and can't notice the change until someone retrains it. That's the gap a bandit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calls make one turn of the loop. Walk it by the numbers.
1-2: the app sends the customer id; the API looks up the profile and adds the moment: time of day, and whether it's payday week for that segment (the 25th for salaries, the first week for SASSA grants).
3: the policy reads the segment's beliefs from the options store, draws one sample from each eligible offer and shows the three highest.
4: before replying it logs the app open with its full context and the offers shown, in one transaction.
5-6: the response quotes the invocation id. It's logged exactly once; the database's primary key enforces that, so a repeat gets 409 even across workers. A take-up is reward 1, a view 0, and an ignored offer teaches nothing because the customer may never have seen it.
7: in one transaction the segment's evidence shrinks by 0.9998 and the reward is added. The next app open in that segment, on any worker, reads it.
The point of the picture is the blue column: the options store is the only thing that carries learning from one customer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offer has a Beta distribution per segment: a belief about its take-up rate. Narrow means sure, wide means unsure.
To rank, draw one plausible rate from each belief and sort. A is well known and strong, so it usually wins. C has only a handful of responses, so its draws are spread out: it comes first in about 15% of app opens even though its average is lower. B is known to be weaker and almost never wins. That's the whole exploration mechanism: it explores in proportion to doubt and stops as evidence builds, with nothing to tune.
Forgetting: before each update, every belief in the segment shrinks by 0.9998, so roughly the last 5,000 responses count. That's what lets it follow a change in taste.
Likely question: why not UCB? Thompson handles a ranked list and delayed batches naturally, and in this comparison it beat epsilon-greedy in 8 of 10 seeds. UCB would be a fair next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take-up data doesn't come with the answer attached, so I simulated a world that does: 5,000 South African customers, five segments, twelve offers with margins and eligibility rules, and fourteen context effects.
The recommender never sees the truth, and that's enforced by a test, not by convention: any recommender module that imports the simulator or names its files fails the build.
The comparison is built to be fair. Common random numbers: every policy sees the identical sequence of app opens. Regret is measured from expected values, so the curves reflect choices, not luck. Ten seeds, every claim paired seed by seed, with bootstrap intervals. And the static baseline gets a month of history, like a real batch model; the bandits start cold.
If asked about take-up rates: they're 2-20%, higher than the 1-5% typical in practice, so 50,000 rounds is enough to see convergence. The relative patterns matter, not the absolute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the oracle: the take-ups each policy got as a share of what a policy that knows the truth would get. Same 50,000 app opens for every policy, averaged over 10 seeds.
The serving policy, Thompson per segment with forgetting, gets 92.7%. The static batch model gets 60.8%, random 52.6%.
The biggest single step is personalisation: one belief per segment instead of one global belief takes Thompson from 68% to 92%, in 10 of 10 seeds.
The best bar is Thompson on customer features: a Bayesian linear model over 20 features. It wins in all 10 seeds, but the API doesn't serve it yet because its state is a matrix per offer, which the options store can't hold. I chose to recommend only what can actually be switched on.
Be ready to say: the top three per-segment policies are statistically tied; I don't claim forgetting wins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that matters most for the brief. Before the shift the static model looks respectable, because it was fitted on the right month. After the shift it's wrong and stays wrong: 0.168 to 0.175. The learning policies find the new favourites and take-up rises to about 0.29.
Forgetting is what makes it fast: young professionals' new favourite led within 1,460 app opens with forgetting, against 5,601 without. For families, whose old favourite was well known, 7,980 app opens with forgetting, and not within the run without.
It's a trade: forgetting lowered post-shift regret in 10 of 10 seeds, but cost a little before the shift. The sensitivity sweep says it pays in 3 of 6 worlds, so in production gamma is a dial to tune on real traffic.
Caveat if asked: the convergence counts are from the first seed, and the 80%-of-last-100 threshold is a judgement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in the results says how many runs back it, and calls a tie a tie.
The top three per-segment Thompson policies are within the noise, so I don't crown one.
Thompson beats epsilon-greedy with the same segments in 8 of 10 seeds: epsilon-greedy keeps spending slots on offers it already knows are poor.
The reward changes the business outcome: learning from margin earns 38% more revenue for 22% fewer take-ups. Which is right is a product decision, and the system makes it a one-line config change.
The challenge I'd raise myself: I built the world, so of course my method wins. The sensitivity sweep changes one assumption at a time across six worlds; it beat both baselines in all 18 runs.
Forgetting only pays in half of those worlds.
And the honest limit: this shows the mechanism works and how its parts compare, not the uplift in a real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FastAPI with synchronous endpoints on a thread pool, SQLAlchemy Core on Postgres (SQLite when there's no .env, so a clean machine works), a Streamlit dashboard, Docker Compose for the whole system.
The properties I cared about are the ones a real deployment breaks on: idempotency enforced by the database, learning computed atomically in SQL, and the event log as the source of truth.
Latency was measured, not estimated: a benchmark script drives a real uvicorn server over HTTP against Postgres. 11 ms p95 on one worker; 224 requests a second with four workers in Docker, p95 under 25 ms up to four concurrent clients. Past that, commit flushes to Docker Desktop's virtual disk dominate.
CI runs lint, type checks, a docs-freshness check and the full suite on SQLite and Postgres, plus a job that proves the three-command setup on a clean runner.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stories I'd most like to tell, because each one was invisible until I measured it.
1. My first learning step read the row, changed it in Python and wrote it back. A test with four threads lost 74% of updates. FastAPI runs handlers on parallel threads, so the API would have silently dropped learning under load. The fix computes the update inside the database in one statement.
2. Idempotency looked fine on SQLite. On Postgres, the driver reports rowcount -1 for ON CONFLICT DO NOTHING, so the duplicate check never fired: eight simultaneous copies of one take-up were all learned. Now the insert returns the key and no row back means a duplicate. The bug only existed on the production database, which is why the tests now run on both.
3. With four workers, forgetting updates to one segment deadlocked. Postgres's log showed rows locked in different orders. A per-context advisory lock fixes the order; I chose that over a retry loop, which would have hidden the cause.
4. The Docker API looked slow from the host: 55 ms p50. In-process the endpoint took 10 ms. The extra 45 ms was Docker Desktop's port forwarding on Windows, so I measured from a container on the same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time, switch to the live demo here; otherwise this screenshot carries it.
Start with python manage.py runserver: it starts the API, waits for it to be healthy, then starts the dashboard. Sign in as an admin.
Try it: pick a student, open the app, take up the first offer. The belief updates in the database before the page refreshes: mean take-up 5.0% to 9.5% on 19 responses' worth of evidence.
Live view: run a simulation through the API and watch app opens and outcomes arrive every three seconds.
Algorithm comparison: the findings as a data story.
Backup plan if the demo misbehaves: the screenshots are in docs/dashboard.html.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my own architecture as if it were someone else's. In order:
Harden: each worker holds a lock while it reads beliefs from the database, so app opens for the serving policy queue behind each other; reading outside the lock is a small change. Logging and learning are two transactions today: if a process dies between them, that response is never learned, so either one transaction or a replay tool. And the logged context should carry a version.
Scale: learning off the request path through a stream or an outbox; lazy forgetting, storing an update counter and applying gamma to the power of the gap on read, so an update writes one row; beliefs cached in memory.
Product: serve the feature model; guardrails, including affordability checks because the pay-later voucher is credit under the National Credit Act; continuous measurement with a holdout, and logged propensities so a new policy can be evaluated offline before it serves anyone. Plus an attribution window for take-ups that arrive hours later, and POPIA-compliant data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the ideas in the brief to where they live in the code. I built them from first principles to understand them properly, so I can talk about the trade-offs behind each one: why the options store holds counts rather than alpha and beta, why forgetting shrinks every offer in a context and not just the one shown, why an ignored offer teaches nothing.
Be clear that it doesn't use ecosystem.Ai's product or APIs; it's my own implementation of the same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this says about how I work, not on the algorithm.
I measure before I claim, and I say where the evidence stops. I build for the failures real systems have: duplicates, concurrency, latency. And I treat the reward and the guardrails as business decisions to make explicit, not modelling details.
Then open for questions. Likely ones, with short answers:
- Cold start for a new offer? It starts at Beta(1,1), so its draws are wide and it gets explored straight away; a prior from similar offers would cut that cost.
- Delayed take-ups? An attribution window, and learning from a stream rather than in the request path.
- Position bias? The simulator models attention by position; production would log propensities and use inverse-propensity weighting offline.
- Why segments, not features? Segments are servable today and get 92%; features get 94% and are the next step once the store can hold their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675120" cy="320040"/>
          </a:xfrm>
          <a:prstGeom prst="rect">
            <a:avLst/>
          </a:prstGeom>
          <a:noFill/>
          <a:ln/>
        </p:spPr>
        <p:txBody>
          <a:bodyPr wrap="square" rtlCol="0"/>
          <a:lstStyle>
            <a:lvl1pPr indent="0" marL="0">
              <a:buNone/>
              <a:defRPr lang="en-US" sz="1200" b="1" spc="15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1600200"/>
            <a:ext cx="66751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474720"/>
            <a:ext cx="6309360" cy="118872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rtlCol="0"/>
          <a:lstStyle>
            <a:lvl1pPr indent="0" marL="0">
              <a:buNone/>
              <a:defRPr lang="en-US" sz="1400" b="1" dirty="0">
                <a:solidFill>
                  <a:schemeClr val="accent5"/>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tx2"/>
                </a:solidFill>
              </a:rPr>
              <a:t>Sean Mukariri  ·  Real-time offer recommender</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675120" cy="320040"/>
          </a:xfrm>
          <a:prstGeom prst="rect">
            <a:avLst/>
          </a:prstGeom>
          <a:noFill/>
          <a:ln/>
        </p:spPr>
        <p:txBody>
          <a:bodyPr wrap="square" lIns="0" tIns="0" rIns="0" bIns="0" rtlCol="0" anchor="t"/>
          <a:lstStyle/>
          <a:p>
            <a:pPr indent="0" marL="0">
              <a:buNone/>
            </a:pPr>
            <a:r>
              <a:rPr lang="en-US" sz="1200" b="1" spc="150" kern="0" dirty="0">
                <a:solidFill>
                  <a:schemeClr val="accent5"/>
                </a:solidFill>
              </a:rPr>
              <a:t>PORTFOLIO PROJECT  ·  FOR THE ECOSYSTEM.AI TECHNICAL TEAM</a:t>
            </a:r>
            <a:endParaRPr lang="en-US" sz="1200" dirty="0"/>
          </a:p>
        </p:txBody>
      </p:sp>
      <p:sp>
        <p:nvSpPr>
          <p:cNvPr id="3" name="Text 0"/>
          <p:cNvSpPr/>
          <p:nvPr>
            <p:ph idx="101" type="title" hasCustomPrompt="1"/>
          </p:nvPr>
        </p:nvSpPr>
        <p:spPr>
          <a:xfrm>
            <a:off x="548640" y="1600200"/>
            <a:ext cx="6675120" cy="1737360"/>
          </a:xfrm>
          <a:prstGeom prst="rect">
            <a:avLst/>
          </a:prstGeom>
          <a:noFill/>
          <a:ln/>
        </p:spPr>
        <p:txBody>
          <a:bodyPr wrap="square" lIns="0" tIns="0" rIns="0" bIns="0" rtlCol="0" anchor="t"/>
          <a:lstStyle/>
          <a:p>
            <a:pPr algn="l" indent="0" marL="0">
              <a:buNone/>
            </a:pPr>
            <a:r>
              <a:rPr lang="en-US" sz="4400" b="1" dirty="0">
                <a:solidFill>
                  <a:schemeClr val="bg1"/>
                </a:solidFill>
              </a:rPr>
              <a:t>A recommender that learns from every tap</a:t>
            </a:r>
            <a:endParaRPr lang="en-US" sz="4400" dirty="0"/>
          </a:p>
        </p:txBody>
      </p:sp>
      <p:sp>
        <p:nvSpPr>
          <p:cNvPr id="4" name="Text 0"/>
          <p:cNvSpPr/>
          <p:nvPr>
            <p:ph idx="102" type="body" hasCustomPrompt="1"/>
          </p:nvPr>
        </p:nvSpPr>
        <p:spPr>
          <a:xfrm>
            <a:off x="548640" y="3474720"/>
            <a:ext cx="6309360" cy="1188720"/>
          </a:xfrm>
          <a:prstGeom prst="rect">
            <a:avLst/>
          </a:prstGeom>
          <a:noFill/>
          <a:ln/>
        </p:spPr>
        <p:txBody>
          <a:bodyPr wrap="square" lIns="0" tIns="0" rIns="0" bIns="0" rtlCol="0" anchor="t"/>
          <a:lstStyle/>
          <a:p>
            <a:pPr indent="0" marL="0">
              <a:buNone/>
            </a:pPr>
            <a:r>
              <a:rPr lang="en-US" sz="1700" dirty="0">
                <a:solidFill>
                  <a:schemeClr val="bg2"/>
                </a:solidFill>
              </a:rPr>
              <a:t>Real-time offer ranking for a telco and fintech app: contextual Thompson sampling, built from scratch and tested against a world with a known answer.</a:t>
            </a:r>
            <a:endParaRPr lang="en-US" sz="1700" dirty="0"/>
          </a:p>
        </p:txBody>
      </p:sp>
      <p:sp>
        <p:nvSpPr>
          <p:cNvPr id="5" name="Text 0"/>
          <p:cNvSpPr/>
          <p:nvPr>
            <p:ph idx="103" type="body" hasCustomPrompt="1"/>
          </p:nvPr>
        </p:nvSpPr>
        <p:spPr>
          <a:xfrm>
            <a:off x="548640" y="5486400"/>
            <a:ext cx="6400800" cy="365760"/>
          </a:xfrm>
          <a:prstGeom prst="rect">
            <a:avLst/>
          </a:prstGeom>
          <a:noFill/>
          <a:ln/>
        </p:spPr>
        <p:txBody>
          <a:bodyPr wrap="square" lIns="0" tIns="0" rIns="0" bIns="0" rtlCol="0" anchor="t"/>
          <a:lstStyle/>
          <a:p>
            <a:pPr indent="0" marL="0">
              <a:buNone/>
            </a:pPr>
            <a:r>
              <a:rPr lang="en-US" sz="1400" b="1" dirty="0">
                <a:solidFill>
                  <a:schemeClr val="accent5"/>
                </a:solidFill>
              </a:rPr>
              <a:t>Sean Mukariri  ·  October 2026</a:t>
            </a:r>
            <a:endParaRPr lang="en-US" sz="1400" dirty="0"/>
          </a:p>
        </p:txBody>
      </p:sp>
      <p:sp>
        <p:nvSpPr>
          <p:cNvPr id="6" name="Text 1"/>
          <p:cNvSpPr txBox="1"/>
          <p:nvPr/>
        </p:nvSpPr>
        <p:spPr>
          <a:xfrm>
            <a:off x="7726680" y="1600200"/>
            <a:ext cx="3913632" cy="274320"/>
          </a:xfrm>
          <a:prstGeom prst="rect">
            <a:avLst/>
          </a:prstGeom>
          <a:noFill/>
          <a:ln/>
        </p:spPr>
        <p:txBody>
          <a:bodyPr wrap="square" lIns="0" tIns="0" rIns="0" bIns="0" rtlCol="0" anchor="t"/>
          <a:lstStyle/>
          <a:p>
            <a:pPr indent="0" marL="0">
              <a:buNone/>
            </a:pPr>
            <a:r>
              <a:rPr lang="en-US" sz="1200" b="1" dirty="0">
                <a:solidFill>
                  <a:schemeClr val="accent5"/>
                </a:solidFill>
              </a:rPr>
              <a:t>Customer C00042  ·  small business  ·  one app open</a:t>
            </a:r>
            <a:endParaRPr lang="en-US" sz="1200" dirty="0"/>
          </a:p>
        </p:txBody>
      </p:sp>
      <p:sp>
        <p:nvSpPr>
          <p:cNvPr id="7" name="Card 2"/>
          <p:cNvSpPr/>
          <p:nvPr/>
        </p:nvSpPr>
        <p:spPr>
          <a:xfrm>
            <a:off x="7726680" y="2011680"/>
            <a:ext cx="3913632" cy="804672"/>
          </a:xfrm>
          <a:prstGeom prst="roundRect">
            <a:avLst>
              <a:gd name="adj" fmla="val 9091"/>
            </a:avLst>
          </a:prstGeom>
          <a:solidFill>
            <a:schemeClr val="bg1">
              <a:alpha val="12000"/>
            </a:schemeClr>
          </a:solidFill>
          <a:ln/>
        </p:spPr>
      </p:sp>
      <p:sp>
        <p:nvSpPr>
          <p:cNvPr id="8" name="Step 3"/>
          <p:cNvSpPr txBox="1"/>
          <p:nvPr/>
        </p:nvSpPr>
        <p:spPr>
          <a:xfrm>
            <a:off x="7927848" y="220370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4"/>
          <p:cNvSpPr txBox="1"/>
          <p:nvPr/>
        </p:nvSpPr>
        <p:spPr>
          <a:xfrm>
            <a:off x="8513064" y="2139696"/>
            <a:ext cx="2331720" cy="310896"/>
          </a:xfrm>
          <a:prstGeom prst="rect">
            <a:avLst/>
          </a:prstGeom>
          <a:noFill/>
          <a:ln/>
        </p:spPr>
        <p:txBody>
          <a:bodyPr wrap="square" lIns="0" tIns="0" rIns="0" bIns="0" rtlCol="0" anchor="t"/>
          <a:lstStyle/>
          <a:p>
            <a:pPr indent="0" marL="0">
              <a:buNone/>
            </a:pPr>
            <a:r>
              <a:rPr lang="en-US" sz="1600" b="1" dirty="0">
                <a:solidFill>
                  <a:schemeClr val="bg1"/>
                </a:solidFill>
              </a:rPr>
              <a:t>Pay-later R500 voucher</a:t>
            </a:r>
            <a:endParaRPr lang="en-US" sz="1600" dirty="0"/>
          </a:p>
        </p:txBody>
      </p:sp>
      <p:sp>
        <p:nvSpPr>
          <p:cNvPr id="10" name="Text 5"/>
          <p:cNvSpPr txBox="1"/>
          <p:nvPr/>
        </p:nvSpPr>
        <p:spPr>
          <a:xfrm>
            <a:off x="8513064" y="2468880"/>
            <a:ext cx="2331720" cy="237744"/>
          </a:xfrm>
          <a:prstGeom prst="rect">
            <a:avLst/>
          </a:prstGeom>
          <a:noFill/>
          <a:ln/>
        </p:spPr>
        <p:txBody>
          <a:bodyPr wrap="square" lIns="0" tIns="0" rIns="0" bIns="0" rtlCol="0" anchor="t"/>
          <a:lstStyle/>
          <a:p>
            <a:pPr indent="0" marL="0">
              <a:buNone/>
            </a:pPr>
            <a:r>
              <a:rPr lang="en-US" sz="1200" dirty="0">
                <a:solidFill>
                  <a:schemeClr val="bg2"/>
                </a:solidFill>
              </a:rPr>
              <a:t>credit  ·  R500</a:t>
            </a:r>
            <a:endParaRPr lang="en-US" sz="1200" dirty="0"/>
          </a:p>
        </p:txBody>
      </p:sp>
      <p:sp>
        <p:nvSpPr>
          <p:cNvPr id="11" name="Text 6"/>
          <p:cNvSpPr txBox="1"/>
          <p:nvPr/>
        </p:nvSpPr>
        <p:spPr>
          <a:xfrm>
            <a:off x="10789920" y="223113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0.31</a:t>
            </a:r>
            <a:endParaRPr lang="en-US" sz="2000" dirty="0"/>
          </a:p>
        </p:txBody>
      </p:sp>
      <p:sp>
        <p:nvSpPr>
          <p:cNvPr id="12" name="Card 7"/>
          <p:cNvSpPr/>
          <p:nvPr/>
        </p:nvSpPr>
        <p:spPr>
          <a:xfrm>
            <a:off x="7726680" y="2971800"/>
            <a:ext cx="3913632" cy="804672"/>
          </a:xfrm>
          <a:prstGeom prst="roundRect">
            <a:avLst>
              <a:gd name="adj" fmla="val 9091"/>
            </a:avLst>
          </a:prstGeom>
          <a:solidFill>
            <a:schemeClr val="bg1">
              <a:alpha val="12000"/>
            </a:schemeClr>
          </a:solidFill>
          <a:ln/>
        </p:spPr>
      </p:sp>
      <p:sp>
        <p:nvSpPr>
          <p:cNvPr id="13" name="Step 8"/>
          <p:cNvSpPr txBox="1"/>
          <p:nvPr/>
        </p:nvSpPr>
        <p:spPr>
          <a:xfrm>
            <a:off x="7927848" y="316382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9"/>
          <p:cNvSpPr txBox="1"/>
          <p:nvPr/>
        </p:nvSpPr>
        <p:spPr>
          <a:xfrm>
            <a:off x="8513064" y="3099816"/>
            <a:ext cx="2331720" cy="310896"/>
          </a:xfrm>
          <a:prstGeom prst="rect">
            <a:avLst/>
          </a:prstGeom>
          <a:noFill/>
          <a:ln/>
        </p:spPr>
        <p:txBody>
          <a:bodyPr wrap="square" lIns="0" tIns="0" rIns="0" bIns="0" rtlCol="0" anchor="t"/>
          <a:lstStyle/>
          <a:p>
            <a:pPr indent="0" marL="0">
              <a:buNone/>
            </a:pPr>
            <a:r>
              <a:rPr lang="en-US" sz="1600" b="1" dirty="0">
                <a:solidFill>
                  <a:schemeClr val="bg1"/>
                </a:solidFill>
              </a:rPr>
              <a:t>R50 airtime + 10% bonus</a:t>
            </a:r>
            <a:endParaRPr lang="en-US" sz="1600" dirty="0"/>
          </a:p>
        </p:txBody>
      </p:sp>
      <p:sp>
        <p:nvSpPr>
          <p:cNvPr id="15" name="Text 10"/>
          <p:cNvSpPr txBox="1"/>
          <p:nvPr/>
        </p:nvSpPr>
        <p:spPr>
          <a:xfrm>
            <a:off x="8513064" y="3429000"/>
            <a:ext cx="2331720" cy="237744"/>
          </a:xfrm>
          <a:prstGeom prst="rect">
            <a:avLst/>
          </a:prstGeom>
          <a:noFill/>
          <a:ln/>
        </p:spPr>
        <p:txBody>
          <a:bodyPr wrap="square" lIns="0" tIns="0" rIns="0" bIns="0" rtlCol="0" anchor="t"/>
          <a:lstStyle/>
          <a:p>
            <a:pPr indent="0" marL="0">
              <a:buNone/>
            </a:pPr>
            <a:r>
              <a:rPr lang="en-US" sz="1200" dirty="0">
                <a:solidFill>
                  <a:schemeClr val="bg2"/>
                </a:solidFill>
              </a:rPr>
              <a:t>airtime  ·  R50</a:t>
            </a:r>
            <a:endParaRPr lang="en-US" sz="1200" dirty="0"/>
          </a:p>
        </p:txBody>
      </p:sp>
      <p:sp>
        <p:nvSpPr>
          <p:cNvPr id="16" name="Text 11"/>
          <p:cNvSpPr txBox="1"/>
          <p:nvPr/>
        </p:nvSpPr>
        <p:spPr>
          <a:xfrm>
            <a:off x="10789920" y="319125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0.25</a:t>
            </a:r>
            <a:endParaRPr lang="en-US" sz="2000" dirty="0"/>
          </a:p>
        </p:txBody>
      </p:sp>
      <p:sp>
        <p:nvSpPr>
          <p:cNvPr id="17" name="Card 12"/>
          <p:cNvSpPr/>
          <p:nvPr/>
        </p:nvSpPr>
        <p:spPr>
          <a:xfrm>
            <a:off x="7726680" y="3931920"/>
            <a:ext cx="3913632" cy="804672"/>
          </a:xfrm>
          <a:prstGeom prst="roundRect">
            <a:avLst>
              <a:gd name="adj" fmla="val 9091"/>
            </a:avLst>
          </a:prstGeom>
          <a:solidFill>
            <a:schemeClr val="bg1">
              <a:alpha val="12000"/>
            </a:schemeClr>
          </a:solidFill>
          <a:ln/>
        </p:spPr>
      </p:sp>
      <p:sp>
        <p:nvSpPr>
          <p:cNvPr id="18" name="Step 13"/>
          <p:cNvSpPr txBox="1"/>
          <p:nvPr/>
        </p:nvSpPr>
        <p:spPr>
          <a:xfrm>
            <a:off x="7927848" y="4123944"/>
            <a:ext cx="420624" cy="42062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4"/>
          <p:cNvSpPr txBox="1"/>
          <p:nvPr/>
        </p:nvSpPr>
        <p:spPr>
          <a:xfrm>
            <a:off x="8513064" y="4059936"/>
            <a:ext cx="2331720" cy="310896"/>
          </a:xfrm>
          <a:prstGeom prst="rect">
            <a:avLst/>
          </a:prstGeom>
          <a:noFill/>
          <a:ln/>
        </p:spPr>
        <p:txBody>
          <a:bodyPr wrap="square" lIns="0" tIns="0" rIns="0" bIns="0" rtlCol="0" anchor="t"/>
          <a:lstStyle/>
          <a:p>
            <a:pPr indent="0" marL="0">
              <a:buNone/>
            </a:pPr>
            <a:r>
              <a:rPr lang="en-US" sz="1600" b="1" dirty="0">
                <a:solidFill>
                  <a:schemeClr val="bg1"/>
                </a:solidFill>
              </a:rPr>
              <a:t>20GB data bundle</a:t>
            </a:r>
            <a:endParaRPr lang="en-US" sz="1600" dirty="0"/>
          </a:p>
        </p:txBody>
      </p:sp>
      <p:sp>
        <p:nvSpPr>
          <p:cNvPr id="20" name="Text 15"/>
          <p:cNvSpPr txBox="1"/>
          <p:nvPr/>
        </p:nvSpPr>
        <p:spPr>
          <a:xfrm>
            <a:off x="8513064" y="4389120"/>
            <a:ext cx="2331720" cy="237744"/>
          </a:xfrm>
          <a:prstGeom prst="rect">
            <a:avLst/>
          </a:prstGeom>
          <a:noFill/>
          <a:ln/>
        </p:spPr>
        <p:txBody>
          <a:bodyPr wrap="square" lIns="0" tIns="0" rIns="0" bIns="0" rtlCol="0" anchor="t"/>
          <a:lstStyle/>
          <a:p>
            <a:pPr indent="0" marL="0">
              <a:buNone/>
            </a:pPr>
            <a:r>
              <a:rPr lang="en-US" sz="1200" dirty="0">
                <a:solidFill>
                  <a:schemeClr val="bg2"/>
                </a:solidFill>
              </a:rPr>
              <a:t>data  ·  R449</a:t>
            </a:r>
            <a:endParaRPr lang="en-US" sz="1200" dirty="0"/>
          </a:p>
        </p:txBody>
      </p:sp>
      <p:sp>
        <p:nvSpPr>
          <p:cNvPr id="21" name="Text 16"/>
          <p:cNvSpPr txBox="1"/>
          <p:nvPr/>
        </p:nvSpPr>
        <p:spPr>
          <a:xfrm>
            <a:off x="10789920" y="4151376"/>
            <a:ext cx="685800" cy="365760"/>
          </a:xfrm>
          <a:prstGeom prst="rect">
            <a:avLst/>
          </a:prstGeom>
          <a:noFill/>
          <a:ln/>
        </p:spPr>
        <p:txBody>
          <a:bodyPr wrap="square" lIns="0" tIns="0" rIns="0" bIns="0" rtlCol="0" anchor="t"/>
          <a:lstStyle/>
          <a:p>
            <a:pPr algn="r" indent="0" marL="0">
              <a:buNone/>
            </a:pPr>
            <a:r>
              <a:rPr lang="en-US" sz="2000" b="1" dirty="0">
                <a:solidFill>
                  <a:schemeClr val="accent5"/>
                </a:solidFill>
                <a:latin typeface="+mj-lt" pitchFamily="34" charset="0"/>
                <a:ea typeface="+mj-lt" pitchFamily="34" charset="-122"/>
                <a:cs typeface="+mj-lt" pitchFamily="34" charset="-120"/>
              </a:rPr>
              <a:t>0.19</a:t>
            </a:r>
            <a:endParaRPr lang="en-US" sz="2000" dirty="0"/>
          </a:p>
        </p:txBody>
      </p:sp>
      <p:sp>
        <p:nvSpPr>
          <p:cNvPr id="22" name="Text 17"/>
          <p:cNvSpPr txBox="1"/>
          <p:nvPr/>
        </p:nvSpPr>
        <p:spPr>
          <a:xfrm>
            <a:off x="7726680" y="4937760"/>
            <a:ext cx="3913632" cy="548640"/>
          </a:xfrm>
          <a:prstGeom prst="rect">
            <a:avLst/>
          </a:prstGeom>
          <a:noFill/>
          <a:ln/>
        </p:spPr>
        <p:txBody>
          <a:bodyPr wrap="square" lIns="0" tIns="0" rIns="0" bIns="0" rtlCol="0" anchor="t"/>
          <a:lstStyle/>
          <a:p>
            <a:pPr indent="0" marL="0">
              <a:buNone/>
            </a:pPr>
            <a:r>
              <a:rPr lang="en-US" sz="1200" i="1" dirty="0">
                <a:solidFill>
                  <a:schemeClr val="bg2"/>
                </a:solidFill>
              </a:rPr>
              <a:t>Ranked by one draw from each offer's belief. A take-up updates that belief before the next customer arrives.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ANSWER UP FRONT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It beats a fixed ranking in every run</a:t>
            </a:r>
            <a:endParaRPr lang="en-US" sz="3600" dirty="0"/>
          </a:p>
        </p:txBody>
      </p:sp>
      <p:sp>
        <p:nvSpPr>
          <p:cNvPr id="4" name="Text 18"/>
          <p:cNvSpPr txBox="1"/>
          <p:nvPr/>
        </p:nvSpPr>
        <p:spPr>
          <a:xfrm>
            <a:off x="548640" y="1572768"/>
            <a:ext cx="10241280" cy="594360"/>
          </a:xfrm>
          <a:prstGeom prst="rect">
            <a:avLst/>
          </a:prstGeom>
          <a:noFill/>
          <a:ln/>
        </p:spPr>
        <p:txBody>
          <a:bodyPr wrap="square" lIns="0" tIns="0" rIns="0" bIns="0" rtlCol="0" anchor="t"/>
          <a:lstStyle/>
          <a:p>
            <a:pPr indent="0" marL="0">
              <a:buNone/>
            </a:pPr>
            <a:r>
              <a:rPr lang="en-US" sz="1600" dirty="0">
                <a:solidFill>
                  <a:schemeClr val="tx2"/>
                </a:solidFill>
              </a:rPr>
              <a:t>Thompson sampling with one belief per customer segment, learning from every response inside the API, against the batch model a telco runs today and random offers.</a:t>
            </a:r>
            <a:endParaRPr lang="en-US" sz="1600" dirty="0"/>
          </a:p>
        </p:txBody>
      </p:sp>
      <p:sp>
        <p:nvSpPr>
          <p:cNvPr id="5" name="Card 19"/>
          <p:cNvSpPr/>
          <p:nvPr/>
        </p:nvSpPr>
        <p:spPr>
          <a:xfrm>
            <a:off x="548640" y="2423160"/>
            <a:ext cx="2567864" cy="2514600"/>
          </a:xfrm>
          <a:prstGeom prst="roundRect">
            <a:avLst>
              <a:gd name="adj" fmla="val 2909"/>
            </a:avLst>
          </a:prstGeom>
          <a:solidFill>
            <a:schemeClr val="bg2"/>
          </a:solidFill>
          <a:ln/>
        </p:spPr>
      </p:sp>
      <p:sp>
        <p:nvSpPr>
          <p:cNvPr id="6" name="Text 20"/>
          <p:cNvSpPr txBox="1"/>
          <p:nvPr/>
        </p:nvSpPr>
        <p:spPr>
          <a:xfrm>
            <a:off x="777240"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+53%</a:t>
            </a:r>
            <a:endParaRPr lang="en-US" sz="4000" dirty="0"/>
          </a:p>
        </p:txBody>
      </p:sp>
      <p:sp>
        <p:nvSpPr>
          <p:cNvPr id="7" name="Text 21"/>
          <p:cNvSpPr txBox="1"/>
          <p:nvPr/>
        </p:nvSpPr>
        <p:spPr>
          <a:xfrm>
            <a:off x="777240"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more take-ups per app open than the static batch model</a:t>
            </a:r>
            <a:endParaRPr lang="en-US" sz="1500" dirty="0"/>
          </a:p>
        </p:txBody>
      </p:sp>
      <p:sp>
        <p:nvSpPr>
          <p:cNvPr id="8" name="Text 22"/>
          <p:cNvSpPr txBox="1"/>
          <p:nvPr/>
        </p:nvSpPr>
        <p:spPr>
          <a:xfrm>
            <a:off x="777240" y="4389120"/>
            <a:ext cx="2110664" cy="365760"/>
          </a:xfrm>
          <a:prstGeom prst="rect">
            <a:avLst/>
          </a:prstGeom>
          <a:noFill/>
          <a:ln/>
        </p:spPr>
        <p:txBody>
          <a:bodyPr wrap="square" lIns="0" tIns="0" rIns="0" bIns="0" rtlCol="0" anchor="t"/>
          <a:lstStyle/>
          <a:p>
            <a:pPr indent="0" marL="0">
              <a:buNone/>
            </a:pPr>
            <a:r>
              <a:rPr lang="en-US" sz="1200" dirty="0">
                <a:solidFill>
                  <a:schemeClr val="tx2"/>
                </a:solidFill>
              </a:rPr>
              <a:t>95% interval 46–61%</a:t>
            </a:r>
            <a:endParaRPr lang="en-US" sz="1200" dirty="0"/>
          </a:p>
        </p:txBody>
      </p:sp>
      <p:sp>
        <p:nvSpPr>
          <p:cNvPr id="9" name="Card 23"/>
          <p:cNvSpPr/>
          <p:nvPr/>
        </p:nvSpPr>
        <p:spPr>
          <a:xfrm>
            <a:off x="3390824" y="2423160"/>
            <a:ext cx="2567864" cy="2514600"/>
          </a:xfrm>
          <a:prstGeom prst="roundRect">
            <a:avLst>
              <a:gd name="adj" fmla="val 2909"/>
            </a:avLst>
          </a:prstGeom>
          <a:solidFill>
            <a:schemeClr val="bg2"/>
          </a:solidFill>
          <a:ln/>
        </p:spPr>
      </p:sp>
      <p:sp>
        <p:nvSpPr>
          <p:cNvPr id="10" name="Text 24"/>
          <p:cNvSpPr txBox="1"/>
          <p:nvPr/>
        </p:nvSpPr>
        <p:spPr>
          <a:xfrm>
            <a:off x="3619424"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92.7%</a:t>
            </a:r>
            <a:endParaRPr lang="en-US" sz="4000" dirty="0"/>
          </a:p>
        </p:txBody>
      </p:sp>
      <p:sp>
        <p:nvSpPr>
          <p:cNvPr id="11" name="Text 25"/>
          <p:cNvSpPr txBox="1"/>
          <p:nvPr/>
        </p:nvSpPr>
        <p:spPr>
          <a:xfrm>
            <a:off x="3619424"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of the take-ups an all-knowing oracle would get</a:t>
            </a:r>
            <a:endParaRPr lang="en-US" sz="1500" dirty="0"/>
          </a:p>
        </p:txBody>
      </p:sp>
      <p:sp>
        <p:nvSpPr>
          <p:cNvPr id="12" name="Text 26"/>
          <p:cNvSpPr txBox="1"/>
          <p:nvPr/>
        </p:nvSpPr>
        <p:spPr>
          <a:xfrm>
            <a:off x="3619424" y="4389120"/>
            <a:ext cx="2110664" cy="365760"/>
          </a:xfrm>
          <a:prstGeom prst="rect">
            <a:avLst/>
          </a:prstGeom>
          <a:noFill/>
          <a:ln/>
        </p:spPr>
        <p:txBody>
          <a:bodyPr wrap="square" lIns="0" tIns="0" rIns="0" bIns="0" rtlCol="0" anchor="t"/>
          <a:lstStyle/>
          <a:p>
            <a:pPr indent="0" marL="0">
              <a:buNone/>
            </a:pPr>
            <a:r>
              <a:rPr lang="en-US" sz="1200" dirty="0">
                <a:solidFill>
                  <a:schemeClr val="tx2"/>
                </a:solidFill>
              </a:rPr>
              <a:t>static 60.8%  ·  random 52.6%</a:t>
            </a:r>
            <a:endParaRPr lang="en-US" sz="1200" dirty="0"/>
          </a:p>
        </p:txBody>
      </p:sp>
      <p:sp>
        <p:nvSpPr>
          <p:cNvPr id="13" name="Card 27"/>
          <p:cNvSpPr/>
          <p:nvPr/>
        </p:nvSpPr>
        <p:spPr>
          <a:xfrm>
            <a:off x="6233008" y="2423160"/>
            <a:ext cx="2567864" cy="2514600"/>
          </a:xfrm>
          <a:prstGeom prst="roundRect">
            <a:avLst>
              <a:gd name="adj" fmla="val 2909"/>
            </a:avLst>
          </a:prstGeom>
          <a:solidFill>
            <a:schemeClr val="bg2"/>
          </a:solidFill>
          <a:ln/>
        </p:spPr>
      </p:sp>
      <p:sp>
        <p:nvSpPr>
          <p:cNvPr id="14" name="Text 28"/>
          <p:cNvSpPr txBox="1"/>
          <p:nvPr/>
        </p:nvSpPr>
        <p:spPr>
          <a:xfrm>
            <a:off x="6461608"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10 of 10</a:t>
            </a:r>
            <a:endParaRPr lang="en-US" sz="4000" dirty="0"/>
          </a:p>
        </p:txBody>
      </p:sp>
      <p:sp>
        <p:nvSpPr>
          <p:cNvPr id="15" name="Text 29"/>
          <p:cNvSpPr txBox="1"/>
          <p:nvPr/>
        </p:nvSpPr>
        <p:spPr>
          <a:xfrm>
            <a:off x="6461608"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seeds where it beat both baselines on regret</a:t>
            </a:r>
            <a:endParaRPr lang="en-US" sz="1500" dirty="0"/>
          </a:p>
        </p:txBody>
      </p:sp>
      <p:sp>
        <p:nvSpPr>
          <p:cNvPr id="16" name="Text 30"/>
          <p:cNvSpPr txBox="1"/>
          <p:nvPr/>
        </p:nvSpPr>
        <p:spPr>
          <a:xfrm>
            <a:off x="6461608" y="4389120"/>
            <a:ext cx="2110664" cy="365760"/>
          </a:xfrm>
          <a:prstGeom prst="rect">
            <a:avLst/>
          </a:prstGeom>
          <a:noFill/>
          <a:ln/>
        </p:spPr>
        <p:txBody>
          <a:bodyPr wrap="square" lIns="0" tIns="0" rIns="0" bIns="0" rtlCol="0" anchor="t"/>
          <a:lstStyle/>
          <a:p>
            <a:pPr indent="0" marL="0">
              <a:buNone/>
            </a:pPr>
            <a:r>
              <a:rPr lang="en-US" sz="1200" dirty="0">
                <a:solidFill>
                  <a:schemeClr val="tx2"/>
                </a:solidFill>
              </a:rPr>
              <a:t>and 18 of 18 runs in 6 other worlds</a:t>
            </a:r>
            <a:endParaRPr lang="en-US" sz="1200" dirty="0"/>
          </a:p>
        </p:txBody>
      </p:sp>
      <p:sp>
        <p:nvSpPr>
          <p:cNvPr id="17" name="Card 31"/>
          <p:cNvSpPr/>
          <p:nvPr/>
        </p:nvSpPr>
        <p:spPr>
          <a:xfrm>
            <a:off x="9075191" y="2423160"/>
            <a:ext cx="2567864" cy="2514600"/>
          </a:xfrm>
          <a:prstGeom prst="roundRect">
            <a:avLst>
              <a:gd name="adj" fmla="val 2909"/>
            </a:avLst>
          </a:prstGeom>
          <a:solidFill>
            <a:schemeClr val="bg2"/>
          </a:solidFill>
          <a:ln/>
        </p:spPr>
      </p:sp>
      <p:sp>
        <p:nvSpPr>
          <p:cNvPr id="18" name="Text 32"/>
          <p:cNvSpPr txBox="1"/>
          <p:nvPr/>
        </p:nvSpPr>
        <p:spPr>
          <a:xfrm>
            <a:off x="9303791" y="2633472"/>
            <a:ext cx="2202104" cy="822960"/>
          </a:xfrm>
          <a:prstGeom prst="rect">
            <a:avLst/>
          </a:prstGeom>
          <a:noFill/>
          <a:ln/>
        </p:spPr>
        <p:txBody>
          <a:bodyPr wrap="square" lIns="0" tIns="0" rIns="0" bIns="0" rtlCol="0" anchor="t"/>
          <a:lstStyle/>
          <a:p>
            <a:pPr indent="0" marL="0">
              <a:buNone/>
            </a:pPr>
            <a:r>
              <a:rPr lang="en-US" sz="4000" b="1" dirty="0">
                <a:solidFill>
                  <a:schemeClr val="accent1"/>
                </a:solidFill>
                <a:latin typeface="+mj-lt" pitchFamily="34" charset="0"/>
                <a:ea typeface="+mj-lt" pitchFamily="34" charset="-122"/>
                <a:cs typeface="+mj-lt" pitchFamily="34" charset="-120"/>
              </a:rPr>
              <a:t>11 ms</a:t>
            </a:r>
            <a:endParaRPr lang="en-US" sz="4000" dirty="0"/>
          </a:p>
        </p:txBody>
      </p:sp>
      <p:sp>
        <p:nvSpPr>
          <p:cNvPr id="19" name="Text 33"/>
          <p:cNvSpPr txBox="1"/>
          <p:nvPr/>
        </p:nvSpPr>
        <p:spPr>
          <a:xfrm>
            <a:off x="9303791" y="3566160"/>
            <a:ext cx="2110664" cy="777240"/>
          </a:xfrm>
          <a:prstGeom prst="rect">
            <a:avLst/>
          </a:prstGeom>
          <a:noFill/>
          <a:ln/>
        </p:spPr>
        <p:txBody>
          <a:bodyPr wrap="square" lIns="0" tIns="0" rIns="0" bIns="0" rtlCol="0" anchor="t"/>
          <a:lstStyle/>
          <a:p>
            <a:pPr indent="0" marL="0">
              <a:buNone/>
            </a:pPr>
            <a:r>
              <a:rPr lang="en-US" sz="1500" b="1" dirty="0">
                <a:solidFill>
                  <a:schemeClr val="tx1"/>
                </a:solidFill>
              </a:rPr>
              <a:t>p95 to rank an app open: one worker, Postgres</a:t>
            </a:r>
            <a:endParaRPr lang="en-US" sz="1500" dirty="0"/>
          </a:p>
        </p:txBody>
      </p:sp>
      <p:sp>
        <p:nvSpPr>
          <p:cNvPr id="20" name="Text 34"/>
          <p:cNvSpPr txBox="1"/>
          <p:nvPr/>
        </p:nvSpPr>
        <p:spPr>
          <a:xfrm>
            <a:off x="9303791" y="4389120"/>
            <a:ext cx="2110664" cy="365760"/>
          </a:xfrm>
          <a:prstGeom prst="rect">
            <a:avLst/>
          </a:prstGeom>
          <a:noFill/>
          <a:ln/>
        </p:spPr>
        <p:txBody>
          <a:bodyPr wrap="square" lIns="0" tIns="0" rIns="0" bIns="0" rtlCol="0" anchor="t"/>
          <a:lstStyle/>
          <a:p>
            <a:pPr indent="0" marL="0">
              <a:buNone/>
            </a:pPr>
            <a:r>
              <a:rPr lang="en-US" sz="1200" dirty="0">
                <a:solidFill>
                  <a:schemeClr val="tx2"/>
                </a:solidFill>
              </a:rPr>
              <a:t>and 224 req/s with 4 workers</a:t>
            </a:r>
            <a:endParaRPr lang="en-US" sz="1200" dirty="0"/>
          </a:p>
        </p:txBody>
      </p:sp>
      <p:sp>
        <p:nvSpPr>
          <p:cNvPr id="21" name="Chip 35"/>
          <p:cNvSpPr txBox="1"/>
          <p:nvPr/>
        </p:nvSpPr>
        <p:spPr>
          <a:xfrm>
            <a:off x="548640" y="5303520"/>
            <a:ext cx="288036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Beta belief per segment × offer</a:t>
            </a:r>
            <a:endParaRPr lang="en-US" sz="1300" dirty="0"/>
          </a:p>
        </p:txBody>
      </p:sp>
      <p:sp>
        <p:nvSpPr>
          <p:cNvPr id="22" name="Chip 36"/>
          <p:cNvSpPr txBox="1"/>
          <p:nvPr/>
        </p:nvSpPr>
        <p:spPr>
          <a:xfrm>
            <a:off x="3667658" y="5303520"/>
            <a:ext cx="210312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Forgetting γ = 0.9998</a:t>
            </a:r>
            <a:endParaRPr lang="en-US" sz="1300" dirty="0"/>
          </a:p>
        </p:txBody>
      </p:sp>
      <p:sp>
        <p:nvSpPr>
          <p:cNvPr id="23" name="Chip 37"/>
          <p:cNvSpPr txBox="1"/>
          <p:nvPr/>
        </p:nvSpPr>
        <p:spPr>
          <a:xfrm>
            <a:off x="6009437" y="5303520"/>
            <a:ext cx="260604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50,000 app opens × 10 seeds</a:t>
            </a:r>
            <a:endParaRPr lang="en-US" sz="1300" dirty="0"/>
          </a:p>
        </p:txBody>
      </p:sp>
      <p:sp>
        <p:nvSpPr>
          <p:cNvPr id="24" name="Chip 38"/>
          <p:cNvSpPr txBox="1"/>
          <p:nvPr/>
        </p:nvSpPr>
        <p:spPr>
          <a:xfrm>
            <a:off x="8854135" y="5303520"/>
            <a:ext cx="2788920" cy="457200"/>
          </a:xfrm>
          <a:prstGeom prst="roundRect">
            <a:avLst>
              <a:gd name="adj" fmla="val 40000"/>
            </a:avLst>
          </a:prstGeom>
          <a:solidFill>
            <a:schemeClr val="bg1"/>
          </a:solidFill>
          <a:ln w="15875">
            <a:solidFill>
              <a:schemeClr val="accent1"/>
            </a:solidFill>
          </a:ln>
        </p:spPr>
        <p:txBody>
          <a:bodyPr wrap="square" lIns="0" tIns="0" rIns="0" bIns="0" rtlCol="0" anchor="ctr"/>
          <a:lstStyle/>
          <a:p>
            <a:pPr algn="ctr" indent="0" marL="0">
              <a:buNone/>
            </a:pPr>
            <a:r>
              <a:rPr lang="en-US" sz="1300" b="1" dirty="0">
                <a:solidFill>
                  <a:schemeClr val="accent1"/>
                </a:solidFill>
              </a:rPr>
              <a:t>FastAPI + Postgres, CI-tested</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PROBLEM</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Three slots, five segments, moving tastes</a:t>
            </a:r>
            <a:endParaRPr lang="en-US" sz="3600" dirty="0"/>
          </a:p>
        </p:txBody>
      </p:sp>
      <p:sp>
        <p:nvSpPr>
          <p:cNvPr id="4" name="Text 39"/>
          <p:cNvSpPr txBox="1"/>
          <p:nvPr/>
        </p:nvSpPr>
        <p:spPr>
          <a:xfrm>
            <a:off x="548640" y="1627632"/>
            <a:ext cx="6400800" cy="365760"/>
          </a:xfrm>
          <a:prstGeom prst="rect">
            <a:avLst/>
          </a:prstGeom>
          <a:noFill/>
          <a:ln/>
        </p:spPr>
        <p:txBody>
          <a:bodyPr wrap="square" lIns="0" tIns="0" rIns="0" bIns="0" rtlCol="0" anchor="t"/>
          <a:lstStyle/>
          <a:p>
            <a:pPr indent="0" marL="0">
              <a:buNone/>
            </a:pPr>
            <a:r>
              <a:rPr lang="en-US" sz="1800" b="1" dirty="0">
                <a:solidFill>
                  <a:schemeClr val="tx1"/>
                </a:solidFill>
              </a:rPr>
              <a:t>Who wants what, and when</a:t>
            </a:r>
            <a:endParaRPr lang="en-US" sz="1800" dirty="0"/>
          </a:p>
        </p:txBody>
      </p:sp>
      <p:sp>
        <p:nvSpPr>
          <p:cNvPr id="5" name="Card 40"/>
          <p:cNvSpPr/>
          <p:nvPr/>
        </p:nvSpPr>
        <p:spPr>
          <a:xfrm>
            <a:off x="548640" y="2103120"/>
            <a:ext cx="6492240" cy="640080"/>
          </a:xfrm>
          <a:prstGeom prst="roundRect">
            <a:avLst>
              <a:gd name="adj" fmla="val 11429"/>
            </a:avLst>
          </a:prstGeom>
          <a:solidFill>
            <a:schemeClr val="bg2"/>
          </a:solidFill>
          <a:ln/>
        </p:spPr>
      </p:sp>
      <p:sp>
        <p:nvSpPr>
          <p:cNvPr id="6" name="Text 41"/>
          <p:cNvSpPr txBox="1"/>
          <p:nvPr/>
        </p:nvSpPr>
        <p:spPr>
          <a:xfrm>
            <a:off x="777240" y="2276856"/>
            <a:ext cx="2148840" cy="310896"/>
          </a:xfrm>
          <a:prstGeom prst="rect">
            <a:avLst/>
          </a:prstGeom>
          <a:noFill/>
          <a:ln/>
        </p:spPr>
        <p:txBody>
          <a:bodyPr wrap="square" lIns="0" tIns="0" rIns="0" bIns="0" rtlCol="0" anchor="t"/>
          <a:lstStyle/>
          <a:p>
            <a:pPr indent="0" marL="0">
              <a:buNone/>
            </a:pPr>
            <a:r>
              <a:rPr lang="en-US" sz="1500" b="1" dirty="0">
                <a:solidFill>
                  <a:schemeClr val="tx1"/>
                </a:solidFill>
              </a:rPr>
              <a:t>Students</a:t>
            </a:r>
            <a:endParaRPr lang="en-US" sz="1500" dirty="0"/>
          </a:p>
        </p:txBody>
      </p:sp>
      <p:sp>
        <p:nvSpPr>
          <p:cNvPr id="7" name="Text 42"/>
          <p:cNvSpPr txBox="1"/>
          <p:nvPr/>
        </p:nvSpPr>
        <p:spPr>
          <a:xfrm>
            <a:off x="2926080" y="2276856"/>
            <a:ext cx="3108960" cy="310896"/>
          </a:xfrm>
          <a:prstGeom prst="rect">
            <a:avLst/>
          </a:prstGeom>
          <a:noFill/>
          <a:ln/>
        </p:spPr>
        <p:txBody>
          <a:bodyPr wrap="square" lIns="0" tIns="0" rIns="0" bIns="0" rtlCol="0" anchor="t"/>
          <a:lstStyle/>
          <a:p>
            <a:pPr indent="0" marL="0">
              <a:buNone/>
            </a:pPr>
            <a:r>
              <a:rPr lang="en-US" sz="1400" dirty="0">
                <a:solidFill>
                  <a:schemeClr val="tx1"/>
                </a:solidFill>
              </a:rPr>
              <a:t>the cheapest data bundle</a:t>
            </a:r>
            <a:endParaRPr lang="en-US" sz="1400" dirty="0"/>
          </a:p>
        </p:txBody>
      </p:sp>
      <p:sp>
        <p:nvSpPr>
          <p:cNvPr id="8" name="Card 43"/>
          <p:cNvSpPr/>
          <p:nvPr/>
        </p:nvSpPr>
        <p:spPr>
          <a:xfrm>
            <a:off x="548640" y="2871216"/>
            <a:ext cx="6492240" cy="640080"/>
          </a:xfrm>
          <a:prstGeom prst="roundRect">
            <a:avLst>
              <a:gd name="adj" fmla="val 11429"/>
            </a:avLst>
          </a:prstGeom>
          <a:solidFill>
            <a:schemeClr val="bg2"/>
          </a:solidFill>
          <a:ln/>
        </p:spPr>
      </p:sp>
      <p:sp>
        <p:nvSpPr>
          <p:cNvPr id="9" name="Text 44"/>
          <p:cNvSpPr txBox="1"/>
          <p:nvPr/>
        </p:nvSpPr>
        <p:spPr>
          <a:xfrm>
            <a:off x="777240" y="3044952"/>
            <a:ext cx="2148840" cy="310896"/>
          </a:xfrm>
          <a:prstGeom prst="rect">
            <a:avLst/>
          </a:prstGeom>
          <a:noFill/>
          <a:ln/>
        </p:spPr>
        <p:txBody>
          <a:bodyPr wrap="square" lIns="0" tIns="0" rIns="0" bIns="0" rtlCol="0" anchor="t"/>
          <a:lstStyle/>
          <a:p>
            <a:pPr indent="0" marL="0">
              <a:buNone/>
            </a:pPr>
            <a:r>
              <a:rPr lang="en-US" sz="1500" b="1" dirty="0">
                <a:solidFill>
                  <a:schemeClr val="tx1"/>
                </a:solidFill>
              </a:rPr>
              <a:t>Pensioners</a:t>
            </a:r>
            <a:endParaRPr lang="en-US" sz="1500" dirty="0"/>
          </a:p>
        </p:txBody>
      </p:sp>
      <p:sp>
        <p:nvSpPr>
          <p:cNvPr id="10" name="Text 45"/>
          <p:cNvSpPr txBox="1"/>
          <p:nvPr/>
        </p:nvSpPr>
        <p:spPr>
          <a:xfrm>
            <a:off x="2926080" y="3044952"/>
            <a:ext cx="3108960" cy="310896"/>
          </a:xfrm>
          <a:prstGeom prst="rect">
            <a:avLst/>
          </a:prstGeom>
          <a:noFill/>
          <a:ln/>
        </p:spPr>
        <p:txBody>
          <a:bodyPr wrap="square" lIns="0" tIns="0" rIns="0" bIns="0" rtlCol="0" anchor="t"/>
          <a:lstStyle/>
          <a:p>
            <a:pPr indent="0" marL="0">
              <a:buNone/>
            </a:pPr>
            <a:r>
              <a:rPr lang="en-US" sz="1400" dirty="0">
                <a:solidFill>
                  <a:schemeClr val="tx1"/>
                </a:solidFill>
              </a:rPr>
              <a:t>airtime; electricity in SASSA grant week</a:t>
            </a:r>
            <a:endParaRPr lang="en-US" sz="1400" dirty="0"/>
          </a:p>
        </p:txBody>
      </p:sp>
      <p:sp>
        <p:nvSpPr>
          <p:cNvPr id="11" name="Card 46"/>
          <p:cNvSpPr/>
          <p:nvPr/>
        </p:nvSpPr>
        <p:spPr>
          <a:xfrm>
            <a:off x="548640" y="3639312"/>
            <a:ext cx="6492240" cy="640080"/>
          </a:xfrm>
          <a:prstGeom prst="roundRect">
            <a:avLst>
              <a:gd name="adj" fmla="val 11429"/>
            </a:avLst>
          </a:prstGeom>
          <a:solidFill>
            <a:schemeClr val="bg2"/>
          </a:solidFill>
          <a:ln/>
        </p:spPr>
      </p:sp>
      <p:sp>
        <p:nvSpPr>
          <p:cNvPr id="12" name="Text 47"/>
          <p:cNvSpPr txBox="1"/>
          <p:nvPr/>
        </p:nvSpPr>
        <p:spPr>
          <a:xfrm>
            <a:off x="777240" y="3813048"/>
            <a:ext cx="2148840" cy="310896"/>
          </a:xfrm>
          <a:prstGeom prst="rect">
            <a:avLst/>
          </a:prstGeom>
          <a:noFill/>
          <a:ln/>
        </p:spPr>
        <p:txBody>
          <a:bodyPr wrap="square" lIns="0" tIns="0" rIns="0" bIns="0" rtlCol="0" anchor="t"/>
          <a:lstStyle/>
          <a:p>
            <a:pPr indent="0" marL="0">
              <a:buNone/>
            </a:pPr>
            <a:r>
              <a:rPr lang="en-US" sz="1500" b="1" dirty="0">
                <a:solidFill>
                  <a:schemeClr val="tx1"/>
                </a:solidFill>
              </a:rPr>
              <a:t>Small businesses</a:t>
            </a:r>
            <a:endParaRPr lang="en-US" sz="1500" dirty="0"/>
          </a:p>
        </p:txBody>
      </p:sp>
      <p:sp>
        <p:nvSpPr>
          <p:cNvPr id="13" name="Text 48"/>
          <p:cNvSpPr txBox="1"/>
          <p:nvPr/>
        </p:nvSpPr>
        <p:spPr>
          <a:xfrm>
            <a:off x="2926080" y="3813048"/>
            <a:ext cx="3108960" cy="310896"/>
          </a:xfrm>
          <a:prstGeom prst="rect">
            <a:avLst/>
          </a:prstGeom>
          <a:noFill/>
          <a:ln/>
        </p:spPr>
        <p:txBody>
          <a:bodyPr wrap="square" lIns="0" tIns="0" rIns="0" bIns="0" rtlCol="0" anchor="t"/>
          <a:lstStyle/>
          <a:p>
            <a:pPr indent="0" marL="0">
              <a:buNone/>
            </a:pPr>
            <a:r>
              <a:rPr lang="en-US" sz="1400" dirty="0">
                <a:solidFill>
                  <a:schemeClr val="tx1"/>
                </a:solidFill>
              </a:rPr>
              <a:t>pay-later mid-month; 20GB data at payday</a:t>
            </a:r>
            <a:endParaRPr lang="en-US" sz="1400" dirty="0"/>
          </a:p>
        </p:txBody>
      </p:sp>
      <p:sp>
        <p:nvSpPr>
          <p:cNvPr id="14" name="Card 49"/>
          <p:cNvSpPr/>
          <p:nvPr/>
        </p:nvSpPr>
        <p:spPr>
          <a:xfrm>
            <a:off x="548640" y="4407408"/>
            <a:ext cx="6492240" cy="640080"/>
          </a:xfrm>
          <a:prstGeom prst="roundRect">
            <a:avLst>
              <a:gd name="adj" fmla="val 11429"/>
            </a:avLst>
          </a:prstGeom>
          <a:solidFill>
            <a:schemeClr val="bg2"/>
          </a:solidFill>
          <a:ln/>
        </p:spPr>
      </p:sp>
      <p:sp>
        <p:nvSpPr>
          <p:cNvPr id="15" name="Text 50"/>
          <p:cNvSpPr txBox="1"/>
          <p:nvPr/>
        </p:nvSpPr>
        <p:spPr>
          <a:xfrm>
            <a:off x="777240" y="4581144"/>
            <a:ext cx="2148840" cy="310896"/>
          </a:xfrm>
          <a:prstGeom prst="rect">
            <a:avLst/>
          </a:prstGeom>
          <a:noFill/>
          <a:ln/>
        </p:spPr>
        <p:txBody>
          <a:bodyPr wrap="square" lIns="0" tIns="0" rIns="0" bIns="0" rtlCol="0" anchor="t"/>
          <a:lstStyle/>
          <a:p>
            <a:pPr indent="0" marL="0">
              <a:buNone/>
            </a:pPr>
            <a:r>
              <a:rPr lang="en-US" sz="1500" b="1" dirty="0">
                <a:solidFill>
                  <a:schemeClr val="tx1"/>
                </a:solidFill>
              </a:rPr>
              <a:t>Young professionals</a:t>
            </a:r>
            <a:endParaRPr lang="en-US" sz="1500" dirty="0"/>
          </a:p>
        </p:txBody>
      </p:sp>
      <p:sp>
        <p:nvSpPr>
          <p:cNvPr id="16" name="Text 51"/>
          <p:cNvSpPr txBox="1"/>
          <p:nvPr/>
        </p:nvSpPr>
        <p:spPr>
          <a:xfrm>
            <a:off x="2926080" y="4581144"/>
            <a:ext cx="3108960" cy="310896"/>
          </a:xfrm>
          <a:prstGeom prst="rect">
            <a:avLst/>
          </a:prstGeom>
          <a:noFill/>
          <a:ln/>
        </p:spPr>
        <p:txBody>
          <a:bodyPr wrap="square" lIns="0" tIns="0" rIns="0" bIns="0" rtlCol="0" anchor="t"/>
          <a:lstStyle/>
          <a:p>
            <a:pPr indent="0" marL="0">
              <a:buNone/>
            </a:pPr>
            <a:r>
              <a:rPr lang="en-US" sz="1400" dirty="0">
                <a:solidFill>
                  <a:schemeClr val="tx1"/>
                </a:solidFill>
              </a:rPr>
              <a:t>data, until streaming goes viral</a:t>
            </a:r>
            <a:endParaRPr lang="en-US" sz="1400" dirty="0"/>
          </a:p>
        </p:txBody>
      </p:sp>
      <p:sp>
        <p:nvSpPr>
          <p:cNvPr id="17" name="Chip 52"/>
          <p:cNvSpPr txBox="1"/>
          <p:nvPr/>
        </p:nvSpPr>
        <p:spPr>
          <a:xfrm>
            <a:off x="6080760" y="4562856"/>
            <a:ext cx="77724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dirty="0">
                <a:solidFill>
                  <a:schemeClr val="bg1"/>
                </a:solidFill>
              </a:rPr>
              <a:t>shifts</a:t>
            </a:r>
            <a:endParaRPr lang="en-US" sz="1200" dirty="0"/>
          </a:p>
        </p:txBody>
      </p:sp>
      <p:sp>
        <p:nvSpPr>
          <p:cNvPr id="18" name="Card 53"/>
          <p:cNvSpPr/>
          <p:nvPr/>
        </p:nvSpPr>
        <p:spPr>
          <a:xfrm>
            <a:off x="548640" y="5175504"/>
            <a:ext cx="6492240" cy="640080"/>
          </a:xfrm>
          <a:prstGeom prst="roundRect">
            <a:avLst>
              <a:gd name="adj" fmla="val 11429"/>
            </a:avLst>
          </a:prstGeom>
          <a:solidFill>
            <a:schemeClr val="bg2"/>
          </a:solidFill>
          <a:ln/>
        </p:spPr>
      </p:sp>
      <p:sp>
        <p:nvSpPr>
          <p:cNvPr id="19" name="Text 54"/>
          <p:cNvSpPr txBox="1"/>
          <p:nvPr/>
        </p:nvSpPr>
        <p:spPr>
          <a:xfrm>
            <a:off x="777240" y="5349240"/>
            <a:ext cx="2148840" cy="310896"/>
          </a:xfrm>
          <a:prstGeom prst="rect">
            <a:avLst/>
          </a:prstGeom>
          <a:noFill/>
          <a:ln/>
        </p:spPr>
        <p:txBody>
          <a:bodyPr wrap="square" lIns="0" tIns="0" rIns="0" bIns="0" rtlCol="0" anchor="t"/>
          <a:lstStyle/>
          <a:p>
            <a:pPr indent="0" marL="0">
              <a:buNone/>
            </a:pPr>
            <a:r>
              <a:rPr lang="en-US" sz="1500" b="1" dirty="0">
                <a:solidFill>
                  <a:schemeClr val="tx1"/>
                </a:solidFill>
              </a:rPr>
              <a:t>Families</a:t>
            </a:r>
            <a:endParaRPr lang="en-US" sz="1500" dirty="0"/>
          </a:p>
        </p:txBody>
      </p:sp>
      <p:sp>
        <p:nvSpPr>
          <p:cNvPr id="20" name="Text 55"/>
          <p:cNvSpPr txBox="1"/>
          <p:nvPr/>
        </p:nvSpPr>
        <p:spPr>
          <a:xfrm>
            <a:off x="2926080" y="5349240"/>
            <a:ext cx="3108960" cy="310896"/>
          </a:xfrm>
          <a:prstGeom prst="rect">
            <a:avLst/>
          </a:prstGeom>
          <a:noFill/>
          <a:ln/>
        </p:spPr>
        <p:txBody>
          <a:bodyPr wrap="square" lIns="0" tIns="0" rIns="0" bIns="0" rtlCol="0" anchor="t"/>
          <a:lstStyle/>
          <a:p>
            <a:pPr indent="0" marL="0">
              <a:buNone/>
            </a:pPr>
            <a:r>
              <a:rPr lang="en-US" sz="1400" dirty="0">
                <a:solidFill>
                  <a:schemeClr val="tx1"/>
                </a:solidFill>
              </a:rPr>
              <a:t>funeral cover, until electricity prices jump</a:t>
            </a:r>
            <a:endParaRPr lang="en-US" sz="1400" dirty="0"/>
          </a:p>
        </p:txBody>
      </p:sp>
      <p:sp>
        <p:nvSpPr>
          <p:cNvPr id="21" name="Chip 56"/>
          <p:cNvSpPr txBox="1"/>
          <p:nvPr/>
        </p:nvSpPr>
        <p:spPr>
          <a:xfrm>
            <a:off x="6080760" y="5330952"/>
            <a:ext cx="777240" cy="329184"/>
          </a:xfrm>
          <a:prstGeom prst="roundRect">
            <a:avLst>
              <a:gd name="adj" fmla="val 41667"/>
            </a:avLst>
          </a:prstGeom>
          <a:solidFill>
            <a:schemeClr val="accent2"/>
          </a:solidFill>
          <a:ln/>
        </p:spPr>
        <p:txBody>
          <a:bodyPr wrap="square" lIns="0" tIns="0" rIns="0" bIns="0" rtlCol="0" anchor="ctr"/>
          <a:lstStyle/>
          <a:p>
            <a:pPr algn="ctr" indent="0" marL="0">
              <a:buNone/>
            </a:pPr>
            <a:r>
              <a:rPr lang="en-US" sz="1200" b="1" dirty="0">
                <a:solidFill>
                  <a:schemeClr val="bg1"/>
                </a:solidFill>
              </a:rPr>
              <a:t>shifts</a:t>
            </a:r>
            <a:endParaRPr lang="en-US" sz="1200" dirty="0"/>
          </a:p>
        </p:txBody>
      </p:sp>
      <p:sp>
        <p:nvSpPr>
          <p:cNvPr id="22" name="Card 57"/>
          <p:cNvSpPr/>
          <p:nvPr/>
        </p:nvSpPr>
        <p:spPr>
          <a:xfrm>
            <a:off x="7452360" y="1691640"/>
            <a:ext cx="4187952" cy="4434840"/>
          </a:xfrm>
          <a:prstGeom prst="roundRect">
            <a:avLst>
              <a:gd name="adj" fmla="val 1747"/>
            </a:avLst>
          </a:prstGeom>
          <a:solidFill>
            <a:schemeClr val="tx1"/>
          </a:solidFill>
          <a:ln/>
        </p:spPr>
      </p:sp>
      <p:sp>
        <p:nvSpPr>
          <p:cNvPr id="23" name="Text 58"/>
          <p:cNvSpPr txBox="1"/>
          <p:nvPr/>
        </p:nvSpPr>
        <p:spPr>
          <a:xfrm>
            <a:off x="7772400" y="1920240"/>
            <a:ext cx="3547872" cy="731520"/>
          </a:xfrm>
          <a:prstGeom prst="rect">
            <a:avLst/>
          </a:prstGeom>
          <a:noFill/>
          <a:ln/>
        </p:spPr>
        <p:txBody>
          <a:bodyPr wrap="square" lIns="0" tIns="0" rIns="0" bIns="0" rtlCol="0" anchor="t"/>
          <a:lstStyle/>
          <a:p>
            <a:pPr indent="0" marL="0">
              <a:buNone/>
            </a:pPr>
            <a:r>
              <a:rPr lang="en-US" sz="1800" b="1" dirty="0">
                <a:solidFill>
                  <a:schemeClr val="bg1"/>
                </a:solidFill>
              </a:rPr>
              <a:t>Why a monthly batch model falls short</a:t>
            </a:r>
            <a:endParaRPr lang="en-US" sz="1800" dirty="0"/>
          </a:p>
        </p:txBody>
      </p:sp>
      <p:sp>
        <p:nvSpPr>
          <p:cNvPr id="24" name="Step 59"/>
          <p:cNvSpPr txBox="1"/>
          <p:nvPr/>
        </p:nvSpPr>
        <p:spPr>
          <a:xfrm>
            <a:off x="7772400" y="2788920"/>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25" name="Text 60"/>
          <p:cNvSpPr txBox="1"/>
          <p:nvPr/>
        </p:nvSpPr>
        <p:spPr>
          <a:xfrm>
            <a:off x="8321040" y="2807208"/>
            <a:ext cx="2999232" cy="603504"/>
          </a:xfrm>
          <a:prstGeom prst="rect">
            <a:avLst/>
          </a:prstGeom>
          <a:noFill/>
          <a:ln/>
        </p:spPr>
        <p:txBody>
          <a:bodyPr wrap="square" lIns="0" tIns="0" rIns="0" bIns="0" rtlCol="0" anchor="t"/>
          <a:lstStyle/>
          <a:p>
            <a:pPr indent="0" marL="0">
              <a:buNone/>
            </a:pPr>
            <a:r>
              <a:rPr lang="en-US" sz="1500" dirty="0">
                <a:solidFill>
                  <a:schemeClr val="bg1"/>
                </a:solidFill>
              </a:rPr>
              <a:t>Out of date the day it ships</a:t>
            </a:r>
            <a:endParaRPr lang="en-US" sz="1500" dirty="0"/>
          </a:p>
        </p:txBody>
      </p:sp>
      <p:sp>
        <p:nvSpPr>
          <p:cNvPr id="26" name="Step 61"/>
          <p:cNvSpPr txBox="1"/>
          <p:nvPr/>
        </p:nvSpPr>
        <p:spPr>
          <a:xfrm>
            <a:off x="7772400" y="3502152"/>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7" name="Text 62"/>
          <p:cNvSpPr txBox="1"/>
          <p:nvPr/>
        </p:nvSpPr>
        <p:spPr>
          <a:xfrm>
            <a:off x="8321040" y="3520440"/>
            <a:ext cx="2999232" cy="603504"/>
          </a:xfrm>
          <a:prstGeom prst="rect">
            <a:avLst/>
          </a:prstGeom>
          <a:noFill/>
          <a:ln/>
        </p:spPr>
        <p:txBody>
          <a:bodyPr wrap="square" lIns="0" tIns="0" rIns="0" bIns="0" rtlCol="0" anchor="t"/>
          <a:lstStyle/>
          <a:p>
            <a:pPr indent="0" marL="0">
              <a:buNone/>
            </a:pPr>
            <a:r>
              <a:rPr lang="en-US" sz="1500" dirty="0">
                <a:solidFill>
                  <a:schemeClr val="bg1"/>
                </a:solidFill>
              </a:rPr>
              <a:t>Never learns about the offers it doesn't show</a:t>
            </a:r>
            <a:endParaRPr lang="en-US" sz="1500" dirty="0"/>
          </a:p>
        </p:txBody>
      </p:sp>
      <p:sp>
        <p:nvSpPr>
          <p:cNvPr id="28" name="Step 63"/>
          <p:cNvSpPr txBox="1"/>
          <p:nvPr/>
        </p:nvSpPr>
        <p:spPr>
          <a:xfrm>
            <a:off x="7772400" y="4215384"/>
            <a:ext cx="365760" cy="365760"/>
          </a:xfrm>
          <a:prstGeom prst="ellipse">
            <a:avLst/>
          </a:prstGeom>
          <a:solidFill>
            <a:schemeClr val="accent5"/>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9" name="Text 64"/>
          <p:cNvSpPr txBox="1"/>
          <p:nvPr/>
        </p:nvSpPr>
        <p:spPr>
          <a:xfrm>
            <a:off x="8321040" y="4233672"/>
            <a:ext cx="2999232" cy="603504"/>
          </a:xfrm>
          <a:prstGeom prst="rect">
            <a:avLst/>
          </a:prstGeom>
          <a:noFill/>
          <a:ln/>
        </p:spPr>
        <p:txBody>
          <a:bodyPr wrap="square" lIns="0" tIns="0" rIns="0" bIns="0" rtlCol="0" anchor="t"/>
          <a:lstStyle/>
          <a:p>
            <a:pPr indent="0" marL="0">
              <a:buNone/>
            </a:pPr>
            <a:r>
              <a:rPr lang="en-US" sz="1500" dirty="0">
                <a:solidFill>
                  <a:schemeClr val="bg1"/>
                </a:solidFill>
              </a:rPr>
              <a:t>Can't notice a change until someone retrains it</a:t>
            </a:r>
            <a:endParaRPr lang="en-US" sz="1500" dirty="0"/>
          </a:p>
        </p:txBody>
      </p:sp>
      <p:sp>
        <p:nvSpPr>
          <p:cNvPr id="30" name="Text 65"/>
          <p:cNvSpPr txBox="1"/>
          <p:nvPr/>
        </p:nvSpPr>
        <p:spPr>
          <a:xfrm>
            <a:off x="7772400" y="4983480"/>
            <a:ext cx="3547872" cy="960120"/>
          </a:xfrm>
          <a:prstGeom prst="rect">
            <a:avLst/>
          </a:prstGeom>
          <a:noFill/>
          <a:ln/>
        </p:spPr>
        <p:txBody>
          <a:bodyPr wrap="square" lIns="0" tIns="0" rIns="0" bIns="0" rtlCol="0" anchor="t"/>
          <a:lstStyle/>
          <a:p>
            <a:pPr indent="0" marL="0">
              <a:buNone/>
            </a:pPr>
            <a:r>
              <a:rPr lang="en-US" sz="1300" i="1" dirty="0">
                <a:solidFill>
                  <a:schemeClr val="accent5"/>
                </a:solidFill>
              </a:rPr>
              <a:t>The brief: learn from every response, explore enough to find what works, adapt when behaviour shifts, and prove it beats static and random.</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HOW IT WORKS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Two API calls, one learning loop</a:t>
            </a:r>
            <a:endParaRPr lang="en-US" sz="3600" dirty="0"/>
          </a:p>
        </p:txBody>
      </p:sp>
      <p:sp>
        <p:nvSpPr>
          <p:cNvPr id="4" name="Arrow 66"/>
          <p:cNvSpPr/>
          <p:nvPr/>
        </p:nvSpPr>
        <p:spPr>
          <a:xfrm flipV="1">
            <a:off x="10218420" y="1810512"/>
            <a:ext cx="0" cy="246888"/>
          </a:xfrm>
          <a:prstGeom prst="line">
            <a:avLst/>
          </a:prstGeom>
          <a:noFill/>
          <a:ln w="19050">
            <a:solidFill>
              <a:schemeClr val="tx1"/>
            </a:solidFill>
            <a:prstDash val="solid"/>
          </a:ln>
        </p:spPr>
      </p:sp>
      <p:sp>
        <p:nvSpPr>
          <p:cNvPr id="5" name="Arrow 67"/>
          <p:cNvSpPr/>
          <p:nvPr/>
        </p:nvSpPr>
        <p:spPr>
          <a:xfrm flipH="1">
            <a:off x="1463040" y="1810512"/>
            <a:ext cx="8755380" cy="0"/>
          </a:xfrm>
          <a:prstGeom prst="line">
            <a:avLst/>
          </a:prstGeom>
          <a:noFill/>
          <a:ln w="19050">
            <a:solidFill>
              <a:schemeClr val="tx1"/>
            </a:solidFill>
            <a:prstDash val="solid"/>
          </a:ln>
        </p:spPr>
      </p:sp>
      <p:sp>
        <p:nvSpPr>
          <p:cNvPr id="6" name="Arrow 68"/>
          <p:cNvSpPr/>
          <p:nvPr/>
        </p:nvSpPr>
        <p:spPr>
          <a:xfrm>
            <a:off x="1463040" y="1810512"/>
            <a:ext cx="0" cy="246888"/>
          </a:xfrm>
          <a:prstGeom prst="line">
            <a:avLst/>
          </a:prstGeom>
          <a:noFill/>
          <a:ln w="19050">
            <a:solidFill>
              <a:schemeClr val="tx1"/>
            </a:solidFill>
            <a:prstDash val="solid"/>
            <a:tailEnd type="triangle"/>
          </a:ln>
        </p:spPr>
      </p:sp>
      <p:sp>
        <p:nvSpPr>
          <p:cNvPr id="7" name="Text 69"/>
          <p:cNvSpPr txBox="1"/>
          <p:nvPr/>
        </p:nvSpPr>
        <p:spPr>
          <a:xfrm>
            <a:off x="4023360" y="1554480"/>
            <a:ext cx="4206240" cy="237744"/>
          </a:xfrm>
          <a:prstGeom prst="rect">
            <a:avLst/>
          </a:prstGeom>
          <a:noFill/>
          <a:ln/>
        </p:spPr>
        <p:txBody>
          <a:bodyPr wrap="square" lIns="0" tIns="0" rIns="0" bIns="0" rtlCol="0" anchor="t"/>
          <a:lstStyle/>
          <a:p>
            <a:pPr algn="ctr" indent="0" marL="0">
              <a:buNone/>
            </a:pPr>
            <a:r>
              <a:rPr lang="en-US" sz="1100" dirty="0">
                <a:solidFill>
                  <a:schemeClr val="tx1"/>
                </a:solidFill>
                <a:latin typeface="Consolas" pitchFamily="34" charset="0"/>
                <a:ea typeface="Consolas" pitchFamily="34" charset="-122"/>
                <a:cs typeface="Consolas" pitchFamily="34" charset="-120"/>
              </a:rPr>
              <a:t>200 · invocation_id + the top 3 offers</a:t>
            </a:r>
            <a:endParaRPr lang="en-US" sz="1100" dirty="0"/>
          </a:p>
        </p:txBody>
      </p:sp>
      <p:sp>
        <p:nvSpPr>
          <p:cNvPr id="8" name="Step box 70"/>
          <p:cNvSpPr/>
          <p:nvPr/>
        </p:nvSpPr>
        <p:spPr>
          <a:xfrm>
            <a:off x="548640" y="2057400"/>
            <a:ext cx="1828800" cy="822960"/>
          </a:xfrm>
          <a:prstGeom prst="roundRect">
            <a:avLst>
              <a:gd name="adj" fmla="val 6667"/>
            </a:avLst>
          </a:prstGeom>
          <a:solidFill>
            <a:schemeClr val="bg2"/>
          </a:solidFill>
          <a:ln w="15875">
            <a:solidFill>
              <a:schemeClr val="tx1"/>
            </a:solidFill>
            <a:prstDash val="solid"/>
          </a:ln>
        </p:spPr>
      </p:sp>
      <p:sp>
        <p:nvSpPr>
          <p:cNvPr id="9" name="Step 71"/>
          <p:cNvSpPr txBox="1"/>
          <p:nvPr/>
        </p:nvSpPr>
        <p:spPr>
          <a:xfrm>
            <a:off x="67665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Text 72"/>
          <p:cNvSpPr txBox="1"/>
          <p:nvPr/>
        </p:nvSpPr>
        <p:spPr>
          <a:xfrm>
            <a:off x="1078992" y="2157984"/>
            <a:ext cx="1207008" cy="329184"/>
          </a:xfrm>
          <a:prstGeom prst="rect">
            <a:avLst/>
          </a:prstGeom>
          <a:noFill/>
          <a:ln/>
        </p:spPr>
        <p:txBody>
          <a:bodyPr wrap="square" lIns="0" tIns="0" rIns="0" bIns="0" rtlCol="0" anchor="t"/>
          <a:lstStyle/>
          <a:p>
            <a:pPr indent="0" marL="0">
              <a:buNone/>
            </a:pPr>
            <a:r>
              <a:rPr lang="en-US" sz="1400" b="1" dirty="0">
                <a:solidFill>
                  <a:schemeClr val="tx1"/>
                </a:solidFill>
              </a:rPr>
              <a:t>Opens the app</a:t>
            </a:r>
            <a:endParaRPr lang="en-US" sz="1400" dirty="0"/>
          </a:p>
        </p:txBody>
      </p:sp>
      <p:sp>
        <p:nvSpPr>
          <p:cNvPr id="11" name="Text 73"/>
          <p:cNvSpPr txBox="1"/>
          <p:nvPr/>
        </p:nvSpPr>
        <p:spPr>
          <a:xfrm>
            <a:off x="676656" y="2532888"/>
            <a:ext cx="1609344"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POST /invocations</a:t>
            </a:r>
            <a:endParaRPr lang="en-US" sz="1100" dirty="0"/>
          </a:p>
        </p:txBody>
      </p:sp>
      <p:sp>
        <p:nvSpPr>
          <p:cNvPr id="12" name="Step box 74"/>
          <p:cNvSpPr/>
          <p:nvPr/>
        </p:nvSpPr>
        <p:spPr>
          <a:xfrm>
            <a:off x="3063240" y="2057400"/>
            <a:ext cx="2606040" cy="822960"/>
          </a:xfrm>
          <a:prstGeom prst="roundRect">
            <a:avLst>
              <a:gd name="adj" fmla="val 6667"/>
            </a:avLst>
          </a:prstGeom>
          <a:solidFill>
            <a:schemeClr val="bg1"/>
          </a:solidFill>
          <a:ln w="15875">
            <a:solidFill>
              <a:schemeClr val="tx1"/>
            </a:solidFill>
            <a:prstDash val="solid"/>
          </a:ln>
        </p:spPr>
      </p:sp>
      <p:sp>
        <p:nvSpPr>
          <p:cNvPr id="13" name="Step 75"/>
          <p:cNvSpPr txBox="1"/>
          <p:nvPr/>
        </p:nvSpPr>
        <p:spPr>
          <a:xfrm>
            <a:off x="319125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76"/>
          <p:cNvSpPr txBox="1"/>
          <p:nvPr/>
        </p:nvSpPr>
        <p:spPr>
          <a:xfrm>
            <a:off x="359359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Build the moment</a:t>
            </a:r>
            <a:endParaRPr lang="en-US" sz="1400" dirty="0"/>
          </a:p>
        </p:txBody>
      </p:sp>
      <p:sp>
        <p:nvSpPr>
          <p:cNvPr id="15" name="Text 77"/>
          <p:cNvSpPr txBox="1"/>
          <p:nvPr/>
        </p:nvSpPr>
        <p:spPr>
          <a:xfrm>
            <a:off x="319125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profile + clock: segment, payday</a:t>
            </a:r>
            <a:endParaRPr lang="en-US" sz="1200" dirty="0"/>
          </a:p>
        </p:txBody>
      </p:sp>
      <p:sp>
        <p:nvSpPr>
          <p:cNvPr id="16" name="Step box 78"/>
          <p:cNvSpPr/>
          <p:nvPr/>
        </p:nvSpPr>
        <p:spPr>
          <a:xfrm>
            <a:off x="5989320" y="2057400"/>
            <a:ext cx="2606040" cy="822960"/>
          </a:xfrm>
          <a:prstGeom prst="roundRect">
            <a:avLst>
              <a:gd name="adj" fmla="val 6667"/>
            </a:avLst>
          </a:prstGeom>
          <a:solidFill>
            <a:schemeClr val="bg1"/>
          </a:solidFill>
          <a:ln w="15875">
            <a:solidFill>
              <a:schemeClr val="tx1"/>
            </a:solidFill>
            <a:prstDash val="solid"/>
          </a:ln>
        </p:spPr>
      </p:sp>
      <p:sp>
        <p:nvSpPr>
          <p:cNvPr id="17" name="Step 79"/>
          <p:cNvSpPr txBox="1"/>
          <p:nvPr/>
        </p:nvSpPr>
        <p:spPr>
          <a:xfrm>
            <a:off x="611733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Text 80"/>
          <p:cNvSpPr txBox="1"/>
          <p:nvPr/>
        </p:nvSpPr>
        <p:spPr>
          <a:xfrm>
            <a:off x="651967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Rank by drawing</a:t>
            </a:r>
            <a:endParaRPr lang="en-US" sz="1400" dirty="0"/>
          </a:p>
        </p:txBody>
      </p:sp>
      <p:sp>
        <p:nvSpPr>
          <p:cNvPr id="19" name="Text 81"/>
          <p:cNvSpPr txBox="1"/>
          <p:nvPr/>
        </p:nvSpPr>
        <p:spPr>
          <a:xfrm>
            <a:off x="611733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one draw per belief; top 3 shown</a:t>
            </a:r>
            <a:endParaRPr lang="en-US" sz="1200" dirty="0"/>
          </a:p>
        </p:txBody>
      </p:sp>
      <p:sp>
        <p:nvSpPr>
          <p:cNvPr id="20" name="Step box 82"/>
          <p:cNvSpPr/>
          <p:nvPr/>
        </p:nvSpPr>
        <p:spPr>
          <a:xfrm>
            <a:off x="8915400" y="2057400"/>
            <a:ext cx="2606040" cy="822960"/>
          </a:xfrm>
          <a:prstGeom prst="roundRect">
            <a:avLst>
              <a:gd name="adj" fmla="val 6667"/>
            </a:avLst>
          </a:prstGeom>
          <a:solidFill>
            <a:schemeClr val="bg1"/>
          </a:solidFill>
          <a:ln w="15875">
            <a:solidFill>
              <a:schemeClr val="tx1"/>
            </a:solidFill>
            <a:prstDash val="solid"/>
          </a:ln>
        </p:spPr>
      </p:sp>
      <p:sp>
        <p:nvSpPr>
          <p:cNvPr id="21" name="Step 83"/>
          <p:cNvSpPr txBox="1"/>
          <p:nvPr/>
        </p:nvSpPr>
        <p:spPr>
          <a:xfrm>
            <a:off x="9043416" y="217627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2" name="Text 84"/>
          <p:cNvSpPr txBox="1"/>
          <p:nvPr/>
        </p:nvSpPr>
        <p:spPr>
          <a:xfrm>
            <a:off x="9445752" y="2157984"/>
            <a:ext cx="1984248" cy="329184"/>
          </a:xfrm>
          <a:prstGeom prst="rect">
            <a:avLst/>
          </a:prstGeom>
          <a:noFill/>
          <a:ln/>
        </p:spPr>
        <p:txBody>
          <a:bodyPr wrap="square" lIns="0" tIns="0" rIns="0" bIns="0" rtlCol="0" anchor="t"/>
          <a:lstStyle/>
          <a:p>
            <a:pPr indent="0" marL="0">
              <a:buNone/>
            </a:pPr>
            <a:r>
              <a:rPr lang="en-US" sz="1400" b="1" dirty="0">
                <a:solidFill>
                  <a:schemeClr val="tx1"/>
                </a:solidFill>
              </a:rPr>
              <a:t>Log, then reply</a:t>
            </a:r>
            <a:endParaRPr lang="en-US" sz="1400" dirty="0"/>
          </a:p>
        </p:txBody>
      </p:sp>
      <p:sp>
        <p:nvSpPr>
          <p:cNvPr id="23" name="Text 85"/>
          <p:cNvSpPr txBox="1"/>
          <p:nvPr/>
        </p:nvSpPr>
        <p:spPr>
          <a:xfrm>
            <a:off x="9043416" y="2532888"/>
            <a:ext cx="2386584" cy="274320"/>
          </a:xfrm>
          <a:prstGeom prst="rect">
            <a:avLst/>
          </a:prstGeom>
          <a:noFill/>
          <a:ln/>
        </p:spPr>
        <p:txBody>
          <a:bodyPr wrap="square" lIns="0" tIns="0" rIns="0" bIns="0" rtlCol="0" anchor="t"/>
          <a:lstStyle/>
          <a:p>
            <a:pPr indent="0" marL="0">
              <a:buNone/>
            </a:pPr>
            <a:r>
              <a:rPr lang="en-US" sz="1200" dirty="0">
                <a:solidFill>
                  <a:schemeClr val="tx2"/>
                </a:solidFill>
              </a:rPr>
              <a:t>the app open + 3 offers shown</a:t>
            </a:r>
            <a:endParaRPr lang="en-US" sz="1200" dirty="0"/>
          </a:p>
        </p:txBody>
      </p:sp>
      <p:sp>
        <p:nvSpPr>
          <p:cNvPr id="24" name="Arrow 86"/>
          <p:cNvSpPr/>
          <p:nvPr/>
        </p:nvSpPr>
        <p:spPr>
          <a:xfrm>
            <a:off x="2377440" y="2468880"/>
            <a:ext cx="685800" cy="0"/>
          </a:xfrm>
          <a:prstGeom prst="line">
            <a:avLst/>
          </a:prstGeom>
          <a:noFill/>
          <a:ln w="19050">
            <a:solidFill>
              <a:schemeClr val="tx1"/>
            </a:solidFill>
            <a:prstDash val="solid"/>
            <a:tailEnd type="triangle"/>
          </a:ln>
        </p:spPr>
      </p:sp>
      <p:sp>
        <p:nvSpPr>
          <p:cNvPr id="25" name="Arrow 87"/>
          <p:cNvSpPr/>
          <p:nvPr/>
        </p:nvSpPr>
        <p:spPr>
          <a:xfrm>
            <a:off x="5669280" y="2468880"/>
            <a:ext cx="320040" cy="0"/>
          </a:xfrm>
          <a:prstGeom prst="line">
            <a:avLst/>
          </a:prstGeom>
          <a:noFill/>
          <a:ln w="19050">
            <a:solidFill>
              <a:schemeClr val="tx1"/>
            </a:solidFill>
            <a:prstDash val="solid"/>
            <a:tailEnd type="triangle"/>
          </a:ln>
        </p:spPr>
      </p:sp>
      <p:sp>
        <p:nvSpPr>
          <p:cNvPr id="26" name="Arrow 88"/>
          <p:cNvSpPr/>
          <p:nvPr/>
        </p:nvSpPr>
        <p:spPr>
          <a:xfrm>
            <a:off x="8595360" y="2468880"/>
            <a:ext cx="320040" cy="0"/>
          </a:xfrm>
          <a:prstGeom prst="line">
            <a:avLst/>
          </a:prstGeom>
          <a:noFill/>
          <a:ln w="19050">
            <a:solidFill>
              <a:schemeClr val="tx1"/>
            </a:solidFill>
            <a:prstDash val="solid"/>
            <a:tailEnd type="triangle"/>
          </a:ln>
        </p:spPr>
      </p:sp>
      <p:sp>
        <p:nvSpPr>
          <p:cNvPr id="27" name="Database frame 89"/>
          <p:cNvSpPr/>
          <p:nvPr/>
        </p:nvSpPr>
        <p:spPr>
          <a:xfrm>
            <a:off x="2926080" y="3200400"/>
            <a:ext cx="8732520" cy="1042416"/>
          </a:xfrm>
          <a:prstGeom prst="roundRect">
            <a:avLst>
              <a:gd name="adj" fmla="val 7018"/>
            </a:avLst>
          </a:prstGeom>
          <a:ln w="12700">
            <a:solidFill>
              <a:schemeClr val="accent3"/>
            </a:solidFill>
            <a:prstDash val="dash"/>
          </a:ln>
        </p:spPr>
      </p:sp>
      <p:sp>
        <p:nvSpPr>
          <p:cNvPr id="28" name="Text 90"/>
          <p:cNvSpPr txBox="1"/>
          <p:nvPr/>
        </p:nvSpPr>
        <p:spPr>
          <a:xfrm>
            <a:off x="3063240" y="3227832"/>
            <a:ext cx="914400" cy="237744"/>
          </a:xfrm>
          <a:prstGeom prst="rect">
            <a:avLst/>
          </a:prstGeom>
          <a:noFill/>
          <a:ln/>
        </p:spPr>
        <p:txBody>
          <a:bodyPr wrap="square" lIns="0" tIns="0" rIns="0" bIns="0" rtlCol="0" anchor="t"/>
          <a:lstStyle/>
          <a:p>
            <a:pPr indent="0" marL="0">
              <a:buNone/>
            </a:pPr>
            <a:r>
              <a:rPr lang="en-US" sz="1100" b="1" spc="100" kern="0" dirty="0">
                <a:solidFill>
                  <a:schemeClr val="tx2"/>
                </a:solidFill>
              </a:rPr>
              <a:t>DATABASE</a:t>
            </a:r>
            <a:endParaRPr lang="en-US" sz="1100" dirty="0"/>
          </a:p>
        </p:txBody>
      </p:sp>
      <p:sp>
        <p:nvSpPr>
          <p:cNvPr id="29" name="Store 91"/>
          <p:cNvSpPr/>
          <p:nvPr/>
        </p:nvSpPr>
        <p:spPr>
          <a:xfrm>
            <a:off x="3063240" y="3474720"/>
            <a:ext cx="2606040" cy="658368"/>
          </a:xfrm>
          <a:prstGeom prst="roundRect">
            <a:avLst>
              <a:gd name="adj" fmla="val 8333"/>
            </a:avLst>
          </a:prstGeom>
          <a:solidFill>
            <a:schemeClr val="bg2"/>
          </a:solidFill>
          <a:ln w="12700">
            <a:solidFill>
              <a:schemeClr val="accent3"/>
            </a:solidFill>
            <a:prstDash val="solid"/>
          </a:ln>
        </p:spPr>
      </p:sp>
      <p:sp>
        <p:nvSpPr>
          <p:cNvPr id="30" name="Text 92"/>
          <p:cNvSpPr txBox="1"/>
          <p:nvPr/>
        </p:nvSpPr>
        <p:spPr>
          <a:xfrm>
            <a:off x="3200400" y="3547872"/>
            <a:ext cx="2331720" cy="292608"/>
          </a:xfrm>
          <a:prstGeom prst="rect">
            <a:avLst/>
          </a:prstGeom>
          <a:noFill/>
          <a:ln/>
        </p:spPr>
        <p:txBody>
          <a:bodyPr wrap="square" lIns="0" tIns="0" rIns="0" bIns="0" rtlCol="0" anchor="t"/>
          <a:lstStyle/>
          <a:p>
            <a:pPr indent="0" marL="0">
              <a:buNone/>
            </a:pPr>
            <a:r>
              <a:rPr lang="en-US" sz="1400" b="1" dirty="0">
                <a:solidFill>
                  <a:schemeClr val="tx1"/>
                </a:solidFill>
              </a:rPr>
              <a:t>customers</a:t>
            </a:r>
            <a:endParaRPr lang="en-US" sz="1400" dirty="0"/>
          </a:p>
        </p:txBody>
      </p:sp>
      <p:sp>
        <p:nvSpPr>
          <p:cNvPr id="31" name="Text 93"/>
          <p:cNvSpPr txBox="1"/>
          <p:nvPr/>
        </p:nvSpPr>
        <p:spPr>
          <a:xfrm>
            <a:off x="3200400" y="3840480"/>
            <a:ext cx="2331720" cy="256032"/>
          </a:xfrm>
          <a:prstGeom prst="rect">
            <a:avLst/>
          </a:prstGeom>
          <a:noFill/>
          <a:ln/>
        </p:spPr>
        <p:txBody>
          <a:bodyPr wrap="square" lIns="0" tIns="0" rIns="0" bIns="0" rtlCol="0" anchor="t"/>
          <a:lstStyle/>
          <a:p>
            <a:pPr indent="0" marL="0">
              <a:buNone/>
            </a:pPr>
            <a:r>
              <a:rPr lang="en-US" sz="1200" dirty="0">
                <a:solidFill>
                  <a:schemeClr val="tx2"/>
                </a:solidFill>
              </a:rPr>
              <a:t>5,000 profiles, lookup by id</a:t>
            </a:r>
            <a:endParaRPr lang="en-US" sz="1200" dirty="0"/>
          </a:p>
        </p:txBody>
      </p:sp>
      <p:sp>
        <p:nvSpPr>
          <p:cNvPr id="32" name="Store 94"/>
          <p:cNvSpPr/>
          <p:nvPr/>
        </p:nvSpPr>
        <p:spPr>
          <a:xfrm>
            <a:off x="5989320" y="3474720"/>
            <a:ext cx="2606040" cy="658368"/>
          </a:xfrm>
          <a:prstGeom prst="roundRect">
            <a:avLst>
              <a:gd name="adj" fmla="val 8333"/>
            </a:avLst>
          </a:prstGeom>
          <a:solidFill>
            <a:schemeClr val="accent1"/>
          </a:solidFill>
          <a:ln/>
        </p:spPr>
      </p:sp>
      <p:sp>
        <p:nvSpPr>
          <p:cNvPr id="33" name="Text 95"/>
          <p:cNvSpPr txBox="1"/>
          <p:nvPr/>
        </p:nvSpPr>
        <p:spPr>
          <a:xfrm>
            <a:off x="6126480" y="3547872"/>
            <a:ext cx="2331720" cy="292608"/>
          </a:xfrm>
          <a:prstGeom prst="rect">
            <a:avLst/>
          </a:prstGeom>
          <a:noFill/>
          <a:ln/>
        </p:spPr>
        <p:txBody>
          <a:bodyPr wrap="square" lIns="0" tIns="0" rIns="0" bIns="0" rtlCol="0" anchor="t"/>
          <a:lstStyle/>
          <a:p>
            <a:pPr indent="0" marL="0">
              <a:buNone/>
            </a:pPr>
            <a:r>
              <a:rPr lang="en-US" sz="1400" b="1" dirty="0">
                <a:solidFill>
                  <a:schemeClr val="bg1"/>
                </a:solidFill>
              </a:rPr>
              <a:t>Options store</a:t>
            </a:r>
            <a:endParaRPr lang="en-US" sz="1400" dirty="0"/>
          </a:p>
        </p:txBody>
      </p:sp>
      <p:sp>
        <p:nvSpPr>
          <p:cNvPr id="34" name="Text 96"/>
          <p:cNvSpPr txBox="1"/>
          <p:nvPr/>
        </p:nvSpPr>
        <p:spPr>
          <a:xfrm>
            <a:off x="6126480" y="3840480"/>
            <a:ext cx="2331720" cy="256032"/>
          </a:xfrm>
          <a:prstGeom prst="rect">
            <a:avLst/>
          </a:prstGeom>
          <a:noFill/>
          <a:ln/>
        </p:spPr>
        <p:txBody>
          <a:bodyPr wrap="square" lIns="0" tIns="0" rIns="0" bIns="0" rtlCol="0" anchor="t"/>
          <a:lstStyle/>
          <a:p>
            <a:pPr indent="0" marL="0">
              <a:buNone/>
            </a:pPr>
            <a:r>
              <a:rPr lang="en-US" sz="1200" dirty="0">
                <a:solidFill>
                  <a:schemeClr val="bg2"/>
                </a:solidFill>
              </a:rPr>
              <a:t>a Beta(α, β) per segment × offer</a:t>
            </a:r>
            <a:endParaRPr lang="en-US" sz="1200" dirty="0"/>
          </a:p>
        </p:txBody>
      </p:sp>
      <p:sp>
        <p:nvSpPr>
          <p:cNvPr id="35" name="Store 97"/>
          <p:cNvSpPr/>
          <p:nvPr/>
        </p:nvSpPr>
        <p:spPr>
          <a:xfrm>
            <a:off x="8915400" y="3474720"/>
            <a:ext cx="2606040" cy="658368"/>
          </a:xfrm>
          <a:prstGeom prst="roundRect">
            <a:avLst>
              <a:gd name="adj" fmla="val 8333"/>
            </a:avLst>
          </a:prstGeom>
          <a:solidFill>
            <a:schemeClr val="bg2"/>
          </a:solidFill>
          <a:ln w="12700">
            <a:solidFill>
              <a:schemeClr val="accent3"/>
            </a:solidFill>
            <a:prstDash val="solid"/>
          </a:ln>
        </p:spPr>
      </p:sp>
      <p:sp>
        <p:nvSpPr>
          <p:cNvPr id="36" name="Text 98"/>
          <p:cNvSpPr txBox="1"/>
          <p:nvPr/>
        </p:nvSpPr>
        <p:spPr>
          <a:xfrm>
            <a:off x="9052560" y="3547872"/>
            <a:ext cx="2331720" cy="292608"/>
          </a:xfrm>
          <a:prstGeom prst="rect">
            <a:avLst/>
          </a:prstGeom>
          <a:noFill/>
          <a:ln/>
        </p:spPr>
        <p:txBody>
          <a:bodyPr wrap="square" lIns="0" tIns="0" rIns="0" bIns="0" rtlCol="0" anchor="t"/>
          <a:lstStyle/>
          <a:p>
            <a:pPr indent="0" marL="0">
              <a:buNone/>
            </a:pPr>
            <a:r>
              <a:rPr lang="en-US" sz="1400" b="1" dirty="0">
                <a:solidFill>
                  <a:schemeClr val="tx1"/>
                </a:solidFill>
              </a:rPr>
              <a:t>Event log</a:t>
            </a:r>
            <a:endParaRPr lang="en-US" sz="1400" dirty="0"/>
          </a:p>
        </p:txBody>
      </p:sp>
      <p:sp>
        <p:nvSpPr>
          <p:cNvPr id="37" name="Text 99"/>
          <p:cNvSpPr txBox="1"/>
          <p:nvPr/>
        </p:nvSpPr>
        <p:spPr>
          <a:xfrm>
            <a:off x="9052560" y="3840480"/>
            <a:ext cx="2331720" cy="256032"/>
          </a:xfrm>
          <a:prstGeom prst="rect">
            <a:avLst/>
          </a:prstGeom>
          <a:noFill/>
          <a:ln/>
        </p:spPr>
        <p:txBody>
          <a:bodyPr wrap="square" lIns="0" tIns="0" rIns="0" bIns="0" rtlCol="0" anchor="t"/>
          <a:lstStyle/>
          <a:p>
            <a:pPr indent="0" marL="0">
              <a:buNone/>
            </a:pPr>
            <a:r>
              <a:rPr lang="en-US" sz="1200" dirty="0">
                <a:solidFill>
                  <a:schemeClr val="tx2"/>
                </a:solidFill>
              </a:rPr>
              <a:t>every app open, offer, response</a:t>
            </a:r>
            <a:endParaRPr lang="en-US" sz="1200" dirty="0"/>
          </a:p>
        </p:txBody>
      </p:sp>
      <p:sp>
        <p:nvSpPr>
          <p:cNvPr id="38" name="Arrow 100"/>
          <p:cNvSpPr/>
          <p:nvPr/>
        </p:nvSpPr>
        <p:spPr>
          <a:xfrm flipV="1">
            <a:off x="4366260" y="2880360"/>
            <a:ext cx="0" cy="594360"/>
          </a:xfrm>
          <a:prstGeom prst="line">
            <a:avLst/>
          </a:prstGeom>
          <a:noFill/>
          <a:ln w="15875">
            <a:solidFill>
              <a:schemeClr val="accent3"/>
            </a:solidFill>
            <a:prstDash val="solid"/>
            <a:tailEnd type="triangle"/>
          </a:ln>
        </p:spPr>
      </p:sp>
      <p:sp>
        <p:nvSpPr>
          <p:cNvPr id="39" name="Text 101"/>
          <p:cNvSpPr txBox="1"/>
          <p:nvPr/>
        </p:nvSpPr>
        <p:spPr>
          <a:xfrm>
            <a:off x="4439412" y="2907792"/>
            <a:ext cx="1188720" cy="237744"/>
          </a:xfrm>
          <a:prstGeom prst="rect">
            <a:avLst/>
          </a:prstGeom>
          <a:noFill/>
          <a:ln/>
        </p:spPr>
        <p:txBody>
          <a:bodyPr wrap="square" lIns="0" tIns="0" rIns="0" bIns="0" rtlCol="0" anchor="t"/>
          <a:lstStyle/>
          <a:p>
            <a:pPr indent="0" marL="0">
              <a:buNone/>
            </a:pPr>
            <a:r>
              <a:rPr lang="en-US" sz="1100" dirty="0">
                <a:solidFill>
                  <a:schemeClr val="tx2"/>
                </a:solidFill>
              </a:rPr>
              <a:t>reads profile</a:t>
            </a:r>
            <a:endParaRPr lang="en-US" sz="1100" dirty="0"/>
          </a:p>
        </p:txBody>
      </p:sp>
      <p:sp>
        <p:nvSpPr>
          <p:cNvPr id="40" name="Arrow 102"/>
          <p:cNvSpPr/>
          <p:nvPr/>
        </p:nvSpPr>
        <p:spPr>
          <a:xfrm flipV="1">
            <a:off x="7292340" y="2880360"/>
            <a:ext cx="0" cy="594360"/>
          </a:xfrm>
          <a:prstGeom prst="line">
            <a:avLst/>
          </a:prstGeom>
          <a:noFill/>
          <a:ln w="34925">
            <a:solidFill>
              <a:schemeClr val="accent1"/>
            </a:solidFill>
            <a:prstDash val="solid"/>
            <a:tailEnd type="triangle"/>
          </a:ln>
        </p:spPr>
      </p:sp>
      <p:sp>
        <p:nvSpPr>
          <p:cNvPr id="41" name="Text 103"/>
          <p:cNvSpPr txBox="1"/>
          <p:nvPr/>
        </p:nvSpPr>
        <p:spPr>
          <a:xfrm>
            <a:off x="7383780" y="2907792"/>
            <a:ext cx="1188720" cy="237744"/>
          </a:xfrm>
          <a:prstGeom prst="rect">
            <a:avLst/>
          </a:prstGeom>
          <a:noFill/>
          <a:ln/>
        </p:spPr>
        <p:txBody>
          <a:bodyPr wrap="square" lIns="0" tIns="0" rIns="0" bIns="0" rtlCol="0" anchor="t"/>
          <a:lstStyle/>
          <a:p>
            <a:pPr indent="0" marL="0">
              <a:buNone/>
            </a:pPr>
            <a:r>
              <a:rPr lang="en-US" sz="1100" b="1" dirty="0">
                <a:solidFill>
                  <a:schemeClr val="accent1"/>
                </a:solidFill>
              </a:rPr>
              <a:t>reads beliefs</a:t>
            </a:r>
            <a:endParaRPr lang="en-US" sz="1100" dirty="0"/>
          </a:p>
        </p:txBody>
      </p:sp>
      <p:sp>
        <p:nvSpPr>
          <p:cNvPr id="42" name="Arrow 104"/>
          <p:cNvSpPr/>
          <p:nvPr/>
        </p:nvSpPr>
        <p:spPr>
          <a:xfrm>
            <a:off x="10218420" y="2880360"/>
            <a:ext cx="0" cy="594360"/>
          </a:xfrm>
          <a:prstGeom prst="line">
            <a:avLst/>
          </a:prstGeom>
          <a:noFill/>
          <a:ln w="15875">
            <a:solidFill>
              <a:schemeClr val="accent3"/>
            </a:solidFill>
            <a:prstDash val="solid"/>
            <a:tailEnd type="triangle"/>
          </a:ln>
        </p:spPr>
      </p:sp>
      <p:sp>
        <p:nvSpPr>
          <p:cNvPr id="43" name="Text 105"/>
          <p:cNvSpPr txBox="1"/>
          <p:nvPr/>
        </p:nvSpPr>
        <p:spPr>
          <a:xfrm>
            <a:off x="10291572" y="2907792"/>
            <a:ext cx="731520" cy="237744"/>
          </a:xfrm>
          <a:prstGeom prst="rect">
            <a:avLst/>
          </a:prstGeom>
          <a:noFill/>
          <a:ln/>
        </p:spPr>
        <p:txBody>
          <a:bodyPr wrap="square" lIns="0" tIns="0" rIns="0" bIns="0" rtlCol="0" anchor="t"/>
          <a:lstStyle/>
          <a:p>
            <a:pPr indent="0" marL="0">
              <a:buNone/>
            </a:pPr>
            <a:r>
              <a:rPr lang="en-US" sz="1100" dirty="0">
                <a:solidFill>
                  <a:schemeClr val="tx2"/>
                </a:solidFill>
              </a:rPr>
              <a:t>writes</a:t>
            </a:r>
            <a:endParaRPr lang="en-US" sz="1100" dirty="0"/>
          </a:p>
        </p:txBody>
      </p:sp>
      <p:sp>
        <p:nvSpPr>
          <p:cNvPr id="44" name="Arrow 106"/>
          <p:cNvSpPr/>
          <p:nvPr/>
        </p:nvSpPr>
        <p:spPr>
          <a:xfrm>
            <a:off x="2011680" y="2880360"/>
            <a:ext cx="0" cy="1783080"/>
          </a:xfrm>
          <a:prstGeom prst="line">
            <a:avLst/>
          </a:prstGeom>
          <a:noFill/>
          <a:ln w="15875">
            <a:solidFill>
              <a:schemeClr val="accent3"/>
            </a:solidFill>
            <a:prstDash val="solid"/>
            <a:tailEnd type="triangle"/>
          </a:ln>
        </p:spPr>
      </p:sp>
      <p:sp>
        <p:nvSpPr>
          <p:cNvPr id="45" name="Text 107"/>
          <p:cNvSpPr txBox="1"/>
          <p:nvPr/>
        </p:nvSpPr>
        <p:spPr>
          <a:xfrm>
            <a:off x="685800" y="3611880"/>
            <a:ext cx="1234440" cy="237744"/>
          </a:xfrm>
          <a:prstGeom prst="rect">
            <a:avLst/>
          </a:prstGeom>
          <a:noFill/>
          <a:ln/>
        </p:spPr>
        <p:txBody>
          <a:bodyPr wrap="square" lIns="0" tIns="0" rIns="0" bIns="0" rtlCol="0" anchor="t"/>
          <a:lstStyle/>
          <a:p>
            <a:pPr algn="r" indent="0" marL="0">
              <a:buNone/>
            </a:pPr>
            <a:r>
              <a:rPr lang="en-US" sz="1200" dirty="0">
                <a:solidFill>
                  <a:schemeClr val="tx2"/>
                </a:solidFill>
              </a:rPr>
              <a:t>sees the top 3</a:t>
            </a:r>
            <a:endParaRPr lang="en-US" sz="1200" dirty="0"/>
          </a:p>
        </p:txBody>
      </p:sp>
      <p:sp>
        <p:nvSpPr>
          <p:cNvPr id="46" name="Step box 108"/>
          <p:cNvSpPr/>
          <p:nvPr/>
        </p:nvSpPr>
        <p:spPr>
          <a:xfrm>
            <a:off x="548640" y="4663440"/>
            <a:ext cx="1828800" cy="822960"/>
          </a:xfrm>
          <a:prstGeom prst="roundRect">
            <a:avLst>
              <a:gd name="adj" fmla="val 6667"/>
            </a:avLst>
          </a:prstGeom>
          <a:solidFill>
            <a:schemeClr val="bg2"/>
          </a:solidFill>
          <a:ln w="15875">
            <a:solidFill>
              <a:schemeClr val="tx1"/>
            </a:solidFill>
            <a:prstDash val="solid"/>
          </a:ln>
        </p:spPr>
      </p:sp>
      <p:sp>
        <p:nvSpPr>
          <p:cNvPr id="47" name="Step 109"/>
          <p:cNvSpPr txBox="1"/>
          <p:nvPr/>
        </p:nvSpPr>
        <p:spPr>
          <a:xfrm>
            <a:off x="67665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8" name="Text 110"/>
          <p:cNvSpPr txBox="1"/>
          <p:nvPr/>
        </p:nvSpPr>
        <p:spPr>
          <a:xfrm>
            <a:off x="1078992" y="4764024"/>
            <a:ext cx="1207008" cy="329184"/>
          </a:xfrm>
          <a:prstGeom prst="rect">
            <a:avLst/>
          </a:prstGeom>
          <a:noFill/>
          <a:ln/>
        </p:spPr>
        <p:txBody>
          <a:bodyPr wrap="square" lIns="0" tIns="0" rIns="0" bIns="0" rtlCol="0" anchor="t"/>
          <a:lstStyle/>
          <a:p>
            <a:pPr indent="0" marL="0">
              <a:buNone/>
            </a:pPr>
            <a:r>
              <a:rPr lang="en-US" sz="1400" b="1" dirty="0">
                <a:solidFill>
                  <a:schemeClr val="tx1"/>
                </a:solidFill>
              </a:rPr>
              <a:t>Responds</a:t>
            </a:r>
            <a:endParaRPr lang="en-US" sz="1400" dirty="0"/>
          </a:p>
        </p:txBody>
      </p:sp>
      <p:sp>
        <p:nvSpPr>
          <p:cNvPr id="49" name="Text 111"/>
          <p:cNvSpPr txBox="1"/>
          <p:nvPr/>
        </p:nvSpPr>
        <p:spPr>
          <a:xfrm>
            <a:off x="676656" y="5138928"/>
            <a:ext cx="1609344" cy="274320"/>
          </a:xfrm>
          <a:prstGeom prst="rect">
            <a:avLst/>
          </a:prstGeom>
          <a:noFill/>
          <a:ln/>
        </p:spPr>
        <p:txBody>
          <a:bodyPr wrap="square" lIns="0" tIns="0" rIns="0" bIns="0" rtlCol="0" anchor="t"/>
          <a:lstStyle/>
          <a:p>
            <a:pPr indent="0" marL="0">
              <a:buNone/>
            </a:pPr>
            <a:r>
              <a:rPr lang="en-US" sz="1100" dirty="0">
                <a:solidFill>
                  <a:schemeClr val="tx2"/>
                </a:solidFill>
                <a:latin typeface="Consolas" pitchFamily="34" charset="0"/>
                <a:ea typeface="Consolas" pitchFamily="34" charset="-122"/>
                <a:cs typeface="Consolas" pitchFamily="34" charset="-120"/>
              </a:rPr>
              <a:t>POST /response</a:t>
            </a:r>
            <a:endParaRPr lang="en-US" sz="1100" dirty="0"/>
          </a:p>
        </p:txBody>
      </p:sp>
      <p:sp>
        <p:nvSpPr>
          <p:cNvPr id="50" name="Step box 112"/>
          <p:cNvSpPr/>
          <p:nvPr/>
        </p:nvSpPr>
        <p:spPr>
          <a:xfrm>
            <a:off x="8915400" y="4663440"/>
            <a:ext cx="2606040" cy="822960"/>
          </a:xfrm>
          <a:prstGeom prst="roundRect">
            <a:avLst>
              <a:gd name="adj" fmla="val 6667"/>
            </a:avLst>
          </a:prstGeom>
          <a:solidFill>
            <a:schemeClr val="bg1"/>
          </a:solidFill>
          <a:ln w="15875">
            <a:solidFill>
              <a:schemeClr val="tx1"/>
            </a:solidFill>
            <a:prstDash val="solid"/>
          </a:ln>
        </p:spPr>
      </p:sp>
      <p:sp>
        <p:nvSpPr>
          <p:cNvPr id="51" name="Step 113"/>
          <p:cNvSpPr txBox="1"/>
          <p:nvPr/>
        </p:nvSpPr>
        <p:spPr>
          <a:xfrm>
            <a:off x="904341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52" name="Text 114"/>
          <p:cNvSpPr txBox="1"/>
          <p:nvPr/>
        </p:nvSpPr>
        <p:spPr>
          <a:xfrm>
            <a:off x="9445752" y="4764024"/>
            <a:ext cx="1984248" cy="329184"/>
          </a:xfrm>
          <a:prstGeom prst="rect">
            <a:avLst/>
          </a:prstGeom>
          <a:noFill/>
          <a:ln/>
        </p:spPr>
        <p:txBody>
          <a:bodyPr wrap="square" lIns="0" tIns="0" rIns="0" bIns="0" rtlCol="0" anchor="t"/>
          <a:lstStyle/>
          <a:p>
            <a:pPr indent="0" marL="0">
              <a:buNone/>
            </a:pPr>
            <a:r>
              <a:rPr lang="en-US" sz="1400" b="1" dirty="0">
                <a:solidFill>
                  <a:schemeClr val="tx1"/>
                </a:solidFill>
              </a:rPr>
              <a:t>Score, log once</a:t>
            </a:r>
            <a:endParaRPr lang="en-US" sz="1400" dirty="0"/>
          </a:p>
        </p:txBody>
      </p:sp>
      <p:sp>
        <p:nvSpPr>
          <p:cNvPr id="53" name="Text 115"/>
          <p:cNvSpPr txBox="1"/>
          <p:nvPr/>
        </p:nvSpPr>
        <p:spPr>
          <a:xfrm>
            <a:off x="9043416" y="5138928"/>
            <a:ext cx="2386584" cy="274320"/>
          </a:xfrm>
          <a:prstGeom prst="rect">
            <a:avLst/>
          </a:prstGeom>
          <a:noFill/>
          <a:ln/>
        </p:spPr>
        <p:txBody>
          <a:bodyPr wrap="square" lIns="0" tIns="0" rIns="0" bIns="0" rtlCol="0" anchor="t"/>
          <a:lstStyle/>
          <a:p>
            <a:pPr indent="0" marL="0">
              <a:buNone/>
            </a:pPr>
            <a:r>
              <a:rPr lang="en-US" sz="1200" dirty="0">
                <a:solidFill>
                  <a:schemeClr val="tx2"/>
                </a:solidFill>
              </a:rPr>
              <a:t>1 · 0 · none; a repeat gets 409</a:t>
            </a:r>
            <a:endParaRPr lang="en-US" sz="1200" dirty="0"/>
          </a:p>
        </p:txBody>
      </p:sp>
      <p:sp>
        <p:nvSpPr>
          <p:cNvPr id="54" name="Step box 116"/>
          <p:cNvSpPr/>
          <p:nvPr/>
        </p:nvSpPr>
        <p:spPr>
          <a:xfrm>
            <a:off x="5989320" y="4663440"/>
            <a:ext cx="2606040" cy="822960"/>
          </a:xfrm>
          <a:prstGeom prst="roundRect">
            <a:avLst>
              <a:gd name="adj" fmla="val 6667"/>
            </a:avLst>
          </a:prstGeom>
          <a:solidFill>
            <a:schemeClr val="bg1"/>
          </a:solidFill>
          <a:ln w="15875">
            <a:solidFill>
              <a:schemeClr val="tx1"/>
            </a:solidFill>
            <a:prstDash val="solid"/>
          </a:ln>
        </p:spPr>
      </p:sp>
      <p:sp>
        <p:nvSpPr>
          <p:cNvPr id="55" name="Step 117"/>
          <p:cNvSpPr txBox="1"/>
          <p:nvPr/>
        </p:nvSpPr>
        <p:spPr>
          <a:xfrm>
            <a:off x="6117336" y="4782312"/>
            <a:ext cx="310896" cy="310896"/>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56" name="Text 118"/>
          <p:cNvSpPr txBox="1"/>
          <p:nvPr/>
        </p:nvSpPr>
        <p:spPr>
          <a:xfrm>
            <a:off x="6519672" y="4764024"/>
            <a:ext cx="1984248" cy="329184"/>
          </a:xfrm>
          <a:prstGeom prst="rect">
            <a:avLst/>
          </a:prstGeom>
          <a:noFill/>
          <a:ln/>
        </p:spPr>
        <p:txBody>
          <a:bodyPr wrap="square" lIns="0" tIns="0" rIns="0" bIns="0" rtlCol="0" anchor="t"/>
          <a:lstStyle/>
          <a:p>
            <a:pPr indent="0" marL="0">
              <a:buNone/>
            </a:pPr>
            <a:r>
              <a:rPr lang="en-US" sz="1400" b="1" dirty="0">
                <a:solidFill>
                  <a:schemeClr val="tx1"/>
                </a:solidFill>
              </a:rPr>
              <a:t>Learn and forget</a:t>
            </a:r>
            <a:endParaRPr lang="en-US" sz="1400" dirty="0"/>
          </a:p>
        </p:txBody>
      </p:sp>
      <p:sp>
        <p:nvSpPr>
          <p:cNvPr id="57" name="Text 119"/>
          <p:cNvSpPr txBox="1"/>
          <p:nvPr/>
        </p:nvSpPr>
        <p:spPr>
          <a:xfrm>
            <a:off x="6117336" y="5138928"/>
            <a:ext cx="2386584" cy="274320"/>
          </a:xfrm>
          <a:prstGeom prst="rect">
            <a:avLst/>
          </a:prstGeom>
          <a:noFill/>
          <a:ln/>
        </p:spPr>
        <p:txBody>
          <a:bodyPr wrap="square" lIns="0" tIns="0" rIns="0" bIns="0" rtlCol="0" anchor="t"/>
          <a:lstStyle/>
          <a:p>
            <a:pPr indent="0" marL="0">
              <a:buNone/>
            </a:pPr>
            <a:r>
              <a:rPr lang="en-US" sz="1200" dirty="0">
                <a:solidFill>
                  <a:schemeClr val="tx2"/>
                </a:solidFill>
              </a:rPr>
              <a:t>segment × 0.9998, then + reward</a:t>
            </a:r>
            <a:endParaRPr lang="en-US" sz="1200" dirty="0"/>
          </a:p>
        </p:txBody>
      </p:sp>
      <p:sp>
        <p:nvSpPr>
          <p:cNvPr id="58" name="Arrow 120"/>
          <p:cNvSpPr/>
          <p:nvPr/>
        </p:nvSpPr>
        <p:spPr>
          <a:xfrm flipH="1">
            <a:off x="8595360" y="5074920"/>
            <a:ext cx="320040" cy="0"/>
          </a:xfrm>
          <a:prstGeom prst="line">
            <a:avLst/>
          </a:prstGeom>
          <a:noFill/>
          <a:ln w="19050">
            <a:solidFill>
              <a:schemeClr val="tx1"/>
            </a:solidFill>
            <a:prstDash val="solid"/>
            <a:tailEnd type="triangle"/>
          </a:ln>
        </p:spPr>
      </p:sp>
      <p:sp>
        <p:nvSpPr>
          <p:cNvPr id="59" name="Arrow 121"/>
          <p:cNvSpPr/>
          <p:nvPr/>
        </p:nvSpPr>
        <p:spPr>
          <a:xfrm flipV="1">
            <a:off x="7292340" y="4133088"/>
            <a:ext cx="0" cy="530352"/>
          </a:xfrm>
          <a:prstGeom prst="line">
            <a:avLst/>
          </a:prstGeom>
          <a:noFill/>
          <a:ln w="34925">
            <a:solidFill>
              <a:schemeClr val="accent1"/>
            </a:solidFill>
            <a:prstDash val="solid"/>
            <a:tailEnd type="triangle"/>
          </a:ln>
        </p:spPr>
      </p:sp>
      <p:sp>
        <p:nvSpPr>
          <p:cNvPr id="60" name="Text 122"/>
          <p:cNvSpPr txBox="1"/>
          <p:nvPr/>
        </p:nvSpPr>
        <p:spPr>
          <a:xfrm>
            <a:off x="5829300" y="4352544"/>
            <a:ext cx="1371600" cy="237744"/>
          </a:xfrm>
          <a:prstGeom prst="rect">
            <a:avLst/>
          </a:prstGeom>
          <a:noFill/>
          <a:ln/>
        </p:spPr>
        <p:txBody>
          <a:bodyPr wrap="square" lIns="0" tIns="0" rIns="0" bIns="0" rtlCol="0" anchor="t"/>
          <a:lstStyle/>
          <a:p>
            <a:pPr algn="r" indent="0" marL="0">
              <a:buNone/>
            </a:pPr>
            <a:r>
              <a:rPr lang="en-US" sz="1100" b="1" dirty="0">
                <a:solidFill>
                  <a:schemeClr val="accent1"/>
                </a:solidFill>
              </a:rPr>
              <a:t>updates the belief</a:t>
            </a:r>
            <a:endParaRPr lang="en-US" sz="1100" dirty="0"/>
          </a:p>
        </p:txBody>
      </p:sp>
      <p:sp>
        <p:nvSpPr>
          <p:cNvPr id="61" name="Arrow 123"/>
          <p:cNvSpPr/>
          <p:nvPr/>
        </p:nvSpPr>
        <p:spPr>
          <a:xfrm>
            <a:off x="9875520" y="4133088"/>
            <a:ext cx="0" cy="530352"/>
          </a:xfrm>
          <a:prstGeom prst="line">
            <a:avLst/>
          </a:prstGeom>
          <a:noFill/>
          <a:ln w="15875">
            <a:solidFill>
              <a:schemeClr val="accent3"/>
            </a:solidFill>
            <a:prstDash val="solid"/>
            <a:tailEnd type="triangle"/>
          </a:ln>
        </p:spPr>
      </p:sp>
      <p:sp>
        <p:nvSpPr>
          <p:cNvPr id="62" name="Text 124"/>
          <p:cNvSpPr txBox="1"/>
          <p:nvPr/>
        </p:nvSpPr>
        <p:spPr>
          <a:xfrm>
            <a:off x="8503920" y="4352544"/>
            <a:ext cx="1298448" cy="237744"/>
          </a:xfrm>
          <a:prstGeom prst="rect">
            <a:avLst/>
          </a:prstGeom>
          <a:noFill/>
          <a:ln/>
        </p:spPr>
        <p:txBody>
          <a:bodyPr wrap="square" lIns="0" tIns="0" rIns="0" bIns="0" rtlCol="0" anchor="t"/>
          <a:lstStyle/>
          <a:p>
            <a:pPr algn="r" indent="0" marL="0">
              <a:buNone/>
            </a:pPr>
            <a:r>
              <a:rPr lang="en-US" sz="1100" dirty="0">
                <a:solidFill>
                  <a:schemeClr val="tx2"/>
                </a:solidFill>
              </a:rPr>
              <a:t>reads context</a:t>
            </a:r>
            <a:endParaRPr lang="en-US" sz="1100" dirty="0"/>
          </a:p>
        </p:txBody>
      </p:sp>
      <p:sp>
        <p:nvSpPr>
          <p:cNvPr id="63" name="Arrow 125"/>
          <p:cNvSpPr/>
          <p:nvPr/>
        </p:nvSpPr>
        <p:spPr>
          <a:xfrm flipV="1">
            <a:off x="10607040" y="4133088"/>
            <a:ext cx="0" cy="530352"/>
          </a:xfrm>
          <a:prstGeom prst="line">
            <a:avLst/>
          </a:prstGeom>
          <a:noFill/>
          <a:ln w="15875">
            <a:solidFill>
              <a:schemeClr val="accent3"/>
            </a:solidFill>
            <a:prstDash val="solid"/>
            <a:tailEnd type="triangle"/>
          </a:ln>
        </p:spPr>
      </p:sp>
      <p:sp>
        <p:nvSpPr>
          <p:cNvPr id="64" name="Text 126"/>
          <p:cNvSpPr txBox="1"/>
          <p:nvPr/>
        </p:nvSpPr>
        <p:spPr>
          <a:xfrm>
            <a:off x="10680192" y="4352544"/>
            <a:ext cx="914400" cy="237744"/>
          </a:xfrm>
          <a:prstGeom prst="rect">
            <a:avLst/>
          </a:prstGeom>
          <a:noFill/>
          <a:ln/>
        </p:spPr>
        <p:txBody>
          <a:bodyPr wrap="square" lIns="0" tIns="0" rIns="0" bIns="0" rtlCol="0" anchor="t"/>
          <a:lstStyle/>
          <a:p>
            <a:pPr indent="0" marL="0">
              <a:buNone/>
            </a:pPr>
            <a:r>
              <a:rPr lang="en-US" sz="1100" dirty="0">
                <a:solidFill>
                  <a:schemeClr val="tx2"/>
                </a:solidFill>
              </a:rPr>
              <a:t>writes once</a:t>
            </a:r>
            <a:endParaRPr lang="en-US" sz="1100" dirty="0"/>
          </a:p>
        </p:txBody>
      </p:sp>
      <p:sp>
        <p:nvSpPr>
          <p:cNvPr id="65" name="Arrow 127"/>
          <p:cNvSpPr/>
          <p:nvPr/>
        </p:nvSpPr>
        <p:spPr>
          <a:xfrm>
            <a:off x="1463040" y="5486400"/>
            <a:ext cx="0" cy="274320"/>
          </a:xfrm>
          <a:prstGeom prst="line">
            <a:avLst/>
          </a:prstGeom>
          <a:noFill/>
          <a:ln w="19050">
            <a:solidFill>
              <a:schemeClr val="tx1"/>
            </a:solidFill>
            <a:prstDash val="solid"/>
          </a:ln>
        </p:spPr>
      </p:sp>
      <p:sp>
        <p:nvSpPr>
          <p:cNvPr id="66" name="Arrow 128"/>
          <p:cNvSpPr/>
          <p:nvPr/>
        </p:nvSpPr>
        <p:spPr>
          <a:xfrm>
            <a:off x="1463040" y="5760720"/>
            <a:ext cx="8755380" cy="0"/>
          </a:xfrm>
          <a:prstGeom prst="line">
            <a:avLst/>
          </a:prstGeom>
          <a:noFill/>
          <a:ln w="19050">
            <a:solidFill>
              <a:schemeClr val="tx1"/>
            </a:solidFill>
            <a:prstDash val="solid"/>
          </a:ln>
        </p:spPr>
      </p:sp>
      <p:sp>
        <p:nvSpPr>
          <p:cNvPr id="67" name="Arrow 129"/>
          <p:cNvSpPr/>
          <p:nvPr/>
        </p:nvSpPr>
        <p:spPr>
          <a:xfrm flipV="1">
            <a:off x="10218420" y="5486400"/>
            <a:ext cx="0" cy="274320"/>
          </a:xfrm>
          <a:prstGeom prst="line">
            <a:avLst/>
          </a:prstGeom>
          <a:noFill/>
          <a:ln w="19050">
            <a:solidFill>
              <a:schemeClr val="tx1"/>
            </a:solidFill>
            <a:prstDash val="solid"/>
            <a:tailEnd type="triangle"/>
          </a:ln>
        </p:spPr>
      </p:sp>
      <p:sp>
        <p:nvSpPr>
          <p:cNvPr id="68" name="Text 130"/>
          <p:cNvSpPr txBox="1"/>
          <p:nvPr/>
        </p:nvSpPr>
        <p:spPr>
          <a:xfrm>
            <a:off x="3474720" y="5815584"/>
            <a:ext cx="5120640" cy="237744"/>
          </a:xfrm>
          <a:prstGeom prst="rect">
            <a:avLst/>
          </a:prstGeom>
          <a:noFill/>
          <a:ln/>
        </p:spPr>
        <p:txBody>
          <a:bodyPr wrap="square" lIns="0" tIns="0" rIns="0" bIns="0" rtlCol="0" anchor="t"/>
          <a:lstStyle/>
          <a:p>
            <a:pPr algn="ctr" indent="0" marL="0">
              <a:buNone/>
            </a:pPr>
            <a:r>
              <a:rPr lang="en-US" sz="1100" dirty="0">
                <a:solidFill>
                  <a:schemeClr val="tx1"/>
                </a:solidFill>
                <a:latin typeface="Consolas" pitchFamily="34" charset="0"/>
                <a:ea typeface="Consolas" pitchFamily="34" charset="-122"/>
                <a:cs typeface="Consolas" pitchFamily="34" charset="-120"/>
              </a:rPr>
              <a:t>POST /response · invocation_id, offer_id, outcome</a:t>
            </a:r>
            <a:endParaRPr lang="en-US" sz="1100" dirty="0"/>
          </a:p>
        </p:txBody>
      </p:sp>
      <p:sp>
        <p:nvSpPr>
          <p:cNvPr id="69" name="Text 131"/>
          <p:cNvSpPr txBox="1"/>
          <p:nvPr/>
        </p:nvSpPr>
        <p:spPr>
          <a:xfrm>
            <a:off x="3063240" y="4773168"/>
            <a:ext cx="2606040" cy="640080"/>
          </a:xfrm>
          <a:prstGeom prst="rect">
            <a:avLst/>
          </a:prstGeom>
          <a:noFill/>
          <a:ln/>
        </p:spPr>
        <p:txBody>
          <a:bodyPr wrap="square" lIns="0" tIns="0" rIns="0" bIns="0" rtlCol="0" anchor="ctr"/>
          <a:lstStyle/>
          <a:p>
            <a:pPr indent="0" marL="0">
              <a:buNone/>
            </a:pPr>
            <a:r>
              <a:rPr lang="en-US" sz="1300" i="1" dirty="0">
                <a:solidFill>
                  <a:schemeClr val="accent1"/>
                </a:solidFill>
              </a:rPr>
              <a:t>The options store carries what one customer taught to the next, on every API worker.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MODEL</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Exploration in proportion to doubt</a:t>
            </a:r>
            <a:endParaRPr lang="en-US" sz="3600" dirty="0"/>
          </a:p>
        </p:txBody>
      </p:sp>
      <p:graphicFrame>
        <p:nvGraphicFramePr>
          <p:cNvPr id="4" name="Beta beliefs chart" descr=""/>
          <p:cNvGraphicFramePr/>
          <p:nvPr/>
        </p:nvGraphicFramePr>
        <p:xfrm>
          <a:off x="548640" y="160020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5" name="Step 132"/>
          <p:cNvSpPr txBox="1"/>
          <p:nvPr/>
        </p:nvSpPr>
        <p:spPr>
          <a:xfrm>
            <a:off x="6949440" y="164592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133"/>
          <p:cNvSpPr txBox="1"/>
          <p:nvPr/>
        </p:nvSpPr>
        <p:spPr>
          <a:xfrm>
            <a:off x="7498080" y="1664208"/>
            <a:ext cx="4142232" cy="310896"/>
          </a:xfrm>
          <a:prstGeom prst="rect">
            <a:avLst/>
          </a:prstGeom>
          <a:noFill/>
          <a:ln/>
        </p:spPr>
        <p:txBody>
          <a:bodyPr wrap="square" lIns="0" tIns="0" rIns="0" bIns="0" rtlCol="0" anchor="t"/>
          <a:lstStyle/>
          <a:p>
            <a:pPr indent="0" marL="0">
              <a:buNone/>
            </a:pPr>
            <a:r>
              <a:rPr lang="en-US" sz="1500" b="1" dirty="0">
                <a:solidFill>
                  <a:schemeClr val="tx1"/>
                </a:solidFill>
              </a:rPr>
              <a:t>A belief per segment and offer</a:t>
            </a:r>
            <a:endParaRPr lang="en-US" sz="1500" dirty="0"/>
          </a:p>
        </p:txBody>
      </p:sp>
      <p:sp>
        <p:nvSpPr>
          <p:cNvPr id="7" name="Text 134"/>
          <p:cNvSpPr txBox="1"/>
          <p:nvPr/>
        </p:nvSpPr>
        <p:spPr>
          <a:xfrm>
            <a:off x="7498080" y="1993392"/>
            <a:ext cx="4142232" cy="713232"/>
          </a:xfrm>
          <a:prstGeom prst="rect">
            <a:avLst/>
          </a:prstGeom>
          <a:noFill/>
          <a:ln/>
        </p:spPr>
        <p:txBody>
          <a:bodyPr wrap="square" lIns="0" tIns="0" rIns="0" bIns="0" rtlCol="0" anchor="t"/>
          <a:lstStyle/>
          <a:p>
            <a:pPr indent="0" marL="0">
              <a:buNone/>
            </a:pPr>
            <a:r>
              <a:rPr lang="en-US" sz="1400" dirty="0">
                <a:solidFill>
                  <a:schemeClr val="tx2"/>
                </a:solidFill>
              </a:rPr>
              <a:t>Beta(α, β): α grows with take-ups, β with views that didn't convert. Every offer starts at Beta(1, 1).</a:t>
            </a:r>
            <a:endParaRPr lang="en-US" sz="1400" dirty="0"/>
          </a:p>
        </p:txBody>
      </p:sp>
      <p:sp>
        <p:nvSpPr>
          <p:cNvPr id="8" name="Step 135"/>
          <p:cNvSpPr txBox="1"/>
          <p:nvPr/>
        </p:nvSpPr>
        <p:spPr>
          <a:xfrm>
            <a:off x="6949440" y="276148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136"/>
          <p:cNvSpPr txBox="1"/>
          <p:nvPr/>
        </p:nvSpPr>
        <p:spPr>
          <a:xfrm>
            <a:off x="7498080" y="2779776"/>
            <a:ext cx="4142232" cy="310896"/>
          </a:xfrm>
          <a:prstGeom prst="rect">
            <a:avLst/>
          </a:prstGeom>
          <a:noFill/>
          <a:ln/>
        </p:spPr>
        <p:txBody>
          <a:bodyPr wrap="square" lIns="0" tIns="0" rIns="0" bIns="0" rtlCol="0" anchor="t"/>
          <a:lstStyle/>
          <a:p>
            <a:pPr indent="0" marL="0">
              <a:buNone/>
            </a:pPr>
            <a:r>
              <a:rPr lang="en-US" sz="1500" b="1" dirty="0">
                <a:solidFill>
                  <a:schemeClr val="tx1"/>
                </a:solidFill>
              </a:rPr>
              <a:t>Draw, then rank</a:t>
            </a:r>
            <a:endParaRPr lang="en-US" sz="1500" dirty="0"/>
          </a:p>
        </p:txBody>
      </p:sp>
      <p:sp>
        <p:nvSpPr>
          <p:cNvPr id="10" name="Text 137"/>
          <p:cNvSpPr txBox="1"/>
          <p:nvPr/>
        </p:nvSpPr>
        <p:spPr>
          <a:xfrm>
            <a:off x="7498080" y="3108960"/>
            <a:ext cx="4142232" cy="713232"/>
          </a:xfrm>
          <a:prstGeom prst="rect">
            <a:avLst/>
          </a:prstGeom>
          <a:noFill/>
          <a:ln/>
        </p:spPr>
        <p:txBody>
          <a:bodyPr wrap="square" lIns="0" tIns="0" rIns="0" bIns="0" rtlCol="0" anchor="t"/>
          <a:lstStyle/>
          <a:p>
            <a:pPr indent="0" marL="0">
              <a:buNone/>
            </a:pPr>
            <a:r>
              <a:rPr lang="en-US" sz="1400" dirty="0">
                <a:solidFill>
                  <a:schemeClr val="tx2"/>
                </a:solidFill>
              </a:rPr>
              <a:t>One sample from each eligible offer's belief; show the three highest. No ε to tune.</a:t>
            </a:r>
            <a:endParaRPr lang="en-US" sz="1400" dirty="0"/>
          </a:p>
        </p:txBody>
      </p:sp>
      <p:sp>
        <p:nvSpPr>
          <p:cNvPr id="11" name="Step 138"/>
          <p:cNvSpPr txBox="1"/>
          <p:nvPr/>
        </p:nvSpPr>
        <p:spPr>
          <a:xfrm>
            <a:off x="6949440" y="3877056"/>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139"/>
          <p:cNvSpPr txBox="1"/>
          <p:nvPr/>
        </p:nvSpPr>
        <p:spPr>
          <a:xfrm>
            <a:off x="7498080" y="3895344"/>
            <a:ext cx="4142232" cy="310896"/>
          </a:xfrm>
          <a:prstGeom prst="rect">
            <a:avLst/>
          </a:prstGeom>
          <a:noFill/>
          <a:ln/>
        </p:spPr>
        <p:txBody>
          <a:bodyPr wrap="square" lIns="0" tIns="0" rIns="0" bIns="0" rtlCol="0" anchor="t"/>
          <a:lstStyle/>
          <a:p>
            <a:pPr indent="0" marL="0">
              <a:buNone/>
            </a:pPr>
            <a:r>
              <a:rPr lang="en-US" sz="1500" b="1" dirty="0">
                <a:solidFill>
                  <a:schemeClr val="tx1"/>
                </a:solidFill>
              </a:rPr>
              <a:t>Doubt buys exploration</a:t>
            </a:r>
            <a:endParaRPr lang="en-US" sz="1500" dirty="0"/>
          </a:p>
        </p:txBody>
      </p:sp>
      <p:sp>
        <p:nvSpPr>
          <p:cNvPr id="13" name="Text 140"/>
          <p:cNvSpPr txBox="1"/>
          <p:nvPr/>
        </p:nvSpPr>
        <p:spPr>
          <a:xfrm>
            <a:off x="7498080" y="4224528"/>
            <a:ext cx="4142232" cy="713232"/>
          </a:xfrm>
          <a:prstGeom prst="rect">
            <a:avLst/>
          </a:prstGeom>
          <a:noFill/>
          <a:ln/>
        </p:spPr>
        <p:txBody>
          <a:bodyPr wrap="square" lIns="0" tIns="0" rIns="0" bIns="0" rtlCol="0" anchor="t"/>
          <a:lstStyle/>
          <a:p>
            <a:pPr indent="0" marL="0">
              <a:buNone/>
            </a:pPr>
            <a:r>
              <a:rPr lang="en-US" sz="1400" dirty="0">
                <a:solidFill>
                  <a:schemeClr val="tx2"/>
                </a:solidFill>
              </a:rPr>
              <a:t>Barely tried, offer C draws wide and comes first in 15% of app opens. B, known to be weaker, almost never does.</a:t>
            </a:r>
            <a:endParaRPr lang="en-US" sz="1400" dirty="0"/>
          </a:p>
        </p:txBody>
      </p:sp>
      <p:sp>
        <p:nvSpPr>
          <p:cNvPr id="14" name="Step 141"/>
          <p:cNvSpPr txBox="1"/>
          <p:nvPr/>
        </p:nvSpPr>
        <p:spPr>
          <a:xfrm>
            <a:off x="6949440" y="4992624"/>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142"/>
          <p:cNvSpPr txBox="1"/>
          <p:nvPr/>
        </p:nvSpPr>
        <p:spPr>
          <a:xfrm>
            <a:off x="7498080" y="5010912"/>
            <a:ext cx="4142232" cy="310896"/>
          </a:xfrm>
          <a:prstGeom prst="rect">
            <a:avLst/>
          </a:prstGeom>
          <a:noFill/>
          <a:ln/>
        </p:spPr>
        <p:txBody>
          <a:bodyPr wrap="square" lIns="0" tIns="0" rIns="0" bIns="0" rtlCol="0" anchor="t"/>
          <a:lstStyle/>
          <a:p>
            <a:pPr indent="0" marL="0">
              <a:buNone/>
            </a:pPr>
            <a:r>
              <a:rPr lang="en-US" sz="1500" b="1" dirty="0">
                <a:solidFill>
                  <a:schemeClr val="tx1"/>
                </a:solidFill>
              </a:rPr>
              <a:t>Forget a little</a:t>
            </a:r>
            <a:endParaRPr lang="en-US" sz="1500" dirty="0"/>
          </a:p>
        </p:txBody>
      </p:sp>
      <p:sp>
        <p:nvSpPr>
          <p:cNvPr id="16" name="Text 143"/>
          <p:cNvSpPr txBox="1"/>
          <p:nvPr/>
        </p:nvSpPr>
        <p:spPr>
          <a:xfrm>
            <a:off x="7498080" y="5340096"/>
            <a:ext cx="4142232" cy="713232"/>
          </a:xfrm>
          <a:prstGeom prst="rect">
            <a:avLst/>
          </a:prstGeom>
          <a:noFill/>
          <a:ln/>
        </p:spPr>
        <p:txBody>
          <a:bodyPr wrap="square" lIns="0" tIns="0" rIns="0" bIns="0" rtlCol="0" anchor="t"/>
          <a:lstStyle/>
          <a:p>
            <a:pPr indent="0" marL="0">
              <a:buNone/>
            </a:pPr>
            <a:r>
              <a:rPr lang="en-US" sz="1400" dirty="0">
                <a:solidFill>
                  <a:schemeClr val="tx2"/>
                </a:solidFill>
              </a:rPr>
              <a:t>Each update shrinks the segment's evidence by γ = 0.9998, a memory of about 5,000 responses.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THE TEST BENCH</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A world with a known answer</a:t>
            </a:r>
            <a:endParaRPr lang="en-US" sz="3600" dirty="0"/>
          </a:p>
        </p:txBody>
      </p:sp>
      <p:sp>
        <p:nvSpPr>
          <p:cNvPr id="4" name="Card 144"/>
          <p:cNvSpPr/>
          <p:nvPr/>
        </p:nvSpPr>
        <p:spPr>
          <a:xfrm>
            <a:off x="548640" y="1645920"/>
            <a:ext cx="11094415" cy="1051560"/>
          </a:xfrm>
          <a:prstGeom prst="roundRect">
            <a:avLst>
              <a:gd name="adj" fmla="val 6957"/>
            </a:avLst>
          </a:prstGeom>
          <a:solidFill>
            <a:schemeClr val="bg2"/>
          </a:solidFill>
          <a:ln/>
        </p:spPr>
      </p:sp>
      <p:sp>
        <p:nvSpPr>
          <p:cNvPr id="5" name="Text 145"/>
          <p:cNvSpPr txBox="1"/>
          <p:nvPr/>
        </p:nvSpPr>
        <p:spPr>
          <a:xfrm>
            <a:off x="822960"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5,000</a:t>
            </a:r>
            <a:endParaRPr lang="en-US" sz="3000" dirty="0"/>
          </a:p>
        </p:txBody>
      </p:sp>
      <p:sp>
        <p:nvSpPr>
          <p:cNvPr id="6" name="Text 146"/>
          <p:cNvSpPr txBox="1"/>
          <p:nvPr/>
        </p:nvSpPr>
        <p:spPr>
          <a:xfrm>
            <a:off x="822960"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synthetic customers</a:t>
            </a:r>
            <a:endParaRPr lang="en-US" sz="1300" dirty="0"/>
          </a:p>
        </p:txBody>
      </p:sp>
      <p:sp>
        <p:nvSpPr>
          <p:cNvPr id="7" name="Text 147"/>
          <p:cNvSpPr txBox="1"/>
          <p:nvPr/>
        </p:nvSpPr>
        <p:spPr>
          <a:xfrm>
            <a:off x="3041843"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5</a:t>
            </a:r>
            <a:endParaRPr lang="en-US" sz="3000" dirty="0"/>
          </a:p>
        </p:txBody>
      </p:sp>
      <p:sp>
        <p:nvSpPr>
          <p:cNvPr id="8" name="Text 148"/>
          <p:cNvSpPr txBox="1"/>
          <p:nvPr/>
        </p:nvSpPr>
        <p:spPr>
          <a:xfrm>
            <a:off x="3041843"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segments</a:t>
            </a:r>
            <a:endParaRPr lang="en-US" sz="1300" dirty="0"/>
          </a:p>
        </p:txBody>
      </p:sp>
      <p:sp>
        <p:nvSpPr>
          <p:cNvPr id="9" name="Text 149"/>
          <p:cNvSpPr txBox="1"/>
          <p:nvPr/>
        </p:nvSpPr>
        <p:spPr>
          <a:xfrm>
            <a:off x="5260726"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12</a:t>
            </a:r>
            <a:endParaRPr lang="en-US" sz="3000" dirty="0"/>
          </a:p>
        </p:txBody>
      </p:sp>
      <p:sp>
        <p:nvSpPr>
          <p:cNvPr id="10" name="Text 150"/>
          <p:cNvSpPr txBox="1"/>
          <p:nvPr/>
        </p:nvSpPr>
        <p:spPr>
          <a:xfrm>
            <a:off x="5260726"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offers</a:t>
            </a:r>
            <a:endParaRPr lang="en-US" sz="1300" dirty="0"/>
          </a:p>
        </p:txBody>
      </p:sp>
      <p:sp>
        <p:nvSpPr>
          <p:cNvPr id="11" name="Text 151"/>
          <p:cNvSpPr txBox="1"/>
          <p:nvPr/>
        </p:nvSpPr>
        <p:spPr>
          <a:xfrm>
            <a:off x="7479609"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14</a:t>
            </a:r>
            <a:endParaRPr lang="en-US" sz="3000" dirty="0"/>
          </a:p>
        </p:txBody>
      </p:sp>
      <p:sp>
        <p:nvSpPr>
          <p:cNvPr id="12" name="Text 152"/>
          <p:cNvSpPr txBox="1"/>
          <p:nvPr/>
        </p:nvSpPr>
        <p:spPr>
          <a:xfrm>
            <a:off x="7479609"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context effects</a:t>
            </a:r>
            <a:endParaRPr lang="en-US" sz="1300" dirty="0"/>
          </a:p>
        </p:txBody>
      </p:sp>
      <p:sp>
        <p:nvSpPr>
          <p:cNvPr id="13" name="Text 153"/>
          <p:cNvSpPr txBox="1"/>
          <p:nvPr/>
        </p:nvSpPr>
        <p:spPr>
          <a:xfrm>
            <a:off x="9698492" y="1737360"/>
            <a:ext cx="1853123"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60</a:t>
            </a:r>
            <a:endParaRPr lang="en-US" sz="3000" dirty="0"/>
          </a:p>
        </p:txBody>
      </p:sp>
      <p:sp>
        <p:nvSpPr>
          <p:cNvPr id="14" name="Text 154"/>
          <p:cNvSpPr txBox="1"/>
          <p:nvPr/>
        </p:nvSpPr>
        <p:spPr>
          <a:xfrm>
            <a:off x="9698492" y="2286000"/>
            <a:ext cx="1853123" cy="274320"/>
          </a:xfrm>
          <a:prstGeom prst="rect">
            <a:avLst/>
          </a:prstGeom>
          <a:noFill/>
          <a:ln/>
        </p:spPr>
        <p:txBody>
          <a:bodyPr wrap="square" lIns="0" tIns="0" rIns="0" bIns="0" rtlCol="0" anchor="t"/>
          <a:lstStyle/>
          <a:p>
            <a:pPr indent="0" marL="0">
              <a:buNone/>
            </a:pPr>
            <a:r>
              <a:rPr lang="en-US" sz="1300" dirty="0">
                <a:solidFill>
                  <a:schemeClr val="tx2"/>
                </a:solidFill>
              </a:rPr>
              <a:t>simulated days</a:t>
            </a:r>
            <a:endParaRPr lang="en-US" sz="1300" dirty="0"/>
          </a:p>
        </p:txBody>
      </p:sp>
      <p:sp>
        <p:nvSpPr>
          <p:cNvPr id="15" name="Card 155"/>
          <p:cNvSpPr/>
          <p:nvPr/>
        </p:nvSpPr>
        <p:spPr>
          <a:xfrm>
            <a:off x="548640" y="2971800"/>
            <a:ext cx="5410048" cy="3154680"/>
          </a:xfrm>
          <a:prstGeom prst="roundRect">
            <a:avLst>
              <a:gd name="adj" fmla="val 2319"/>
            </a:avLst>
          </a:prstGeom>
          <a:solidFill>
            <a:schemeClr val="accent2">
              <a:alpha val="15000"/>
            </a:schemeClr>
          </a:solidFill>
          <a:ln/>
        </p:spPr>
      </p:sp>
      <p:sp>
        <p:nvSpPr>
          <p:cNvPr id="16" name="Text 156"/>
          <p:cNvSpPr txBox="1"/>
          <p:nvPr/>
        </p:nvSpPr>
        <p:spPr>
          <a:xfrm>
            <a:off x="868680" y="3154680"/>
            <a:ext cx="4769968" cy="365760"/>
          </a:xfrm>
          <a:prstGeom prst="rect">
            <a:avLst/>
          </a:prstGeom>
          <a:noFill/>
          <a:ln/>
        </p:spPr>
        <p:txBody>
          <a:bodyPr wrap="square" lIns="0" tIns="0" rIns="0" bIns="0" rtlCol="0" anchor="t"/>
          <a:lstStyle/>
          <a:p>
            <a:pPr indent="0" marL="0">
              <a:buNone/>
            </a:pPr>
            <a:r>
              <a:rPr lang="en-US" sz="1800" b="1" dirty="0">
                <a:solidFill>
                  <a:schemeClr val="accent6"/>
                </a:solidFill>
              </a:rPr>
              <a:t>Hidden from the recommender</a:t>
            </a:r>
            <a:endParaRPr lang="en-US" sz="1800" dirty="0"/>
          </a:p>
        </p:txBody>
      </p:sp>
      <p:sp>
        <p:nvSpPr>
          <p:cNvPr id="17" name="Text 157"/>
          <p:cNvSpPr txBox="1"/>
          <p:nvPr/>
        </p:nvSpPr>
        <p:spPr>
          <a:xfrm>
            <a:off x="868680" y="3611880"/>
            <a:ext cx="4769968"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True take-up for every segment, offer and moment: payday, time of day, device, contract</a:t>
            </a:r>
            <a:endParaRPr lang="en-US" sz="1400" dirty="0"/>
          </a:p>
          <a:p>
            <a:pPr marL="203200" indent="-203200">
              <a:spcAft>
                <a:spcPts val="800"/>
              </a:spcAft>
              <a:buSzPct val="100000"/>
              <a:buChar char="•"/>
            </a:pPr>
            <a:r>
              <a:rPr lang="en-US" sz="1400" dirty="0">
                <a:solidFill>
                  <a:schemeClr val="tx1"/>
                </a:solidFill>
              </a:rPr>
              <a:t>Customers read top-down, with attention 1.0, 0.6 and 0.4, and take up one offer at most</a:t>
            </a:r>
            <a:endParaRPr lang="en-US" sz="1400" dirty="0"/>
          </a:p>
          <a:p>
            <a:pPr marL="203200" indent="-203200">
              <a:spcAft>
                <a:spcPts val="800"/>
              </a:spcAft>
              <a:buSzPct val="100000"/>
              <a:buChar char="•"/>
            </a:pPr>
            <a:r>
              <a:rPr lang="en-US" sz="1400" dirty="0">
                <a:solidFill>
                  <a:schemeClr val="tx1"/>
                </a:solidFill>
              </a:rPr>
              <a:t>Halfway through, tastes shift: streaming goes viral, electricity overtakes funeral cover</a:t>
            </a:r>
            <a:endParaRPr lang="en-US" sz="1400" dirty="0"/>
          </a:p>
          <a:p>
            <a:pPr marL="203200" indent="-203200">
              <a:spcAft>
                <a:spcPts val="800"/>
              </a:spcAft>
              <a:buSzPct val="100000"/>
              <a:buChar char="•"/>
            </a:pPr>
            <a:r>
              <a:rPr lang="en-US" sz="1400" dirty="0">
                <a:solidFill>
                  <a:schemeClr val="tx1"/>
                </a:solidFill>
              </a:rPr>
              <a:t>A test fails if any recommender code imports the simulator or opens its files</a:t>
            </a:r>
            <a:endParaRPr lang="en-US" sz="1400" dirty="0"/>
          </a:p>
        </p:txBody>
      </p:sp>
      <p:sp>
        <p:nvSpPr>
          <p:cNvPr id="18" name="Card 158"/>
          <p:cNvSpPr/>
          <p:nvPr/>
        </p:nvSpPr>
        <p:spPr>
          <a:xfrm>
            <a:off x="6233008" y="2971800"/>
            <a:ext cx="5410048" cy="3154680"/>
          </a:xfrm>
          <a:prstGeom prst="roundRect">
            <a:avLst>
              <a:gd name="adj" fmla="val 2319"/>
            </a:avLst>
          </a:prstGeom>
          <a:solidFill>
            <a:schemeClr val="bg2"/>
          </a:solidFill>
          <a:ln/>
        </p:spPr>
      </p:sp>
      <p:sp>
        <p:nvSpPr>
          <p:cNvPr id="19" name="Text 159"/>
          <p:cNvSpPr txBox="1"/>
          <p:nvPr/>
        </p:nvSpPr>
        <p:spPr>
          <a:xfrm>
            <a:off x="6553048" y="3154680"/>
            <a:ext cx="4769968" cy="365760"/>
          </a:xfrm>
          <a:prstGeom prst="rect">
            <a:avLst/>
          </a:prstGeom>
          <a:noFill/>
          <a:ln/>
        </p:spPr>
        <p:txBody>
          <a:bodyPr wrap="square" lIns="0" tIns="0" rIns="0" bIns="0" rtlCol="0" anchor="t"/>
          <a:lstStyle/>
          <a:p>
            <a:pPr indent="0" marL="0">
              <a:buNone/>
            </a:pPr>
            <a:r>
              <a:rPr lang="en-US" sz="1800" b="1" dirty="0">
                <a:solidFill>
                  <a:schemeClr val="accent1"/>
                </a:solidFill>
              </a:rPr>
              <a:t>A fair race</a:t>
            </a:r>
            <a:endParaRPr lang="en-US" sz="1800" dirty="0"/>
          </a:p>
        </p:txBody>
      </p:sp>
      <p:sp>
        <p:nvSpPr>
          <p:cNvPr id="20" name="Text 160"/>
          <p:cNvSpPr txBox="1"/>
          <p:nvPr/>
        </p:nvSpPr>
        <p:spPr>
          <a:xfrm>
            <a:off x="6553048" y="3611880"/>
            <a:ext cx="4769968"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Every policy faces the identical 50,000 app opens in each seed</a:t>
            </a:r>
            <a:endParaRPr lang="en-US" sz="1400" dirty="0"/>
          </a:p>
          <a:p>
            <a:pPr marL="203200" indent="-203200">
              <a:spcAft>
                <a:spcPts val="800"/>
              </a:spcAft>
              <a:buSzPct val="100000"/>
              <a:buChar char="•"/>
            </a:pPr>
            <a:r>
              <a:rPr lang="en-US" sz="1400" dirty="0">
                <a:solidFill>
                  <a:schemeClr val="tx1"/>
                </a:solidFill>
              </a:rPr>
              <a:t>Regret is take-ups lost against an oracle that knows the truth, from expected values</a:t>
            </a:r>
            <a:endParaRPr lang="en-US" sz="1400" dirty="0"/>
          </a:p>
          <a:p>
            <a:pPr marL="203200" indent="-203200">
              <a:spcAft>
                <a:spcPts val="800"/>
              </a:spcAft>
              <a:buSzPct val="100000"/>
              <a:buChar char="•"/>
            </a:pPr>
            <a:r>
              <a:rPr lang="en-US" sz="1400" dirty="0">
                <a:solidFill>
                  <a:schemeClr val="tx1"/>
                </a:solidFill>
              </a:rPr>
              <a:t>10 seeds, compared in pairs, with 95% bootstrap intervals</a:t>
            </a:r>
            <a:endParaRPr lang="en-US" sz="1400" dirty="0"/>
          </a:p>
          <a:p>
            <a:pPr marL="203200" indent="-203200">
              <a:spcAft>
                <a:spcPts val="800"/>
              </a:spcAft>
              <a:buSzPct val="100000"/>
              <a:buChar char="•"/>
            </a:pPr>
            <a:r>
              <a:rPr lang="en-US" sz="1400" dirty="0">
                <a:solidFill>
                  <a:schemeClr val="tx1"/>
                </a:solidFill>
              </a:rPr>
              <a:t>The static model gets a month of history to fit on; the learners start from nothing</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RESULTS  ·  10 SEEDS × 50,000 APP OPENS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Learning per segment gets 93% of perfect</a:t>
            </a:r>
            <a:endParaRPr lang="en-US" sz="3600" dirty="0"/>
          </a:p>
        </p:txBody>
      </p:sp>
      <p:graphicFrame>
        <p:nvGraphicFramePr>
          <p:cNvPr id="4" name="Share of oracle chart" descr=""/>
          <p:cNvGraphicFramePr/>
          <p:nvPr/>
        </p:nvGraphicFramePr>
        <p:xfrm>
          <a:off x="548640" y="1572768"/>
          <a:ext cx="7178040" cy="4617720"/>
        </p:xfrm>
        <a:graphic xmlns:a="http://schemas.openxmlformats.org/drawingml/2006/main">
          <a:graphicData uri="http://schemas.openxmlformats.org/drawingml/2006/chart">
            <c:chart xmlns:c="http://schemas.openxmlformats.org/drawingml/2006/chart" r:id="rId1"/>
          </a:graphicData>
        </a:graphic>
      </p:graphicFrame>
      <p:sp>
        <p:nvSpPr>
          <p:cNvPr id="5" name="Card 161"/>
          <p:cNvSpPr/>
          <p:nvPr/>
        </p:nvSpPr>
        <p:spPr>
          <a:xfrm>
            <a:off x="8092440" y="1645920"/>
            <a:ext cx="3547872" cy="1371600"/>
          </a:xfrm>
          <a:prstGeom prst="roundRect">
            <a:avLst>
              <a:gd name="adj" fmla="val 5333"/>
            </a:avLst>
          </a:prstGeom>
          <a:solidFill>
            <a:schemeClr val="bg2"/>
          </a:solidFill>
          <a:ln/>
        </p:spPr>
      </p:sp>
      <p:sp>
        <p:nvSpPr>
          <p:cNvPr id="6" name="Text 162"/>
          <p:cNvSpPr txBox="1"/>
          <p:nvPr/>
        </p:nvSpPr>
        <p:spPr>
          <a:xfrm>
            <a:off x="8321040" y="1764792"/>
            <a:ext cx="3090672" cy="50292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+53%</a:t>
            </a:r>
            <a:endParaRPr lang="en-US" sz="2800" dirty="0"/>
          </a:p>
        </p:txBody>
      </p:sp>
      <p:sp>
        <p:nvSpPr>
          <p:cNvPr id="7" name="Text 163"/>
          <p:cNvSpPr txBox="1"/>
          <p:nvPr/>
        </p:nvSpPr>
        <p:spPr>
          <a:xfrm>
            <a:off x="8321040" y="2286000"/>
            <a:ext cx="3090672" cy="685800"/>
          </a:xfrm>
          <a:prstGeom prst="rect">
            <a:avLst/>
          </a:prstGeom>
          <a:noFill/>
          <a:ln/>
        </p:spPr>
        <p:txBody>
          <a:bodyPr wrap="square" lIns="0" tIns="0" rIns="0" bIns="0" rtlCol="0" anchor="t"/>
          <a:lstStyle/>
          <a:p>
            <a:pPr indent="0" marL="0">
              <a:buNone/>
            </a:pPr>
            <a:r>
              <a:rPr lang="en-US" sz="1300" dirty="0">
                <a:solidFill>
                  <a:schemeClr val="tx1"/>
                </a:solidFill>
              </a:rPr>
              <a:t>take-ups per app open over the static model: 0.263 against 0.172</a:t>
            </a:r>
            <a:endParaRPr lang="en-US" sz="1300" dirty="0"/>
          </a:p>
        </p:txBody>
      </p:sp>
      <p:sp>
        <p:nvSpPr>
          <p:cNvPr id="8" name="Card 164"/>
          <p:cNvSpPr/>
          <p:nvPr/>
        </p:nvSpPr>
        <p:spPr>
          <a:xfrm>
            <a:off x="8092440" y="3182112"/>
            <a:ext cx="3547872" cy="1371600"/>
          </a:xfrm>
          <a:prstGeom prst="roundRect">
            <a:avLst>
              <a:gd name="adj" fmla="val 5333"/>
            </a:avLst>
          </a:prstGeom>
          <a:solidFill>
            <a:schemeClr val="bg2"/>
          </a:solidFill>
          <a:ln/>
        </p:spPr>
      </p:sp>
      <p:sp>
        <p:nvSpPr>
          <p:cNvPr id="9" name="Text 165"/>
          <p:cNvSpPr txBox="1"/>
          <p:nvPr/>
        </p:nvSpPr>
        <p:spPr>
          <a:xfrm>
            <a:off x="8321040" y="3300984"/>
            <a:ext cx="3090672" cy="502920"/>
          </a:xfrm>
          <a:prstGeom prst="rect">
            <a:avLst/>
          </a:prstGeom>
          <a:noFill/>
          <a:ln/>
        </p:spPr>
        <p:txBody>
          <a:bodyPr wrap="square" lIns="0" tIns="0" rIns="0" bIns="0" rtlCol="0" anchor="t"/>
          <a:lstStyle/>
          <a:p>
            <a:pPr indent="0" marL="0">
              <a:buNone/>
            </a:pPr>
            <a:r>
              <a:rPr lang="en-US" sz="2800" b="1" dirty="0">
                <a:solidFill>
                  <a:schemeClr val="accent1"/>
                </a:solidFill>
                <a:latin typeface="+mj-lt" pitchFamily="34" charset="0"/>
                <a:ea typeface="+mj-lt" pitchFamily="34" charset="-122"/>
                <a:cs typeface="+mj-lt" pitchFamily="34" charset="-120"/>
              </a:rPr>
              <a:t>92% vs 68%</a:t>
            </a:r>
            <a:endParaRPr lang="en-US" sz="2800" dirty="0"/>
          </a:p>
        </p:txBody>
      </p:sp>
      <p:sp>
        <p:nvSpPr>
          <p:cNvPr id="10" name="Text 166"/>
          <p:cNvSpPr txBox="1"/>
          <p:nvPr/>
        </p:nvSpPr>
        <p:spPr>
          <a:xfrm>
            <a:off x="8321040" y="3822192"/>
            <a:ext cx="3090672" cy="685800"/>
          </a:xfrm>
          <a:prstGeom prst="rect">
            <a:avLst/>
          </a:prstGeom>
          <a:noFill/>
          <a:ln/>
        </p:spPr>
        <p:txBody>
          <a:bodyPr wrap="square" lIns="0" tIns="0" rIns="0" bIns="0" rtlCol="0" anchor="t"/>
          <a:lstStyle/>
          <a:p>
            <a:pPr indent="0" marL="0">
              <a:buNone/>
            </a:pPr>
            <a:r>
              <a:rPr lang="en-US" sz="1300" dirty="0">
                <a:solidFill>
                  <a:schemeClr val="tx1"/>
                </a:solidFill>
              </a:rPr>
              <a:t>one belief per segment against one global belief: the biggest single lever</a:t>
            </a:r>
            <a:endParaRPr lang="en-US" sz="1300" dirty="0"/>
          </a:p>
        </p:txBody>
      </p:sp>
      <p:sp>
        <p:nvSpPr>
          <p:cNvPr id="11" name="Card 167"/>
          <p:cNvSpPr/>
          <p:nvPr/>
        </p:nvSpPr>
        <p:spPr>
          <a:xfrm>
            <a:off x="8092440" y="4718304"/>
            <a:ext cx="3547872" cy="1371600"/>
          </a:xfrm>
          <a:prstGeom prst="roundRect">
            <a:avLst>
              <a:gd name="adj" fmla="val 5333"/>
            </a:avLst>
          </a:prstGeom>
          <a:solidFill>
            <a:schemeClr val="bg2"/>
          </a:solidFill>
          <a:ln/>
        </p:spPr>
      </p:sp>
      <p:sp>
        <p:nvSpPr>
          <p:cNvPr id="12" name="Text 168"/>
          <p:cNvSpPr txBox="1"/>
          <p:nvPr/>
        </p:nvSpPr>
        <p:spPr>
          <a:xfrm>
            <a:off x="8321040" y="4837176"/>
            <a:ext cx="3090672" cy="502920"/>
          </a:xfrm>
          <a:prstGeom prst="rect">
            <a:avLst/>
          </a:prstGeom>
          <a:noFill/>
          <a:ln/>
        </p:spPr>
        <p:txBody>
          <a:bodyPr wrap="square" lIns="0" tIns="0" rIns="0" bIns="0" rtlCol="0" anchor="t"/>
          <a:lstStyle/>
          <a:p>
            <a:pPr indent="0" marL="0">
              <a:buNone/>
            </a:pPr>
            <a:r>
              <a:rPr lang="en-US" sz="2800" b="1" dirty="0">
                <a:solidFill>
                  <a:schemeClr val="accent5"/>
                </a:solidFill>
                <a:latin typeface="+mj-lt" pitchFamily="34" charset="0"/>
                <a:ea typeface="+mj-lt" pitchFamily="34" charset="-122"/>
                <a:cs typeface="+mj-lt" pitchFamily="34" charset="-120"/>
              </a:rPr>
              <a:t>94.2%</a:t>
            </a:r>
            <a:endParaRPr lang="en-US" sz="2800" dirty="0"/>
          </a:p>
        </p:txBody>
      </p:sp>
      <p:sp>
        <p:nvSpPr>
          <p:cNvPr id="13" name="Text 169"/>
          <p:cNvSpPr txBox="1"/>
          <p:nvPr/>
        </p:nvSpPr>
        <p:spPr>
          <a:xfrm>
            <a:off x="8321040" y="5358384"/>
            <a:ext cx="3090672" cy="685800"/>
          </a:xfrm>
          <a:prstGeom prst="rect">
            <a:avLst/>
          </a:prstGeom>
          <a:noFill/>
          <a:ln/>
        </p:spPr>
        <p:txBody>
          <a:bodyPr wrap="square" lIns="0" tIns="0" rIns="0" bIns="0" rtlCol="0" anchor="t"/>
          <a:lstStyle/>
          <a:p>
            <a:pPr indent="0" marL="0">
              <a:buNone/>
            </a:pPr>
            <a:r>
              <a:rPr lang="en-US" sz="1300" dirty="0">
                <a:solidFill>
                  <a:schemeClr val="tx1"/>
                </a:solidFill>
              </a:rPr>
              <a:t>customer features beat segments in 10 of 10 seeds; simulator only until the store can hold a matrix per offer</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RESULTS  ·  THE BEHAVIOUR SHIFT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When tastes change, it follows</a:t>
            </a:r>
            <a:endParaRPr lang="en-US" sz="3600" dirty="0"/>
          </a:p>
        </p:txBody>
      </p:sp>
      <p:graphicFrame>
        <p:nvGraphicFramePr>
          <p:cNvPr id="4" name="Before and after chart" descr=""/>
          <p:cNvGraphicFramePr/>
          <p:nvPr/>
        </p:nvGraphicFramePr>
        <p:xfrm>
          <a:off x="548640" y="1572768"/>
          <a:ext cx="6583680" cy="4617720"/>
        </p:xfrm>
        <a:graphic xmlns:a="http://schemas.openxmlformats.org/drawingml/2006/main">
          <a:graphicData uri="http://schemas.openxmlformats.org/drawingml/2006/chart">
            <c:chart xmlns:c="http://schemas.openxmlformats.org/drawingml/2006/chart" r:id="rId1"/>
          </a:graphicData>
        </a:graphic>
      </p:graphicFrame>
      <p:sp>
        <p:nvSpPr>
          <p:cNvPr id="5" name="Step 170"/>
          <p:cNvSpPr txBox="1"/>
          <p:nvPr/>
        </p:nvSpPr>
        <p:spPr>
          <a:xfrm>
            <a:off x="7498080" y="1755648"/>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171"/>
          <p:cNvSpPr txBox="1"/>
          <p:nvPr/>
        </p:nvSpPr>
        <p:spPr>
          <a:xfrm>
            <a:off x="8065008" y="1691640"/>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1,460 vs 5,601</a:t>
            </a:r>
            <a:endParaRPr lang="en-US" sz="2600" dirty="0"/>
          </a:p>
        </p:txBody>
      </p:sp>
      <p:sp>
        <p:nvSpPr>
          <p:cNvPr id="7" name="Text 172"/>
          <p:cNvSpPr txBox="1"/>
          <p:nvPr/>
        </p:nvSpPr>
        <p:spPr>
          <a:xfrm>
            <a:off x="8065008" y="2240280"/>
            <a:ext cx="3575304" cy="777240"/>
          </a:xfrm>
          <a:prstGeom prst="rect">
            <a:avLst/>
          </a:prstGeom>
          <a:noFill/>
          <a:ln/>
        </p:spPr>
        <p:txBody>
          <a:bodyPr wrap="square" lIns="0" tIns="0" rIns="0" bIns="0" rtlCol="0" anchor="t"/>
          <a:lstStyle/>
          <a:p>
            <a:pPr indent="0" marL="0">
              <a:buNone/>
            </a:pPr>
            <a:r>
              <a:rPr lang="en-US" sz="1400" dirty="0">
                <a:solidFill>
                  <a:schemeClr val="tx1"/>
                </a:solidFill>
              </a:rPr>
              <a:t>app opens until young professionals' new favourite led: with forgetting, and without</a:t>
            </a:r>
            <a:endParaRPr lang="en-US" sz="1400" dirty="0"/>
          </a:p>
        </p:txBody>
      </p:sp>
      <p:sp>
        <p:nvSpPr>
          <p:cNvPr id="8" name="Step 173"/>
          <p:cNvSpPr txBox="1"/>
          <p:nvPr/>
        </p:nvSpPr>
        <p:spPr>
          <a:xfrm>
            <a:off x="7498080" y="329184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 174"/>
          <p:cNvSpPr txBox="1"/>
          <p:nvPr/>
        </p:nvSpPr>
        <p:spPr>
          <a:xfrm>
            <a:off x="8065008" y="3227832"/>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7,980 vs never</a:t>
            </a:r>
            <a:endParaRPr lang="en-US" sz="2600" dirty="0"/>
          </a:p>
        </p:txBody>
      </p:sp>
      <p:sp>
        <p:nvSpPr>
          <p:cNvPr id="10" name="Text 175"/>
          <p:cNvSpPr txBox="1"/>
          <p:nvPr/>
        </p:nvSpPr>
        <p:spPr>
          <a:xfrm>
            <a:off x="8065008" y="3776472"/>
            <a:ext cx="3575304" cy="777240"/>
          </a:xfrm>
          <a:prstGeom prst="rect">
            <a:avLst/>
          </a:prstGeom>
          <a:noFill/>
          <a:ln/>
        </p:spPr>
        <p:txBody>
          <a:bodyPr wrap="square" lIns="0" tIns="0" rIns="0" bIns="0" rtlCol="0" anchor="t"/>
          <a:lstStyle/>
          <a:p>
            <a:pPr indent="0" marL="0">
              <a:buNone/>
            </a:pPr>
            <a:r>
              <a:rPr lang="en-US" sz="1400" dirty="0">
                <a:solidFill>
                  <a:schemeClr val="tx1"/>
                </a:solidFill>
              </a:rPr>
              <a:t>for families, whose old favourite was well known. The static model adapts for neither</a:t>
            </a:r>
            <a:endParaRPr lang="en-US" sz="1400" dirty="0"/>
          </a:p>
        </p:txBody>
      </p:sp>
      <p:sp>
        <p:nvSpPr>
          <p:cNvPr id="11" name="Step 176"/>
          <p:cNvSpPr txBox="1"/>
          <p:nvPr/>
        </p:nvSpPr>
        <p:spPr>
          <a:xfrm>
            <a:off x="7498080" y="48280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 177"/>
          <p:cNvSpPr txBox="1"/>
          <p:nvPr/>
        </p:nvSpPr>
        <p:spPr>
          <a:xfrm>
            <a:off x="8065008" y="4764024"/>
            <a:ext cx="3575304" cy="502920"/>
          </a:xfrm>
          <a:prstGeom prst="rect">
            <a:avLst/>
          </a:prstGeom>
          <a:noFill/>
          <a:ln/>
        </p:spPr>
        <p:txBody>
          <a:bodyPr wrap="square" lIns="0" tIns="0" rIns="0" bIns="0" rtlCol="0" anchor="t"/>
          <a:lstStyle/>
          <a:p>
            <a:pPr indent="0" marL="0">
              <a:buNone/>
            </a:pPr>
            <a:r>
              <a:rPr lang="en-US" sz="2600" b="1" dirty="0">
                <a:solidFill>
                  <a:schemeClr val="accent1"/>
                </a:solidFill>
                <a:latin typeface="+mj-lt" pitchFamily="34" charset="0"/>
                <a:ea typeface="+mj-lt" pitchFamily="34" charset="-122"/>
                <a:cs typeface="+mj-lt" pitchFamily="34" charset="-120"/>
              </a:rPr>
              <a:t>10 of 10</a:t>
            </a:r>
            <a:endParaRPr lang="en-US" sz="2600" dirty="0"/>
          </a:p>
        </p:txBody>
      </p:sp>
      <p:sp>
        <p:nvSpPr>
          <p:cNvPr id="13" name="Text 178"/>
          <p:cNvSpPr txBox="1"/>
          <p:nvPr/>
        </p:nvSpPr>
        <p:spPr>
          <a:xfrm>
            <a:off x="8065008" y="5312664"/>
            <a:ext cx="3575304" cy="777240"/>
          </a:xfrm>
          <a:prstGeom prst="rect">
            <a:avLst/>
          </a:prstGeom>
          <a:noFill/>
          <a:ln/>
        </p:spPr>
        <p:txBody>
          <a:bodyPr wrap="square" lIns="0" tIns="0" rIns="0" bIns="0" rtlCol="0" anchor="t"/>
          <a:lstStyle/>
          <a:p>
            <a:pPr indent="0" marL="0">
              <a:buNone/>
            </a:pPr>
            <a:r>
              <a:rPr lang="en-US" sz="1400" dirty="0">
                <a:solidFill>
                  <a:schemeClr val="tx1"/>
                </a:solidFill>
              </a:rPr>
              <a:t>seeds where forgetting cut regret after the shift, by 130 take-ups; it cost 93 before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THE EVIDENCE SAYS, AND DOESN'T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Six findings, each with its evidence</a:t>
            </a:r>
            <a:endParaRPr lang="en-US" sz="3600" dirty="0"/>
          </a:p>
        </p:txBody>
      </p:sp>
      <p:sp>
        <p:nvSpPr>
          <p:cNvPr id="4" name="Card 179"/>
          <p:cNvSpPr/>
          <p:nvPr/>
        </p:nvSpPr>
        <p:spPr>
          <a:xfrm>
            <a:off x="548640" y="1645920"/>
            <a:ext cx="3515258" cy="2148840"/>
          </a:xfrm>
          <a:prstGeom prst="roundRect">
            <a:avLst>
              <a:gd name="adj" fmla="val 3404"/>
            </a:avLst>
          </a:prstGeom>
          <a:solidFill>
            <a:schemeClr val="bg2"/>
          </a:solidFill>
          <a:ln/>
        </p:spPr>
      </p:sp>
      <p:sp>
        <p:nvSpPr>
          <p:cNvPr id="5" name="Text 180"/>
          <p:cNvSpPr txBox="1"/>
          <p:nvPr/>
        </p:nvSpPr>
        <p:spPr>
          <a:xfrm>
            <a:off x="822960"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A tie</a:t>
            </a:r>
            <a:endParaRPr lang="en-US" sz="3000" dirty="0"/>
          </a:p>
        </p:txBody>
      </p:sp>
      <p:sp>
        <p:nvSpPr>
          <p:cNvPr id="6" name="Text 181"/>
          <p:cNvSpPr txBox="1"/>
          <p:nvPr/>
        </p:nvSpPr>
        <p:spPr>
          <a:xfrm>
            <a:off x="822960"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The top three are tied</a:t>
            </a:r>
            <a:endParaRPr lang="en-US" sz="1600" dirty="0"/>
          </a:p>
        </p:txBody>
      </p:sp>
      <p:sp>
        <p:nvSpPr>
          <p:cNvPr id="7" name="Text 182"/>
          <p:cNvSpPr txBox="1"/>
          <p:nvPr/>
        </p:nvSpPr>
        <p:spPr>
          <a:xfrm>
            <a:off x="822960"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The best three servable policies are within the noise between seeds, so I report a tie.</a:t>
            </a:r>
            <a:endParaRPr lang="en-US" sz="1400" dirty="0"/>
          </a:p>
        </p:txBody>
      </p:sp>
      <p:sp>
        <p:nvSpPr>
          <p:cNvPr id="8" name="Card 183"/>
          <p:cNvSpPr/>
          <p:nvPr/>
        </p:nvSpPr>
        <p:spPr>
          <a:xfrm>
            <a:off x="4338218" y="1645920"/>
            <a:ext cx="3515258" cy="2148840"/>
          </a:xfrm>
          <a:prstGeom prst="roundRect">
            <a:avLst>
              <a:gd name="adj" fmla="val 3404"/>
            </a:avLst>
          </a:prstGeom>
          <a:solidFill>
            <a:schemeClr val="bg2"/>
          </a:solidFill>
          <a:ln/>
        </p:spPr>
      </p:sp>
      <p:sp>
        <p:nvSpPr>
          <p:cNvPr id="9" name="Text 184"/>
          <p:cNvSpPr txBox="1"/>
          <p:nvPr/>
        </p:nvSpPr>
        <p:spPr>
          <a:xfrm>
            <a:off x="4612538"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8 of 10</a:t>
            </a:r>
            <a:endParaRPr lang="en-US" sz="3000" dirty="0"/>
          </a:p>
        </p:txBody>
      </p:sp>
      <p:sp>
        <p:nvSpPr>
          <p:cNvPr id="10" name="Text 185"/>
          <p:cNvSpPr txBox="1"/>
          <p:nvPr/>
        </p:nvSpPr>
        <p:spPr>
          <a:xfrm>
            <a:off x="4612538"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Thompson beats ε-greedy</a:t>
            </a:r>
            <a:endParaRPr lang="en-US" sz="1600" dirty="0"/>
          </a:p>
        </p:txBody>
      </p:sp>
      <p:sp>
        <p:nvSpPr>
          <p:cNvPr id="11" name="Text 186"/>
          <p:cNvSpPr txBox="1"/>
          <p:nvPr/>
        </p:nvSpPr>
        <p:spPr>
          <a:xfrm>
            <a:off x="4612538"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Same segments, 612 fewer take-ups lost (95% interval 329–885).</a:t>
            </a:r>
            <a:endParaRPr lang="en-US" sz="1400" dirty="0"/>
          </a:p>
        </p:txBody>
      </p:sp>
      <p:sp>
        <p:nvSpPr>
          <p:cNvPr id="12" name="Card 187"/>
          <p:cNvSpPr/>
          <p:nvPr/>
        </p:nvSpPr>
        <p:spPr>
          <a:xfrm>
            <a:off x="8127797" y="1645920"/>
            <a:ext cx="3515258" cy="2148840"/>
          </a:xfrm>
          <a:prstGeom prst="roundRect">
            <a:avLst>
              <a:gd name="adj" fmla="val 3404"/>
            </a:avLst>
          </a:prstGeom>
          <a:solidFill>
            <a:schemeClr val="bg2"/>
          </a:solidFill>
          <a:ln/>
        </p:spPr>
      </p:sp>
      <p:sp>
        <p:nvSpPr>
          <p:cNvPr id="13" name="Text 188"/>
          <p:cNvSpPr txBox="1"/>
          <p:nvPr/>
        </p:nvSpPr>
        <p:spPr>
          <a:xfrm>
            <a:off x="8402117" y="182880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+38%</a:t>
            </a:r>
            <a:endParaRPr lang="en-US" sz="3000" dirty="0"/>
          </a:p>
        </p:txBody>
      </p:sp>
      <p:sp>
        <p:nvSpPr>
          <p:cNvPr id="14" name="Text 189"/>
          <p:cNvSpPr txBox="1"/>
          <p:nvPr/>
        </p:nvSpPr>
        <p:spPr>
          <a:xfrm>
            <a:off x="8402117" y="2450592"/>
            <a:ext cx="2966618" cy="329184"/>
          </a:xfrm>
          <a:prstGeom prst="rect">
            <a:avLst/>
          </a:prstGeom>
          <a:noFill/>
          <a:ln/>
        </p:spPr>
        <p:txBody>
          <a:bodyPr wrap="square" lIns="0" tIns="0" rIns="0" bIns="0" rtlCol="0" anchor="t"/>
          <a:lstStyle/>
          <a:p>
            <a:pPr indent="0" marL="0">
              <a:buNone/>
            </a:pPr>
            <a:r>
              <a:rPr lang="en-US" sz="1600" b="1" dirty="0">
                <a:solidFill>
                  <a:schemeClr val="tx1"/>
                </a:solidFill>
              </a:rPr>
              <a:t>The reward is a business choice</a:t>
            </a:r>
            <a:endParaRPr lang="en-US" sz="1600" dirty="0"/>
          </a:p>
        </p:txBody>
      </p:sp>
      <p:sp>
        <p:nvSpPr>
          <p:cNvPr id="15" name="Text 190"/>
          <p:cNvSpPr txBox="1"/>
          <p:nvPr/>
        </p:nvSpPr>
        <p:spPr>
          <a:xfrm>
            <a:off x="8402117" y="2816352"/>
            <a:ext cx="2966618" cy="868680"/>
          </a:xfrm>
          <a:prstGeom prst="rect">
            <a:avLst/>
          </a:prstGeom>
          <a:noFill/>
          <a:ln/>
        </p:spPr>
        <p:txBody>
          <a:bodyPr wrap="square" lIns="0" tIns="0" rIns="0" bIns="0" rtlCol="0" anchor="t"/>
          <a:lstStyle/>
          <a:p>
            <a:pPr indent="0" marL="0">
              <a:buNone/>
            </a:pPr>
            <a:r>
              <a:rPr lang="en-US" sz="1400" dirty="0">
                <a:solidFill>
                  <a:schemeClr val="tx2"/>
                </a:solidFill>
              </a:rPr>
              <a:t>Learning from margin earns 38% more revenue per app open, with 22% fewer take-ups.</a:t>
            </a:r>
            <a:endParaRPr lang="en-US" sz="1400" dirty="0"/>
          </a:p>
        </p:txBody>
      </p:sp>
      <p:sp>
        <p:nvSpPr>
          <p:cNvPr id="16" name="Card 191"/>
          <p:cNvSpPr/>
          <p:nvPr/>
        </p:nvSpPr>
        <p:spPr>
          <a:xfrm>
            <a:off x="548640" y="4069080"/>
            <a:ext cx="3515258" cy="2148840"/>
          </a:xfrm>
          <a:prstGeom prst="roundRect">
            <a:avLst>
              <a:gd name="adj" fmla="val 3404"/>
            </a:avLst>
          </a:prstGeom>
          <a:solidFill>
            <a:schemeClr val="bg2"/>
          </a:solidFill>
          <a:ln/>
        </p:spPr>
      </p:sp>
      <p:sp>
        <p:nvSpPr>
          <p:cNvPr id="17" name="Text 192"/>
          <p:cNvSpPr txBox="1"/>
          <p:nvPr/>
        </p:nvSpPr>
        <p:spPr>
          <a:xfrm>
            <a:off x="822960" y="425196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18 of 18</a:t>
            </a:r>
            <a:endParaRPr lang="en-US" sz="3000" dirty="0"/>
          </a:p>
        </p:txBody>
      </p:sp>
      <p:sp>
        <p:nvSpPr>
          <p:cNvPr id="18" name="Text 193"/>
          <p:cNvSpPr txBox="1"/>
          <p:nvPr/>
        </p:nvSpPr>
        <p:spPr>
          <a:xfrm>
            <a:off x="822960" y="4873752"/>
            <a:ext cx="2966618" cy="329184"/>
          </a:xfrm>
          <a:prstGeom prst="rect">
            <a:avLst/>
          </a:prstGeom>
          <a:noFill/>
          <a:ln/>
        </p:spPr>
        <p:txBody>
          <a:bodyPr wrap="square" lIns="0" tIns="0" rIns="0" bIns="0" rtlCol="0" anchor="t"/>
          <a:lstStyle/>
          <a:p>
            <a:pPr indent="0" marL="0">
              <a:buNone/>
            </a:pPr>
            <a:r>
              <a:rPr lang="en-US" sz="1600" b="1" dirty="0">
                <a:solidFill>
                  <a:schemeClr val="tx1"/>
                </a:solidFill>
              </a:rPr>
              <a:t>It holds in worlds I didn't tune</a:t>
            </a:r>
            <a:endParaRPr lang="en-US" sz="1600" dirty="0"/>
          </a:p>
        </p:txBody>
      </p:sp>
      <p:sp>
        <p:nvSpPr>
          <p:cNvPr id="19" name="Text 194"/>
          <p:cNvSpPr txBox="1"/>
          <p:nvPr/>
        </p:nvSpPr>
        <p:spPr>
          <a:xfrm>
            <a:off x="822960" y="5239512"/>
            <a:ext cx="2966618" cy="868680"/>
          </a:xfrm>
          <a:prstGeom prst="rect">
            <a:avLst/>
          </a:prstGeom>
          <a:noFill/>
          <a:ln/>
        </p:spPr>
        <p:txBody>
          <a:bodyPr wrap="square" lIns="0" tIns="0" rIns="0" bIns="0" rtlCol="0" anchor="t"/>
          <a:lstStyle/>
          <a:p>
            <a:pPr indent="0" marL="0">
              <a:buNone/>
            </a:pPr>
            <a:r>
              <a:rPr lang="en-US" sz="1400" dirty="0">
                <a:solidFill>
                  <a:schemeClr val="tx2"/>
                </a:solidFill>
              </a:rPr>
              <a:t>Beats both baselines in every run across 6 rewritten worlds: 86–93% of the oracle.</a:t>
            </a:r>
            <a:endParaRPr lang="en-US" sz="1400" dirty="0"/>
          </a:p>
        </p:txBody>
      </p:sp>
      <p:sp>
        <p:nvSpPr>
          <p:cNvPr id="20" name="Card 195"/>
          <p:cNvSpPr/>
          <p:nvPr/>
        </p:nvSpPr>
        <p:spPr>
          <a:xfrm>
            <a:off x="4338218" y="4069080"/>
            <a:ext cx="3515258" cy="2148840"/>
          </a:xfrm>
          <a:prstGeom prst="roundRect">
            <a:avLst>
              <a:gd name="adj" fmla="val 3404"/>
            </a:avLst>
          </a:prstGeom>
          <a:solidFill>
            <a:schemeClr val="bg2"/>
          </a:solidFill>
          <a:ln/>
        </p:spPr>
      </p:sp>
      <p:sp>
        <p:nvSpPr>
          <p:cNvPr id="21" name="Text 196"/>
          <p:cNvSpPr txBox="1"/>
          <p:nvPr/>
        </p:nvSpPr>
        <p:spPr>
          <a:xfrm>
            <a:off x="4612538" y="4251960"/>
            <a:ext cx="2966618" cy="54864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3 of 6</a:t>
            </a:r>
            <a:endParaRPr lang="en-US" sz="3000" dirty="0"/>
          </a:p>
        </p:txBody>
      </p:sp>
      <p:sp>
        <p:nvSpPr>
          <p:cNvPr id="22" name="Text 197"/>
          <p:cNvSpPr txBox="1"/>
          <p:nvPr/>
        </p:nvSpPr>
        <p:spPr>
          <a:xfrm>
            <a:off x="4612538" y="4873752"/>
            <a:ext cx="2966618" cy="329184"/>
          </a:xfrm>
          <a:prstGeom prst="rect">
            <a:avLst/>
          </a:prstGeom>
          <a:noFill/>
          <a:ln/>
        </p:spPr>
        <p:txBody>
          <a:bodyPr wrap="square" lIns="0" tIns="0" rIns="0" bIns="0" rtlCol="0" anchor="t"/>
          <a:lstStyle/>
          <a:p>
            <a:pPr indent="0" marL="0">
              <a:buNone/>
            </a:pPr>
            <a:r>
              <a:rPr lang="en-US" sz="1600" b="1" dirty="0">
                <a:solidFill>
                  <a:schemeClr val="tx1"/>
                </a:solidFill>
              </a:rPr>
              <a:t>Forgetting isn't free</a:t>
            </a:r>
            <a:endParaRPr lang="en-US" sz="1600" dirty="0"/>
          </a:p>
        </p:txBody>
      </p:sp>
      <p:sp>
        <p:nvSpPr>
          <p:cNvPr id="23" name="Text 198"/>
          <p:cNvSpPr txBox="1"/>
          <p:nvPr/>
        </p:nvSpPr>
        <p:spPr>
          <a:xfrm>
            <a:off x="4612538" y="5239512"/>
            <a:ext cx="2966618" cy="868680"/>
          </a:xfrm>
          <a:prstGeom prst="rect">
            <a:avLst/>
          </a:prstGeom>
          <a:noFill/>
          <a:ln/>
        </p:spPr>
        <p:txBody>
          <a:bodyPr wrap="square" lIns="0" tIns="0" rIns="0" bIns="0" rtlCol="0" anchor="t"/>
          <a:lstStyle/>
          <a:p>
            <a:pPr indent="0" marL="0">
              <a:buNone/>
            </a:pPr>
            <a:r>
              <a:rPr lang="en-US" sz="1400" dirty="0">
                <a:solidFill>
                  <a:schemeClr val="tx2"/>
                </a:solidFill>
              </a:rPr>
              <a:t>It pays in 3 of 6 worlds, so γ is a dial to tune on real traffic.</a:t>
            </a:r>
            <a:endParaRPr lang="en-US" sz="1400" dirty="0"/>
          </a:p>
        </p:txBody>
      </p:sp>
      <p:sp>
        <p:nvSpPr>
          <p:cNvPr id="24" name="Card 199"/>
          <p:cNvSpPr/>
          <p:nvPr/>
        </p:nvSpPr>
        <p:spPr>
          <a:xfrm>
            <a:off x="8127797" y="4069080"/>
            <a:ext cx="3515258" cy="2148840"/>
          </a:xfrm>
          <a:prstGeom prst="roundRect">
            <a:avLst>
              <a:gd name="adj" fmla="val 3404"/>
            </a:avLst>
          </a:prstGeom>
          <a:solidFill>
            <a:schemeClr val="tx1"/>
          </a:solidFill>
          <a:ln/>
        </p:spPr>
      </p:sp>
      <p:sp>
        <p:nvSpPr>
          <p:cNvPr id="25" name="Text 200"/>
          <p:cNvSpPr txBox="1"/>
          <p:nvPr/>
        </p:nvSpPr>
        <p:spPr>
          <a:xfrm>
            <a:off x="8402117" y="4251960"/>
            <a:ext cx="2966618" cy="548640"/>
          </a:xfrm>
          <a:prstGeom prst="rect">
            <a:avLst/>
          </a:prstGeom>
          <a:noFill/>
          <a:ln/>
        </p:spPr>
        <p:txBody>
          <a:bodyPr wrap="square" lIns="0" tIns="0" rIns="0" bIns="0" rtlCol="0" anchor="t"/>
          <a:lstStyle/>
          <a:p>
            <a:pPr indent="0" marL="0">
              <a:buNone/>
            </a:pPr>
            <a:r>
              <a:rPr lang="en-US" sz="3000" b="1" dirty="0">
                <a:solidFill>
                  <a:schemeClr val="accent5"/>
                </a:solidFill>
                <a:latin typeface="+mj-lt" pitchFamily="34" charset="0"/>
                <a:ea typeface="+mj-lt" pitchFamily="34" charset="-122"/>
                <a:cs typeface="+mj-lt" pitchFamily="34" charset="-120"/>
              </a:rPr>
              <a:t>Limits</a:t>
            </a:r>
            <a:endParaRPr lang="en-US" sz="3000" dirty="0"/>
          </a:p>
        </p:txBody>
      </p:sp>
      <p:sp>
        <p:nvSpPr>
          <p:cNvPr id="26" name="Text 201"/>
          <p:cNvSpPr txBox="1"/>
          <p:nvPr/>
        </p:nvSpPr>
        <p:spPr>
          <a:xfrm>
            <a:off x="8402117" y="4873752"/>
            <a:ext cx="2966618" cy="329184"/>
          </a:xfrm>
          <a:prstGeom prst="rect">
            <a:avLst/>
          </a:prstGeom>
          <a:noFill/>
          <a:ln/>
        </p:spPr>
        <p:txBody>
          <a:bodyPr wrap="square" lIns="0" tIns="0" rIns="0" bIns="0" rtlCol="0" anchor="t"/>
          <a:lstStyle/>
          <a:p>
            <a:pPr indent="0" marL="0">
              <a:buNone/>
            </a:pPr>
            <a:r>
              <a:rPr lang="en-US" sz="1600" b="1" dirty="0">
                <a:solidFill>
                  <a:schemeClr val="bg1"/>
                </a:solidFill>
              </a:rPr>
              <a:t>I wrote the world</a:t>
            </a:r>
            <a:endParaRPr lang="en-US" sz="1600" dirty="0"/>
          </a:p>
        </p:txBody>
      </p:sp>
      <p:sp>
        <p:nvSpPr>
          <p:cNvPr id="27" name="Text 202"/>
          <p:cNvSpPr txBox="1"/>
          <p:nvPr/>
        </p:nvSpPr>
        <p:spPr>
          <a:xfrm>
            <a:off x="8402117" y="5239512"/>
            <a:ext cx="2966618" cy="868680"/>
          </a:xfrm>
          <a:prstGeom prst="rect">
            <a:avLst/>
          </a:prstGeom>
          <a:noFill/>
          <a:ln/>
        </p:spPr>
        <p:txBody>
          <a:bodyPr wrap="square" lIns="0" tIns="0" rIns="0" bIns="0" rtlCol="0" anchor="t"/>
          <a:lstStyle/>
          <a:p>
            <a:pPr indent="0" marL="0">
              <a:buNone/>
            </a:pPr>
            <a:r>
              <a:rPr lang="en-US" sz="1400" dirty="0">
                <a:solidFill>
                  <a:schemeClr val="bg2"/>
                </a:solidFill>
              </a:rPr>
              <a:t>It proves the mechanism and how the parts compare, not the uplift in a real market.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Built to run, not just to demo</a:t>
            </a:r>
            <a:endParaRPr lang="en-US" sz="3600" dirty="0"/>
          </a:p>
        </p:txBody>
      </p:sp>
      <p:sp>
        <p:nvSpPr>
          <p:cNvPr id="4" name="Step 203"/>
          <p:cNvSpPr txBox="1"/>
          <p:nvPr/>
        </p:nvSpPr>
        <p:spPr>
          <a:xfrm>
            <a:off x="548640" y="172821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5" name="Text 204"/>
          <p:cNvSpPr txBox="1"/>
          <p:nvPr/>
        </p:nvSpPr>
        <p:spPr>
          <a:xfrm>
            <a:off x="1097280" y="1691640"/>
            <a:ext cx="6309360" cy="640080"/>
          </a:xfrm>
          <a:prstGeom prst="rect">
            <a:avLst/>
          </a:prstGeom>
          <a:noFill/>
          <a:ln/>
        </p:spPr>
        <p:txBody>
          <a:bodyPr wrap="square" lIns="0" tIns="0" rIns="0" bIns="0" rtlCol="0" anchor="t"/>
          <a:lstStyle/>
          <a:p>
            <a:pPr indent="0" marL="0">
              <a:buNone/>
            </a:pPr>
            <a:r>
              <a:rPr lang="en-US" sz="1400" b="1" dirty="0">
                <a:solidFill>
                  <a:schemeClr val="tx1"/>
                </a:solidFill>
              </a:rPr>
              <a:t>Idempotent  </a:t>
            </a:r>
            <a:pPr indent="0" marL="0">
              <a:buNone/>
            </a:pPr>
            <a:r>
              <a:rPr lang="en-US" sz="1400" dirty="0">
                <a:solidFill>
                  <a:schemeClr val="tx2"/>
                </a:solidFill>
              </a:rPr>
              <a:t>the database's primary key rejects a repeated response with 409, even across workers</a:t>
            </a:r>
            <a:endParaRPr lang="en-US" sz="1400" dirty="0"/>
          </a:p>
        </p:txBody>
      </p:sp>
      <p:sp>
        <p:nvSpPr>
          <p:cNvPr id="6" name="Step 205"/>
          <p:cNvSpPr txBox="1"/>
          <p:nvPr/>
        </p:nvSpPr>
        <p:spPr>
          <a:xfrm>
            <a:off x="548640" y="245973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7" name="Text 206"/>
          <p:cNvSpPr txBox="1"/>
          <p:nvPr/>
        </p:nvSpPr>
        <p:spPr>
          <a:xfrm>
            <a:off x="1097280" y="2423160"/>
            <a:ext cx="6309360" cy="640080"/>
          </a:xfrm>
          <a:prstGeom prst="rect">
            <a:avLst/>
          </a:prstGeom>
          <a:noFill/>
          <a:ln/>
        </p:spPr>
        <p:txBody>
          <a:bodyPr wrap="square" lIns="0" tIns="0" rIns="0" bIns="0" rtlCol="0" anchor="t"/>
          <a:lstStyle/>
          <a:p>
            <a:pPr indent="0" marL="0">
              <a:buNone/>
            </a:pPr>
            <a:r>
              <a:rPr lang="en-US" sz="1400" b="1" dirty="0">
                <a:solidFill>
                  <a:schemeClr val="tx1"/>
                </a:solidFill>
              </a:rPr>
              <a:t>Atomic learning  </a:t>
            </a:r>
            <a:pPr indent="0" marL="0">
              <a:buNone/>
            </a:pPr>
            <a:r>
              <a:rPr lang="en-US" sz="1400" dirty="0">
                <a:solidFill>
                  <a:schemeClr val="tx2"/>
                </a:solidFill>
              </a:rPr>
              <a:t>each update is computed inside the database, so concurrent responses never overwrite each other</a:t>
            </a:r>
            <a:endParaRPr lang="en-US" sz="1400" dirty="0"/>
          </a:p>
        </p:txBody>
      </p:sp>
      <p:sp>
        <p:nvSpPr>
          <p:cNvPr id="8" name="Step 207"/>
          <p:cNvSpPr txBox="1"/>
          <p:nvPr/>
        </p:nvSpPr>
        <p:spPr>
          <a:xfrm>
            <a:off x="548640" y="319125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9" name="Text 208"/>
          <p:cNvSpPr txBox="1"/>
          <p:nvPr/>
        </p:nvSpPr>
        <p:spPr>
          <a:xfrm>
            <a:off x="1097280" y="3154680"/>
            <a:ext cx="6309360" cy="640080"/>
          </a:xfrm>
          <a:prstGeom prst="rect">
            <a:avLst/>
          </a:prstGeom>
          <a:noFill/>
          <a:ln/>
        </p:spPr>
        <p:txBody>
          <a:bodyPr wrap="square" lIns="0" tIns="0" rIns="0" bIns="0" rtlCol="0" anchor="t"/>
          <a:lstStyle/>
          <a:p>
            <a:pPr indent="0" marL="0">
              <a:buNone/>
            </a:pPr>
            <a:r>
              <a:rPr lang="en-US" sz="1400" b="1" dirty="0">
                <a:solidFill>
                  <a:schemeClr val="tx1"/>
                </a:solidFill>
              </a:rPr>
              <a:t>Log first  </a:t>
            </a:r>
            <a:pPr indent="0" marL="0">
              <a:buNone/>
            </a:pPr>
            <a:r>
              <a:rPr lang="en-US" sz="1400" dirty="0">
                <a:solidFill>
                  <a:schemeClr val="tx2"/>
                </a:solidFill>
              </a:rPr>
              <a:t>every app open, offer shown and response is written before the model learns from it</a:t>
            </a:r>
            <a:endParaRPr lang="en-US" sz="1400" dirty="0"/>
          </a:p>
        </p:txBody>
      </p:sp>
      <p:sp>
        <p:nvSpPr>
          <p:cNvPr id="10" name="Step 209"/>
          <p:cNvSpPr txBox="1"/>
          <p:nvPr/>
        </p:nvSpPr>
        <p:spPr>
          <a:xfrm>
            <a:off x="548640" y="392277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1" name="Text 210"/>
          <p:cNvSpPr txBox="1"/>
          <p:nvPr/>
        </p:nvSpPr>
        <p:spPr>
          <a:xfrm>
            <a:off x="1097280" y="3886200"/>
            <a:ext cx="6309360" cy="640080"/>
          </a:xfrm>
          <a:prstGeom prst="rect">
            <a:avLst/>
          </a:prstGeom>
          <a:noFill/>
          <a:ln/>
        </p:spPr>
        <p:txBody>
          <a:bodyPr wrap="square" lIns="0" tIns="0" rIns="0" bIns="0" rtlCol="0" anchor="t"/>
          <a:lstStyle/>
          <a:p>
            <a:pPr indent="0" marL="0">
              <a:buNone/>
            </a:pPr>
            <a:r>
              <a:rPr lang="en-US" sz="1400" b="1" dirty="0">
                <a:solidFill>
                  <a:schemeClr val="tx1"/>
                </a:solidFill>
              </a:rPr>
              <a:t>One command  </a:t>
            </a:r>
            <a:pPr indent="0" marL="0">
              <a:buNone/>
            </a:pPr>
            <a:r>
              <a:rPr lang="en-US" sz="1400" dirty="0">
                <a:solidFill>
                  <a:schemeClr val="tx2"/>
                </a:solidFill>
              </a:rPr>
              <a:t>docker compose up: Postgres, the API with 4 workers, the dashboard and a first simulation</a:t>
            </a:r>
            <a:endParaRPr lang="en-US" sz="1400" dirty="0"/>
          </a:p>
        </p:txBody>
      </p:sp>
      <p:sp>
        <p:nvSpPr>
          <p:cNvPr id="12" name="Step 211"/>
          <p:cNvSpPr txBox="1"/>
          <p:nvPr/>
        </p:nvSpPr>
        <p:spPr>
          <a:xfrm>
            <a:off x="548640" y="465429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3" name="Text 212"/>
          <p:cNvSpPr txBox="1"/>
          <p:nvPr/>
        </p:nvSpPr>
        <p:spPr>
          <a:xfrm>
            <a:off x="1097280" y="4617720"/>
            <a:ext cx="6309360" cy="640080"/>
          </a:xfrm>
          <a:prstGeom prst="rect">
            <a:avLst/>
          </a:prstGeom>
          <a:noFill/>
          <a:ln/>
        </p:spPr>
        <p:txBody>
          <a:bodyPr wrap="square" lIns="0" tIns="0" rIns="0" bIns="0" rtlCol="0" anchor="t"/>
          <a:lstStyle/>
          <a:p>
            <a:pPr indent="0" marL="0">
              <a:buNone/>
            </a:pPr>
            <a:r>
              <a:rPr lang="en-US" sz="1400" b="1" dirty="0">
                <a:solidFill>
                  <a:schemeClr val="tx1"/>
                </a:solidFill>
              </a:rPr>
              <a:t>Quality gates  </a:t>
            </a:r>
            <a:pPr indent="0" marL="0">
              <a:buNone/>
            </a:pPr>
            <a:r>
              <a:rPr lang="en-US" sz="1400" dirty="0">
                <a:solidFill>
                  <a:schemeClr val="tx2"/>
                </a:solidFill>
              </a:rPr>
              <a:t>ruff, mypy, 252 tests on SQLite and Postgres in CI, and docs that fail the build when stale</a:t>
            </a:r>
            <a:endParaRPr lang="en-US" sz="1400" dirty="0"/>
          </a:p>
        </p:txBody>
      </p:sp>
      <p:sp>
        <p:nvSpPr>
          <p:cNvPr id="14" name="Step 213"/>
          <p:cNvSpPr txBox="1"/>
          <p:nvPr/>
        </p:nvSpPr>
        <p:spPr>
          <a:xfrm>
            <a:off x="548640" y="538581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5" name="Text 214"/>
          <p:cNvSpPr txBox="1"/>
          <p:nvPr/>
        </p:nvSpPr>
        <p:spPr>
          <a:xfrm>
            <a:off x="1097280" y="5349240"/>
            <a:ext cx="6309360" cy="640080"/>
          </a:xfrm>
          <a:prstGeom prst="rect">
            <a:avLst/>
          </a:prstGeom>
          <a:noFill/>
          <a:ln/>
        </p:spPr>
        <p:txBody>
          <a:bodyPr wrap="square" lIns="0" tIns="0" rIns="0" bIns="0" rtlCol="0" anchor="t"/>
          <a:lstStyle/>
          <a:p>
            <a:pPr indent="0" marL="0">
              <a:buNone/>
            </a:pPr>
            <a:r>
              <a:rPr lang="en-US" sz="1400" b="1" dirty="0">
                <a:solidFill>
                  <a:schemeClr val="tx1"/>
                </a:solidFill>
              </a:rPr>
              <a:t>Decisions on record  </a:t>
            </a:r>
            <a:pPr indent="0" marL="0">
              <a:buNone/>
            </a:pPr>
            <a:r>
              <a:rPr lang="en-US" sz="1400" dirty="0">
                <a:solidFill>
                  <a:schemeClr val="tx2"/>
                </a:solidFill>
              </a:rPr>
              <a:t>98 judgement calls written down with their reasons in DECISIONS.md</a:t>
            </a:r>
            <a:endParaRPr lang="en-US" sz="1400" dirty="0"/>
          </a:p>
        </p:txBody>
      </p:sp>
      <p:sp>
        <p:nvSpPr>
          <p:cNvPr id="16" name="Card 215"/>
          <p:cNvSpPr/>
          <p:nvPr/>
        </p:nvSpPr>
        <p:spPr>
          <a:xfrm>
            <a:off x="7680960" y="1691640"/>
            <a:ext cx="3959352" cy="1298448"/>
          </a:xfrm>
          <a:prstGeom prst="roundRect">
            <a:avLst>
              <a:gd name="adj" fmla="val 5634"/>
            </a:avLst>
          </a:prstGeom>
          <a:solidFill>
            <a:schemeClr val="bg2"/>
          </a:solidFill>
          <a:ln/>
        </p:spPr>
      </p:sp>
      <p:sp>
        <p:nvSpPr>
          <p:cNvPr id="17" name="Text 216"/>
          <p:cNvSpPr txBox="1"/>
          <p:nvPr/>
        </p:nvSpPr>
        <p:spPr>
          <a:xfrm>
            <a:off x="7955280" y="181965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11 ms</a:t>
            </a:r>
            <a:endParaRPr lang="en-US" sz="3200" dirty="0"/>
          </a:p>
        </p:txBody>
      </p:sp>
      <p:sp>
        <p:nvSpPr>
          <p:cNvPr id="18" name="Text 217"/>
          <p:cNvSpPr txBox="1"/>
          <p:nvPr/>
        </p:nvSpPr>
        <p:spPr>
          <a:xfrm>
            <a:off x="7955280" y="2404872"/>
            <a:ext cx="3410712" cy="512064"/>
          </a:xfrm>
          <a:prstGeom prst="rect">
            <a:avLst/>
          </a:prstGeom>
          <a:noFill/>
          <a:ln/>
        </p:spPr>
        <p:txBody>
          <a:bodyPr wrap="square" lIns="0" tIns="0" rIns="0" bIns="0" rtlCol="0" anchor="t"/>
          <a:lstStyle/>
          <a:p>
            <a:pPr indent="0" marL="0">
              <a:buNone/>
            </a:pPr>
            <a:r>
              <a:rPr lang="en-US" sz="1300" dirty="0">
                <a:solidFill>
                  <a:schemeClr val="tx1"/>
                </a:solidFill>
              </a:rPr>
              <a:t>p95 to rank an app open, one worker, real HTTP and Postgres</a:t>
            </a:r>
            <a:endParaRPr lang="en-US" sz="1300" dirty="0"/>
          </a:p>
        </p:txBody>
      </p:sp>
      <p:sp>
        <p:nvSpPr>
          <p:cNvPr id="19" name="Card 218"/>
          <p:cNvSpPr/>
          <p:nvPr/>
        </p:nvSpPr>
        <p:spPr>
          <a:xfrm>
            <a:off x="7680960" y="3154680"/>
            <a:ext cx="3959352" cy="1298448"/>
          </a:xfrm>
          <a:prstGeom prst="roundRect">
            <a:avLst>
              <a:gd name="adj" fmla="val 5634"/>
            </a:avLst>
          </a:prstGeom>
          <a:solidFill>
            <a:schemeClr val="bg2"/>
          </a:solidFill>
          <a:ln/>
        </p:spPr>
      </p:sp>
      <p:sp>
        <p:nvSpPr>
          <p:cNvPr id="20" name="Text 219"/>
          <p:cNvSpPr txBox="1"/>
          <p:nvPr/>
        </p:nvSpPr>
        <p:spPr>
          <a:xfrm>
            <a:off x="7955280" y="328269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224 req/s</a:t>
            </a:r>
            <a:endParaRPr lang="en-US" sz="3200" dirty="0"/>
          </a:p>
        </p:txBody>
      </p:sp>
      <p:sp>
        <p:nvSpPr>
          <p:cNvPr id="21" name="Text 220"/>
          <p:cNvSpPr txBox="1"/>
          <p:nvPr/>
        </p:nvSpPr>
        <p:spPr>
          <a:xfrm>
            <a:off x="7955280" y="3867912"/>
            <a:ext cx="3410712" cy="512064"/>
          </a:xfrm>
          <a:prstGeom prst="rect">
            <a:avLst/>
          </a:prstGeom>
          <a:noFill/>
          <a:ln/>
        </p:spPr>
        <p:txBody>
          <a:bodyPr wrap="square" lIns="0" tIns="0" rIns="0" bIns="0" rtlCol="0" anchor="t"/>
          <a:lstStyle/>
          <a:p>
            <a:pPr indent="0" marL="0">
              <a:buNone/>
            </a:pPr>
            <a:r>
              <a:rPr lang="en-US" sz="1300" dirty="0">
                <a:solidFill>
                  <a:schemeClr val="tx1"/>
                </a:solidFill>
              </a:rPr>
              <a:t>with 4 workers in Docker, p95 under 25 ms up to 4 concurrent clients</a:t>
            </a:r>
            <a:endParaRPr lang="en-US" sz="1300" dirty="0"/>
          </a:p>
        </p:txBody>
      </p:sp>
      <p:sp>
        <p:nvSpPr>
          <p:cNvPr id="22" name="Card 221"/>
          <p:cNvSpPr/>
          <p:nvPr/>
        </p:nvSpPr>
        <p:spPr>
          <a:xfrm>
            <a:off x="7680960" y="4617720"/>
            <a:ext cx="3959352" cy="1298448"/>
          </a:xfrm>
          <a:prstGeom prst="roundRect">
            <a:avLst>
              <a:gd name="adj" fmla="val 5634"/>
            </a:avLst>
          </a:prstGeom>
          <a:solidFill>
            <a:schemeClr val="bg2"/>
          </a:solidFill>
          <a:ln/>
        </p:spPr>
      </p:sp>
      <p:sp>
        <p:nvSpPr>
          <p:cNvPr id="23" name="Text 222"/>
          <p:cNvSpPr txBox="1"/>
          <p:nvPr/>
        </p:nvSpPr>
        <p:spPr>
          <a:xfrm>
            <a:off x="7955280" y="4745736"/>
            <a:ext cx="3410712" cy="548640"/>
          </a:xfrm>
          <a:prstGeom prst="rect">
            <a:avLst/>
          </a:prstGeom>
          <a:noFill/>
          <a:ln/>
        </p:spPr>
        <p:txBody>
          <a:bodyPr wrap="square" lIns="0" tIns="0" rIns="0" bIns="0" rtlCol="0" anchor="t"/>
          <a:lstStyle/>
          <a:p>
            <a:pPr indent="0" marL="0">
              <a:buNone/>
            </a:pPr>
            <a:r>
              <a:rPr lang="en-US" sz="3200" b="1" dirty="0">
                <a:solidFill>
                  <a:schemeClr val="accent1"/>
                </a:solidFill>
                <a:latin typeface="+mj-lt" pitchFamily="34" charset="0"/>
                <a:ea typeface="+mj-lt" pitchFamily="34" charset="-122"/>
                <a:cs typeface="+mj-lt" pitchFamily="34" charset="-120"/>
              </a:rPr>
              <a:t>252</a:t>
            </a:r>
            <a:endParaRPr lang="en-US" sz="3200" dirty="0"/>
          </a:p>
        </p:txBody>
      </p:sp>
      <p:sp>
        <p:nvSpPr>
          <p:cNvPr id="24" name="Text 223"/>
          <p:cNvSpPr txBox="1"/>
          <p:nvPr/>
        </p:nvSpPr>
        <p:spPr>
          <a:xfrm>
            <a:off x="7955280" y="5330952"/>
            <a:ext cx="3410712" cy="512064"/>
          </a:xfrm>
          <a:prstGeom prst="rect">
            <a:avLst/>
          </a:prstGeom>
          <a:noFill/>
          <a:ln/>
        </p:spPr>
        <p:txBody>
          <a:bodyPr wrap="square" lIns="0" tIns="0" rIns="0" bIns="0" rtlCol="0" anchor="t"/>
          <a:lstStyle/>
          <a:p>
            <a:pPr indent="0" marL="0">
              <a:buNone/>
            </a:pPr>
            <a:r>
              <a:rPr lang="en-US" sz="1300" dirty="0">
                <a:solidFill>
                  <a:schemeClr val="tx1"/>
                </a:solidFill>
              </a:rPr>
              <a:t>automated tests, from the domain rules to every dashboard page</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Four bugs only measurement could catch</a:t>
            </a:r>
            <a:endParaRPr lang="en-US" sz="3600" dirty="0"/>
          </a:p>
        </p:txBody>
      </p:sp>
      <p:sp>
        <p:nvSpPr>
          <p:cNvPr id="4" name="Card 224"/>
          <p:cNvSpPr/>
          <p:nvPr/>
        </p:nvSpPr>
        <p:spPr>
          <a:xfrm>
            <a:off x="548640" y="1627632"/>
            <a:ext cx="5410048" cy="2212848"/>
          </a:xfrm>
          <a:prstGeom prst="roundRect">
            <a:avLst>
              <a:gd name="adj" fmla="val 3306"/>
            </a:avLst>
          </a:prstGeom>
          <a:solidFill>
            <a:schemeClr val="bg2"/>
          </a:solidFill>
          <a:ln/>
        </p:spPr>
      </p:sp>
      <p:sp>
        <p:nvSpPr>
          <p:cNvPr id="5" name="Step 225"/>
          <p:cNvSpPr txBox="1"/>
          <p:nvPr/>
        </p:nvSpPr>
        <p:spPr>
          <a:xfrm>
            <a:off x="822960" y="18562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226"/>
          <p:cNvSpPr txBox="1"/>
          <p:nvPr/>
        </p:nvSpPr>
        <p:spPr>
          <a:xfrm>
            <a:off x="1371600" y="1865376"/>
            <a:ext cx="4312768" cy="365760"/>
          </a:xfrm>
          <a:prstGeom prst="rect">
            <a:avLst/>
          </a:prstGeom>
          <a:noFill/>
          <a:ln/>
        </p:spPr>
        <p:txBody>
          <a:bodyPr wrap="square" lIns="0" tIns="0" rIns="0" bIns="0" rtlCol="0" anchor="t"/>
          <a:lstStyle/>
          <a:p>
            <a:pPr indent="0" marL="0">
              <a:buNone/>
            </a:pPr>
            <a:r>
              <a:rPr lang="en-US" sz="1800" b="1" dirty="0">
                <a:solidFill>
                  <a:schemeClr val="tx1"/>
                </a:solidFill>
              </a:rPr>
              <a:t>Lost learning</a:t>
            </a:r>
            <a:endParaRPr lang="en-US" sz="1800" dirty="0"/>
          </a:p>
        </p:txBody>
      </p:sp>
      <p:sp>
        <p:nvSpPr>
          <p:cNvPr id="7" name="Text 227"/>
          <p:cNvSpPr txBox="1"/>
          <p:nvPr/>
        </p:nvSpPr>
        <p:spPr>
          <a:xfrm>
            <a:off x="822960" y="2359152"/>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A read-modify-write update lost 445 of 600 concurrent updates (74%).</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One atomic SQL statement, computed in the database.</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4 threads × 150 updates, none lost, on SQLite and Postgres.</a:t>
            </a:r>
            <a:endParaRPr lang="en-US" sz="1400" dirty="0"/>
          </a:p>
        </p:txBody>
      </p:sp>
      <p:sp>
        <p:nvSpPr>
          <p:cNvPr id="8" name="Card 228"/>
          <p:cNvSpPr/>
          <p:nvPr/>
        </p:nvSpPr>
        <p:spPr>
          <a:xfrm>
            <a:off x="6233008" y="1627632"/>
            <a:ext cx="5410048" cy="2212848"/>
          </a:xfrm>
          <a:prstGeom prst="roundRect">
            <a:avLst>
              <a:gd name="adj" fmla="val 3306"/>
            </a:avLst>
          </a:prstGeom>
          <a:solidFill>
            <a:schemeClr val="bg2"/>
          </a:solidFill>
          <a:ln/>
        </p:spPr>
      </p:sp>
      <p:sp>
        <p:nvSpPr>
          <p:cNvPr id="9" name="Step 229"/>
          <p:cNvSpPr txBox="1"/>
          <p:nvPr/>
        </p:nvSpPr>
        <p:spPr>
          <a:xfrm>
            <a:off x="6507328" y="1856232"/>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230"/>
          <p:cNvSpPr txBox="1"/>
          <p:nvPr/>
        </p:nvSpPr>
        <p:spPr>
          <a:xfrm>
            <a:off x="7055968" y="1865376"/>
            <a:ext cx="4312768" cy="365760"/>
          </a:xfrm>
          <a:prstGeom prst="rect">
            <a:avLst/>
          </a:prstGeom>
          <a:noFill/>
          <a:ln/>
        </p:spPr>
        <p:txBody>
          <a:bodyPr wrap="square" lIns="0" tIns="0" rIns="0" bIns="0" rtlCol="0" anchor="t"/>
          <a:lstStyle/>
          <a:p>
            <a:pPr indent="0" marL="0">
              <a:buNone/>
            </a:pPr>
            <a:r>
              <a:rPr lang="en-US" sz="1800" b="1" dirty="0">
                <a:solidFill>
                  <a:schemeClr val="tx1"/>
                </a:solidFill>
              </a:rPr>
              <a:t>Learning twice</a:t>
            </a:r>
            <a:endParaRPr lang="en-US" sz="1800" dirty="0"/>
          </a:p>
        </p:txBody>
      </p:sp>
      <p:sp>
        <p:nvSpPr>
          <p:cNvPr id="11" name="Text 231"/>
          <p:cNvSpPr txBox="1"/>
          <p:nvPr/>
        </p:nvSpPr>
        <p:spPr>
          <a:xfrm>
            <a:off x="6507328" y="2359152"/>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Postgres reports rowcount −1 for ON CONFLICT DO NOTHING: 8 copies of one take-up were all learned.</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Detect a duplicate with RETURNING.</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8 threads send one response; exactly one is recorded.</a:t>
            </a:r>
            <a:endParaRPr lang="en-US" sz="1400" dirty="0"/>
          </a:p>
        </p:txBody>
      </p:sp>
      <p:sp>
        <p:nvSpPr>
          <p:cNvPr id="12" name="Card 232"/>
          <p:cNvSpPr/>
          <p:nvPr/>
        </p:nvSpPr>
        <p:spPr>
          <a:xfrm>
            <a:off x="548640" y="4069080"/>
            <a:ext cx="5410048" cy="2212848"/>
          </a:xfrm>
          <a:prstGeom prst="roundRect">
            <a:avLst>
              <a:gd name="adj" fmla="val 3306"/>
            </a:avLst>
          </a:prstGeom>
          <a:solidFill>
            <a:schemeClr val="bg2"/>
          </a:solidFill>
          <a:ln/>
        </p:spPr>
      </p:sp>
      <p:sp>
        <p:nvSpPr>
          <p:cNvPr id="13" name="Step 233"/>
          <p:cNvSpPr txBox="1"/>
          <p:nvPr/>
        </p:nvSpPr>
        <p:spPr>
          <a:xfrm>
            <a:off x="822960" y="429768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234"/>
          <p:cNvSpPr txBox="1"/>
          <p:nvPr/>
        </p:nvSpPr>
        <p:spPr>
          <a:xfrm>
            <a:off x="1371600" y="4306824"/>
            <a:ext cx="4312768" cy="365760"/>
          </a:xfrm>
          <a:prstGeom prst="rect">
            <a:avLst/>
          </a:prstGeom>
          <a:noFill/>
          <a:ln/>
        </p:spPr>
        <p:txBody>
          <a:bodyPr wrap="square" lIns="0" tIns="0" rIns="0" bIns="0" rtlCol="0" anchor="t"/>
          <a:lstStyle/>
          <a:p>
            <a:pPr indent="0" marL="0">
              <a:buNone/>
            </a:pPr>
            <a:r>
              <a:rPr lang="en-US" sz="1800" b="1" dirty="0">
                <a:solidFill>
                  <a:schemeClr val="tx1"/>
                </a:solidFill>
              </a:rPr>
              <a:t>Deadlock at 4 workers</a:t>
            </a:r>
            <a:endParaRPr lang="en-US" sz="1800" dirty="0"/>
          </a:p>
        </p:txBody>
      </p:sp>
      <p:sp>
        <p:nvSpPr>
          <p:cNvPr id="15" name="Text 235"/>
          <p:cNvSpPr txBox="1"/>
          <p:nvPr/>
        </p:nvSpPr>
        <p:spPr>
          <a:xfrm>
            <a:off x="822960" y="4800600"/>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Forgetting locked a segment's rows in different orders.</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A per-context advisory lock fixes the order.</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No deadlocks from 1 to 16 concurrent clients.</a:t>
            </a:r>
            <a:endParaRPr lang="en-US" sz="1400" dirty="0"/>
          </a:p>
        </p:txBody>
      </p:sp>
      <p:sp>
        <p:nvSpPr>
          <p:cNvPr id="16" name="Card 236"/>
          <p:cNvSpPr/>
          <p:nvPr/>
        </p:nvSpPr>
        <p:spPr>
          <a:xfrm>
            <a:off x="6233008" y="4069080"/>
            <a:ext cx="5410048" cy="2212848"/>
          </a:xfrm>
          <a:prstGeom prst="roundRect">
            <a:avLst>
              <a:gd name="adj" fmla="val 3306"/>
            </a:avLst>
          </a:prstGeom>
          <a:solidFill>
            <a:schemeClr val="bg2"/>
          </a:solidFill>
          <a:ln/>
        </p:spPr>
      </p:sp>
      <p:sp>
        <p:nvSpPr>
          <p:cNvPr id="17" name="Step 237"/>
          <p:cNvSpPr txBox="1"/>
          <p:nvPr/>
        </p:nvSpPr>
        <p:spPr>
          <a:xfrm>
            <a:off x="6507328" y="4297680"/>
            <a:ext cx="384048" cy="38404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238"/>
          <p:cNvSpPr txBox="1"/>
          <p:nvPr/>
        </p:nvSpPr>
        <p:spPr>
          <a:xfrm>
            <a:off x="7055968" y="4306824"/>
            <a:ext cx="4312768" cy="365760"/>
          </a:xfrm>
          <a:prstGeom prst="rect">
            <a:avLst/>
          </a:prstGeom>
          <a:noFill/>
          <a:ln/>
        </p:spPr>
        <p:txBody>
          <a:bodyPr wrap="square" lIns="0" tIns="0" rIns="0" bIns="0" rtlCol="0" anchor="t"/>
          <a:lstStyle/>
          <a:p>
            <a:pPr indent="0" marL="0">
              <a:buNone/>
            </a:pPr>
            <a:r>
              <a:rPr lang="en-US" sz="1800" b="1" dirty="0">
                <a:solidFill>
                  <a:schemeClr val="tx1"/>
                </a:solidFill>
              </a:rPr>
              <a:t>Phantom latency</a:t>
            </a:r>
            <a:endParaRPr lang="en-US" sz="1800" dirty="0"/>
          </a:p>
        </p:txBody>
      </p:sp>
      <p:sp>
        <p:nvSpPr>
          <p:cNvPr id="19" name="Text 239"/>
          <p:cNvSpPr txBox="1"/>
          <p:nvPr/>
        </p:nvSpPr>
        <p:spPr>
          <a:xfrm>
            <a:off x="6507328" y="4800600"/>
            <a:ext cx="4861408" cy="1371600"/>
          </a:xfrm>
          <a:prstGeom prst="rect">
            <a:avLst/>
          </a:prstGeom>
          <a:noFill/>
          <a:ln/>
        </p:spPr>
        <p:txBody>
          <a:bodyPr wrap="square" lIns="0" tIns="0" rIns="0" bIns="0" rtlCol="0" anchor="t"/>
          <a:lstStyle/>
          <a:p>
            <a:pPr indent="0" marL="0">
              <a:spcAft>
                <a:spcPts val="500"/>
              </a:spcAft>
              <a:buNone/>
            </a:pPr>
            <a:r>
              <a:rPr lang="en-US" sz="1400" b="1" dirty="0">
                <a:solidFill>
                  <a:schemeClr val="accent1"/>
                </a:solidFill>
              </a:rPr>
              <a:t>Found  </a:t>
            </a:r>
            <a:pPr indent="0" marL="0">
              <a:spcAft>
                <a:spcPts val="500"/>
              </a:spcAft>
              <a:buNone/>
            </a:pPr>
            <a:r>
              <a:rPr lang="en-US" sz="1400" dirty="0">
                <a:solidFill>
                  <a:schemeClr val="tx1"/>
                </a:solidFill>
              </a:rPr>
              <a:t>Docker Desktop's port forwarding added about 45 ms to every POST.</a:t>
            </a:r>
            <a:endParaRPr lang="en-US" sz="1400" dirty="0"/>
          </a:p>
          <a:p>
            <a:pPr indent="0" marL="0">
              <a:spcAft>
                <a:spcPts val="500"/>
              </a:spcAft>
              <a:buNone/>
            </a:pPr>
            <a:r>
              <a:rPr lang="en-US" sz="1400" b="1" dirty="0">
                <a:solidFill>
                  <a:schemeClr val="accent1"/>
                </a:solidFill>
              </a:rPr>
              <a:t>Fix  </a:t>
            </a:r>
            <a:pPr indent="0" marL="0">
              <a:spcAft>
                <a:spcPts val="500"/>
              </a:spcAft>
              <a:buNone/>
            </a:pPr>
            <a:r>
              <a:rPr lang="en-US" sz="1400" dirty="0">
                <a:solidFill>
                  <a:schemeClr val="tx1"/>
                </a:solidFill>
              </a:rPr>
              <a:t>Measure from inside the Docker network.</a:t>
            </a:r>
            <a:endParaRPr lang="en-US" sz="1400" dirty="0"/>
          </a:p>
          <a:p>
            <a:pPr indent="0" marL="0">
              <a:spcAft>
                <a:spcPts val="500"/>
              </a:spcAft>
              <a:buNone/>
            </a:pPr>
            <a:r>
              <a:rPr lang="en-US" sz="1400" b="1" dirty="0">
                <a:solidFill>
                  <a:schemeClr val="accent1"/>
                </a:solidFill>
              </a:rPr>
              <a:t>Proof  </a:t>
            </a:r>
            <a:pPr indent="0" marL="0">
              <a:spcAft>
                <a:spcPts val="500"/>
              </a:spcAft>
              <a:buNone/>
            </a:pPr>
            <a:r>
              <a:rPr lang="en-US" sz="1400" dirty="0">
                <a:solidFill>
                  <a:schemeClr val="tx1"/>
                </a:solidFill>
              </a:rPr>
              <a:t>p95 15 ms at 1 client, 22–25 ms at 4.</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SEE IT RUN</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Be the customer, watch the belief move</a:t>
            </a:r>
            <a:endParaRPr lang="en-US" sz="3600" dirty="0"/>
          </a:p>
        </p:txBody>
      </p:sp>
      <p:sp>
        <p:nvSpPr>
          <p:cNvPr id="4" name="Screenshot frame"/>
          <p:cNvSpPr/>
          <p:nvPr/>
        </p:nvSpPr>
        <p:spPr>
          <a:xfrm>
            <a:off x="530352" y="1627632"/>
            <a:ext cx="6437376" cy="4471416"/>
          </a:xfrm>
          <a:prstGeom prst="rect">
            <a:avLst/>
          </a:prstGeom>
          <a:solidFill>
            <a:schemeClr val="bg1"/>
          </a:solidFill>
          <a:ln w="12700">
            <a:solidFill>
              <a:schemeClr val="accent3"/>
            </a:solidFill>
            <a:prstDash val="solid"/>
          </a:ln>
        </p:spPr>
      </p:sp>
      <p:pic>
        <p:nvPicPr>
          <p:cNvPr id="5" name="Try it screenshot" descr="The dashboard's Try it page: a student is shown three offers, and taking up the first moves its mean take-up from 5.0% to 9.5%.">    </p:cNvPr>
          <p:cNvPicPr>
            <a:picLocks noChangeAspect="1"/>
          </p:cNvPicPr>
          <p:nvPr/>
        </p:nvPicPr>
        <p:blipFill>
          <a:blip r:embed="rId1"/>
          <a:stretch>
            <a:fillRect/>
          </a:stretch>
        </p:blipFill>
        <p:spPr>
          <a:xfrm>
            <a:off x="548640" y="1645920"/>
            <a:ext cx="6400800" cy="4416552"/>
          </a:xfrm>
          <a:prstGeom prst="rect">
            <a:avLst/>
          </a:prstGeom>
        </p:spPr>
      </p:pic>
      <p:sp>
        <p:nvSpPr>
          <p:cNvPr id="6" name="Text 240"/>
          <p:cNvSpPr txBox="1"/>
          <p:nvPr/>
        </p:nvSpPr>
        <p:spPr>
          <a:xfrm>
            <a:off x="7406640" y="1645920"/>
            <a:ext cx="4233672" cy="365760"/>
          </a:xfrm>
          <a:prstGeom prst="rect">
            <a:avLst/>
          </a:prstGeom>
          <a:noFill/>
          <a:ln/>
        </p:spPr>
        <p:txBody>
          <a:bodyPr wrap="square" lIns="0" tIns="0" rIns="0" bIns="0" rtlCol="0" anchor="t"/>
          <a:lstStyle/>
          <a:p>
            <a:pPr indent="0" marL="0">
              <a:buNone/>
            </a:pPr>
            <a:r>
              <a:rPr lang="en-US" sz="1800" b="1" dirty="0">
                <a:solidFill>
                  <a:schemeClr val="tx1"/>
                </a:solidFill>
              </a:rPr>
              <a:t>The demo, in about three minutes</a:t>
            </a:r>
            <a:endParaRPr lang="en-US" sz="1800" dirty="0"/>
          </a:p>
        </p:txBody>
      </p:sp>
      <p:sp>
        <p:nvSpPr>
          <p:cNvPr id="7" name="Step 241"/>
          <p:cNvSpPr txBox="1"/>
          <p:nvPr/>
        </p:nvSpPr>
        <p:spPr>
          <a:xfrm>
            <a:off x="7406640" y="2148840"/>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242"/>
          <p:cNvSpPr txBox="1"/>
          <p:nvPr/>
        </p:nvSpPr>
        <p:spPr>
          <a:xfrm>
            <a:off x="7936992" y="2176272"/>
            <a:ext cx="3703320" cy="292608"/>
          </a:xfrm>
          <a:prstGeom prst="rect">
            <a:avLst/>
          </a:prstGeom>
          <a:noFill/>
          <a:ln/>
        </p:spPr>
        <p:txBody>
          <a:bodyPr wrap="square" lIns="0" tIns="0" rIns="0" bIns="0" rtlCol="0" anchor="t"/>
          <a:lstStyle/>
          <a:p>
            <a:pPr indent="0" marL="0">
              <a:buNone/>
            </a:pPr>
            <a:r>
              <a:rPr lang="en-US" sz="1300" b="1" dirty="0">
                <a:solidFill>
                  <a:schemeClr val="tx1"/>
                </a:solidFill>
                <a:latin typeface="Consolas" pitchFamily="34" charset="0"/>
                <a:ea typeface="Consolas" pitchFamily="34" charset="-122"/>
                <a:cs typeface="Consolas" pitchFamily="34" charset="-120"/>
              </a:rPr>
              <a:t>python manage.py runserver</a:t>
            </a:r>
            <a:endParaRPr lang="en-US" sz="1300" dirty="0"/>
          </a:p>
        </p:txBody>
      </p:sp>
      <p:sp>
        <p:nvSpPr>
          <p:cNvPr id="9" name="Text 243"/>
          <p:cNvSpPr txBox="1"/>
          <p:nvPr/>
        </p:nvSpPr>
        <p:spPr>
          <a:xfrm>
            <a:off x="7936992" y="2487168"/>
            <a:ext cx="3703320" cy="548640"/>
          </a:xfrm>
          <a:prstGeom prst="rect">
            <a:avLst/>
          </a:prstGeom>
          <a:noFill/>
          <a:ln/>
        </p:spPr>
        <p:txBody>
          <a:bodyPr wrap="square" lIns="0" tIns="0" rIns="0" bIns="0" rtlCol="0" anchor="t"/>
          <a:lstStyle/>
          <a:p>
            <a:pPr indent="0" marL="0">
              <a:buNone/>
            </a:pPr>
            <a:r>
              <a:rPr lang="en-US" sz="1300" dirty="0">
                <a:solidFill>
                  <a:schemeClr val="tx2"/>
                </a:solidFill>
              </a:rPr>
              <a:t>the API on :8000 and the dashboard on :8501</a:t>
            </a:r>
            <a:endParaRPr lang="en-US" sz="1300" dirty="0"/>
          </a:p>
        </p:txBody>
      </p:sp>
      <p:sp>
        <p:nvSpPr>
          <p:cNvPr id="10" name="Step 244"/>
          <p:cNvSpPr txBox="1"/>
          <p:nvPr/>
        </p:nvSpPr>
        <p:spPr>
          <a:xfrm>
            <a:off x="7406640" y="3044952"/>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245"/>
          <p:cNvSpPr txBox="1"/>
          <p:nvPr/>
        </p:nvSpPr>
        <p:spPr>
          <a:xfrm>
            <a:off x="7936992" y="3072384"/>
            <a:ext cx="3703320" cy="292608"/>
          </a:xfrm>
          <a:prstGeom prst="rect">
            <a:avLst/>
          </a:prstGeom>
          <a:noFill/>
          <a:ln/>
        </p:spPr>
        <p:txBody>
          <a:bodyPr wrap="square" lIns="0" tIns="0" rIns="0" bIns="0" rtlCol="0" anchor="t"/>
          <a:lstStyle/>
          <a:p>
            <a:pPr indent="0" marL="0">
              <a:buNone/>
            </a:pPr>
            <a:r>
              <a:rPr lang="en-US" sz="1500" b="1" dirty="0">
                <a:solidFill>
                  <a:schemeClr val="tx1"/>
                </a:solidFill>
              </a:rPr>
              <a:t>Try it</a:t>
            </a:r>
            <a:endParaRPr lang="en-US" sz="1500" dirty="0"/>
          </a:p>
        </p:txBody>
      </p:sp>
      <p:sp>
        <p:nvSpPr>
          <p:cNvPr id="12" name="Text 246"/>
          <p:cNvSpPr txBox="1"/>
          <p:nvPr/>
        </p:nvSpPr>
        <p:spPr>
          <a:xfrm>
            <a:off x="7936992" y="3383280"/>
            <a:ext cx="3703320" cy="548640"/>
          </a:xfrm>
          <a:prstGeom prst="rect">
            <a:avLst/>
          </a:prstGeom>
          <a:noFill/>
          <a:ln/>
        </p:spPr>
        <p:txBody>
          <a:bodyPr wrap="square" lIns="0" tIns="0" rIns="0" bIns="0" rtlCol="0" anchor="t"/>
          <a:lstStyle/>
          <a:p>
            <a:pPr indent="0" marL="0">
              <a:buNone/>
            </a:pPr>
            <a:r>
              <a:rPr lang="en-US" sz="1300" dirty="0">
                <a:solidFill>
                  <a:schemeClr val="tx2"/>
                </a:solidFill>
              </a:rPr>
              <a:t>a student opens the app; take up the top offer and its mean take-up moves from 5.0% to 9.5%</a:t>
            </a:r>
            <a:endParaRPr lang="en-US" sz="1300" dirty="0"/>
          </a:p>
        </p:txBody>
      </p:sp>
      <p:sp>
        <p:nvSpPr>
          <p:cNvPr id="13" name="Step 247"/>
          <p:cNvSpPr txBox="1"/>
          <p:nvPr/>
        </p:nvSpPr>
        <p:spPr>
          <a:xfrm>
            <a:off x="7406640" y="3941064"/>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248"/>
          <p:cNvSpPr txBox="1"/>
          <p:nvPr/>
        </p:nvSpPr>
        <p:spPr>
          <a:xfrm>
            <a:off x="7936992" y="3968496"/>
            <a:ext cx="3703320" cy="292608"/>
          </a:xfrm>
          <a:prstGeom prst="rect">
            <a:avLst/>
          </a:prstGeom>
          <a:noFill/>
          <a:ln/>
        </p:spPr>
        <p:txBody>
          <a:bodyPr wrap="square" lIns="0" tIns="0" rIns="0" bIns="0" rtlCol="0" anchor="t"/>
          <a:lstStyle/>
          <a:p>
            <a:pPr indent="0" marL="0">
              <a:buNone/>
            </a:pPr>
            <a:r>
              <a:rPr lang="en-US" sz="1500" b="1" dirty="0">
                <a:solidFill>
                  <a:schemeClr val="tx1"/>
                </a:solidFill>
              </a:rPr>
              <a:t>Live view</a:t>
            </a:r>
            <a:endParaRPr lang="en-US" sz="1500" dirty="0"/>
          </a:p>
        </p:txBody>
      </p:sp>
      <p:sp>
        <p:nvSpPr>
          <p:cNvPr id="15" name="Text 249"/>
          <p:cNvSpPr txBox="1"/>
          <p:nvPr/>
        </p:nvSpPr>
        <p:spPr>
          <a:xfrm>
            <a:off x="7936992" y="4279392"/>
            <a:ext cx="3703320" cy="548640"/>
          </a:xfrm>
          <a:prstGeom prst="rect">
            <a:avLst/>
          </a:prstGeom>
          <a:noFill/>
          <a:ln/>
        </p:spPr>
        <p:txBody>
          <a:bodyPr wrap="square" lIns="0" tIns="0" rIns="0" bIns="0" rtlCol="0" anchor="t"/>
          <a:lstStyle/>
          <a:p>
            <a:pPr indent="0" marL="0">
              <a:buNone/>
            </a:pPr>
            <a:r>
              <a:rPr lang="en-US" sz="1300" dirty="0">
                <a:solidFill>
                  <a:schemeClr val="tx2"/>
                </a:solidFill>
              </a:rPr>
              <a:t>app opens and outcomes arriving through the API</a:t>
            </a:r>
            <a:endParaRPr lang="en-US" sz="1300" dirty="0"/>
          </a:p>
        </p:txBody>
      </p:sp>
      <p:sp>
        <p:nvSpPr>
          <p:cNvPr id="16" name="Step 250"/>
          <p:cNvSpPr txBox="1"/>
          <p:nvPr/>
        </p:nvSpPr>
        <p:spPr>
          <a:xfrm>
            <a:off x="7406640" y="483717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251"/>
          <p:cNvSpPr txBox="1"/>
          <p:nvPr/>
        </p:nvSpPr>
        <p:spPr>
          <a:xfrm>
            <a:off x="7936992" y="4864608"/>
            <a:ext cx="3703320" cy="292608"/>
          </a:xfrm>
          <a:prstGeom prst="rect">
            <a:avLst/>
          </a:prstGeom>
          <a:noFill/>
          <a:ln/>
        </p:spPr>
        <p:txBody>
          <a:bodyPr wrap="square" lIns="0" tIns="0" rIns="0" bIns="0" rtlCol="0" anchor="t"/>
          <a:lstStyle/>
          <a:p>
            <a:pPr indent="0" marL="0">
              <a:buNone/>
            </a:pPr>
            <a:r>
              <a:rPr lang="en-US" sz="1500" b="1" dirty="0">
                <a:solidFill>
                  <a:schemeClr val="tx1"/>
                </a:solidFill>
              </a:rPr>
              <a:t>Algorithm comparison</a:t>
            </a:r>
            <a:endParaRPr lang="en-US" sz="1500" dirty="0"/>
          </a:p>
        </p:txBody>
      </p:sp>
      <p:sp>
        <p:nvSpPr>
          <p:cNvPr id="18" name="Text 252"/>
          <p:cNvSpPr txBox="1"/>
          <p:nvPr/>
        </p:nvSpPr>
        <p:spPr>
          <a:xfrm>
            <a:off x="7936992" y="5175504"/>
            <a:ext cx="3703320" cy="548640"/>
          </a:xfrm>
          <a:prstGeom prst="rect">
            <a:avLst/>
          </a:prstGeom>
          <a:noFill/>
          <a:ln/>
        </p:spPr>
        <p:txBody>
          <a:bodyPr wrap="square" lIns="0" tIns="0" rIns="0" bIns="0" rtlCol="0" anchor="t"/>
          <a:lstStyle/>
          <a:p>
            <a:pPr indent="0" marL="0">
              <a:buNone/>
            </a:pPr>
            <a:r>
              <a:rPr lang="en-US" sz="1300" dirty="0">
                <a:solidFill>
                  <a:schemeClr val="tx2"/>
                </a:solidFill>
              </a:rPr>
              <a:t>the results, told as a story with the charts</a:t>
            </a:r>
            <a:endParaRPr lang="en-US" sz="1300" dirty="0"/>
          </a:p>
        </p:txBody>
      </p:sp>
      <p:sp>
        <p:nvSpPr>
          <p:cNvPr id="19" name="Text 253"/>
          <p:cNvSpPr txBox="1"/>
          <p:nvPr/>
        </p:nvSpPr>
        <p:spPr>
          <a:xfrm>
            <a:off x="7406640" y="5715000"/>
            <a:ext cx="4233672" cy="457200"/>
          </a:xfrm>
          <a:prstGeom prst="rect">
            <a:avLst/>
          </a:prstGeom>
          <a:noFill/>
          <a:ln/>
        </p:spPr>
        <p:txBody>
          <a:bodyPr wrap="square" lIns="0" tIns="0" rIns="0" bIns="0" rtlCol="0" anchor="t"/>
          <a:lstStyle/>
          <a:p>
            <a:pPr indent="0" marL="0">
              <a:buNone/>
            </a:pPr>
            <a:r>
              <a:rPr lang="en-US" sz="1200" i="1" dirty="0">
                <a:solidFill>
                  <a:schemeClr val="accent1"/>
                </a:solidFill>
              </a:rPr>
              <a:t>Works with nothing installed but Python: SQLite, and the API in-process when no server is running.</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WHAT PRODUCTION NEEDS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What I would build next</a:t>
            </a:r>
            <a:endParaRPr lang="en-US" sz="3600" dirty="0"/>
          </a:p>
        </p:txBody>
      </p:sp>
      <p:sp>
        <p:nvSpPr>
          <p:cNvPr id="4" name="Card 254"/>
          <p:cNvSpPr/>
          <p:nvPr/>
        </p:nvSpPr>
        <p:spPr>
          <a:xfrm>
            <a:off x="548640" y="1645920"/>
            <a:ext cx="3515258" cy="3794760"/>
          </a:xfrm>
          <a:prstGeom prst="roundRect">
            <a:avLst>
              <a:gd name="adj" fmla="val 2081"/>
            </a:avLst>
          </a:prstGeom>
          <a:solidFill>
            <a:schemeClr val="bg2"/>
          </a:solidFill>
          <a:ln/>
        </p:spPr>
      </p:sp>
      <p:sp>
        <p:nvSpPr>
          <p:cNvPr id="5" name="Step 255"/>
          <p:cNvSpPr txBox="1"/>
          <p:nvPr/>
        </p:nvSpPr>
        <p:spPr>
          <a:xfrm>
            <a:off x="822960"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256"/>
          <p:cNvSpPr txBox="1"/>
          <p:nvPr/>
        </p:nvSpPr>
        <p:spPr>
          <a:xfrm>
            <a:off x="1417320"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Harden</a:t>
            </a:r>
            <a:endParaRPr lang="en-US" sz="1900" dirty="0"/>
          </a:p>
        </p:txBody>
      </p:sp>
      <p:sp>
        <p:nvSpPr>
          <p:cNvPr id="7" name="Text 257"/>
          <p:cNvSpPr txBox="1"/>
          <p:nvPr/>
        </p:nvSpPr>
        <p:spPr>
          <a:xfrm>
            <a:off x="822960"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Read beliefs outside the ranking lock: today a worker's app opens queue on one database read</a:t>
            </a:r>
            <a:endParaRPr lang="en-US" sz="1500" dirty="0"/>
          </a:p>
          <a:p>
            <a:pPr marL="203200" indent="-203200">
              <a:spcAft>
                <a:spcPts val="1400"/>
              </a:spcAft>
              <a:buSzPct val="100000"/>
              <a:buChar char="•"/>
            </a:pPr>
            <a:r>
              <a:rPr lang="en-US" sz="1500" dirty="0">
                <a:solidFill>
                  <a:schemeClr val="tx1"/>
                </a:solidFill>
              </a:rPr>
              <a:t>Log and learn in one transaction, with a tool to replay the log into the options store</a:t>
            </a:r>
            <a:endParaRPr lang="en-US" sz="1500" dirty="0"/>
          </a:p>
          <a:p>
            <a:pPr marL="203200" indent="-203200">
              <a:spcAft>
                <a:spcPts val="1400"/>
              </a:spcAft>
              <a:buSzPct val="100000"/>
              <a:buChar char="•"/>
            </a:pPr>
            <a:r>
              <a:rPr lang="en-US" sz="1500" dirty="0">
                <a:solidFill>
                  <a:schemeClr val="tx1"/>
                </a:solidFill>
              </a:rPr>
              <a:t>Version the logged context, so a deploy can't break responses in flight</a:t>
            </a:r>
            <a:endParaRPr lang="en-US" sz="1500" dirty="0"/>
          </a:p>
        </p:txBody>
      </p:sp>
      <p:sp>
        <p:nvSpPr>
          <p:cNvPr id="8" name="Card 258"/>
          <p:cNvSpPr/>
          <p:nvPr/>
        </p:nvSpPr>
        <p:spPr>
          <a:xfrm>
            <a:off x="4338218" y="1645920"/>
            <a:ext cx="3515258" cy="3794760"/>
          </a:xfrm>
          <a:prstGeom prst="roundRect">
            <a:avLst>
              <a:gd name="adj" fmla="val 2081"/>
            </a:avLst>
          </a:prstGeom>
          <a:solidFill>
            <a:schemeClr val="bg2"/>
          </a:solidFill>
          <a:ln/>
        </p:spPr>
      </p:sp>
      <p:sp>
        <p:nvSpPr>
          <p:cNvPr id="9" name="Step 259"/>
          <p:cNvSpPr txBox="1"/>
          <p:nvPr/>
        </p:nvSpPr>
        <p:spPr>
          <a:xfrm>
            <a:off x="4612538"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260"/>
          <p:cNvSpPr txBox="1"/>
          <p:nvPr/>
        </p:nvSpPr>
        <p:spPr>
          <a:xfrm>
            <a:off x="5206898"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Scale</a:t>
            </a:r>
            <a:endParaRPr lang="en-US" sz="1900" dirty="0"/>
          </a:p>
        </p:txBody>
      </p:sp>
      <p:sp>
        <p:nvSpPr>
          <p:cNvPr id="11" name="Text 261"/>
          <p:cNvSpPr txBox="1"/>
          <p:nvPr/>
        </p:nvSpPr>
        <p:spPr>
          <a:xfrm>
            <a:off x="4612538"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Take learning off the request path: a stream or Postgres outbox, applied by a consumer</a:t>
            </a:r>
            <a:endParaRPr lang="en-US" sz="1500" dirty="0"/>
          </a:p>
          <a:p>
            <a:pPr marL="203200" indent="-203200">
              <a:spcAft>
                <a:spcPts val="1400"/>
              </a:spcAft>
              <a:buSzPct val="100000"/>
              <a:buChar char="•"/>
            </a:pPr>
            <a:r>
              <a:rPr lang="en-US" sz="1500" dirty="0">
                <a:solidFill>
                  <a:schemeClr val="tx1"/>
                </a:solidFill>
              </a:rPr>
              <a:t>Lazy forgetting, so an update writes one row instead of the whole segment</a:t>
            </a:r>
            <a:endParaRPr lang="en-US" sz="1500" dirty="0"/>
          </a:p>
          <a:p>
            <a:pPr marL="203200" indent="-203200">
              <a:spcAft>
                <a:spcPts val="1400"/>
              </a:spcAft>
              <a:buSzPct val="100000"/>
              <a:buChar char="•"/>
            </a:pPr>
            <a:r>
              <a:rPr lang="en-US" sz="1500" dirty="0">
                <a:solidFill>
                  <a:schemeClr val="tx1"/>
                </a:solidFill>
              </a:rPr>
              <a:t>Cache beliefs in memory, add PgBouncer, load-test on Linux servers</a:t>
            </a:r>
            <a:endParaRPr lang="en-US" sz="1500" dirty="0"/>
          </a:p>
        </p:txBody>
      </p:sp>
      <p:sp>
        <p:nvSpPr>
          <p:cNvPr id="12" name="Card 262"/>
          <p:cNvSpPr/>
          <p:nvPr/>
        </p:nvSpPr>
        <p:spPr>
          <a:xfrm>
            <a:off x="8127797" y="1645920"/>
            <a:ext cx="3515258" cy="3794760"/>
          </a:xfrm>
          <a:prstGeom prst="roundRect">
            <a:avLst>
              <a:gd name="adj" fmla="val 2081"/>
            </a:avLst>
          </a:prstGeom>
          <a:solidFill>
            <a:schemeClr val="bg2"/>
          </a:solidFill>
          <a:ln/>
        </p:spPr>
      </p:sp>
      <p:sp>
        <p:nvSpPr>
          <p:cNvPr id="13" name="Step 263"/>
          <p:cNvSpPr txBox="1"/>
          <p:nvPr/>
        </p:nvSpPr>
        <p:spPr>
          <a:xfrm>
            <a:off x="8402117" y="187452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264"/>
          <p:cNvSpPr txBox="1"/>
          <p:nvPr/>
        </p:nvSpPr>
        <p:spPr>
          <a:xfrm>
            <a:off x="8996477" y="1938528"/>
            <a:ext cx="2417978" cy="365760"/>
          </a:xfrm>
          <a:prstGeom prst="rect">
            <a:avLst/>
          </a:prstGeom>
          <a:noFill/>
          <a:ln/>
        </p:spPr>
        <p:txBody>
          <a:bodyPr wrap="square" lIns="0" tIns="0" rIns="0" bIns="0" rtlCol="0" anchor="t"/>
          <a:lstStyle/>
          <a:p>
            <a:pPr indent="0" marL="0">
              <a:buNone/>
            </a:pPr>
            <a:r>
              <a:rPr lang="en-US" sz="1900" b="1" dirty="0">
                <a:solidFill>
                  <a:schemeClr val="tx1"/>
                </a:solidFill>
              </a:rPr>
              <a:t>Grow the product</a:t>
            </a:r>
            <a:endParaRPr lang="en-US" sz="1900" dirty="0"/>
          </a:p>
        </p:txBody>
      </p:sp>
      <p:sp>
        <p:nvSpPr>
          <p:cNvPr id="15" name="Text 265"/>
          <p:cNvSpPr txBox="1"/>
          <p:nvPr/>
        </p:nvSpPr>
        <p:spPr>
          <a:xfrm>
            <a:off x="8402117" y="2560320"/>
            <a:ext cx="2966618" cy="2743200"/>
          </a:xfrm>
          <a:prstGeom prst="rect">
            <a:avLst/>
          </a:prstGeom>
          <a:noFill/>
          <a:ln/>
        </p:spPr>
        <p:txBody>
          <a:bodyPr wrap="square" lIns="0" tIns="0" rIns="0" bIns="0" rtlCol="0" anchor="t"/>
          <a:lstStyle/>
          <a:p>
            <a:pPr marL="203200" indent="-203200">
              <a:spcAft>
                <a:spcPts val="1400"/>
              </a:spcAft>
              <a:buSzPct val="100000"/>
              <a:buChar char="•"/>
            </a:pPr>
            <a:r>
              <a:rPr lang="en-US" sz="1500" dirty="0">
                <a:solidFill>
                  <a:schemeClr val="tx1"/>
                </a:solidFill>
              </a:rPr>
              <a:t>Serve the feature model: a store for a matrix per offer, features at request time</a:t>
            </a:r>
            <a:endParaRPr lang="en-US" sz="1500" dirty="0"/>
          </a:p>
          <a:p>
            <a:pPr marL="203200" indent="-203200">
              <a:spcAft>
                <a:spcPts val="1400"/>
              </a:spcAft>
              <a:buSzPct val="100000"/>
              <a:buChar char="•"/>
            </a:pPr>
            <a:r>
              <a:rPr lang="en-US" sz="1500" dirty="0">
                <a:solidFill>
                  <a:schemeClr val="tx1"/>
                </a:solidFill>
              </a:rPr>
              <a:t>Guardrails: fatigue caps, overrides, affordability checks for pay-later (National Credit Act)</a:t>
            </a:r>
            <a:endParaRPr lang="en-US" sz="1500" dirty="0"/>
          </a:p>
          <a:p>
            <a:pPr marL="203200" indent="-203200">
              <a:spcAft>
                <a:spcPts val="1400"/>
              </a:spcAft>
              <a:buSzPct val="100000"/>
              <a:buChar char="•"/>
            </a:pPr>
            <a:r>
              <a:rPr lang="en-US" sz="1500" dirty="0">
                <a:solidFill>
                  <a:schemeClr val="tx1"/>
                </a:solidFill>
              </a:rPr>
              <a:t>An always-on holdout, logged propensities for offline evaluation, an attribution window</a:t>
            </a:r>
            <a:endParaRPr lang="en-US" sz="1500" dirty="0"/>
          </a:p>
        </p:txBody>
      </p:sp>
      <p:sp>
        <p:nvSpPr>
          <p:cNvPr id="16" name="Text 266"/>
          <p:cNvSpPr txBox="1"/>
          <p:nvPr/>
        </p:nvSpPr>
        <p:spPr>
          <a:xfrm>
            <a:off x="548640" y="5669280"/>
            <a:ext cx="11094415" cy="502920"/>
          </a:xfrm>
          <a:prstGeom prst="rect">
            <a:avLst/>
          </a:prstGeom>
          <a:noFill/>
          <a:ln/>
        </p:spPr>
        <p:txBody>
          <a:bodyPr wrap="square" lIns="0" tIns="0" rIns="0" bIns="0" rtlCol="0" anchor="t"/>
          <a:lstStyle/>
          <a:p>
            <a:pPr indent="0" marL="0">
              <a:buNone/>
            </a:pPr>
            <a:r>
              <a:rPr lang="en-US" sz="1400" i="1" dirty="0">
                <a:solidFill>
                  <a:schemeClr val="accent1"/>
                </a:solidFill>
              </a:rPr>
              <a:t>These come from reviewing my own architecture as if someone else had written it. The per-segment policy stays as the fallback and the baseline throughout.</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WHY THIS FITS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Your concepts, built from first principles</a:t>
            </a:r>
            <a:endParaRPr lang="en-US" sz="3600" dirty="0"/>
          </a:p>
        </p:txBody>
      </p:sp>
      <p:graphicFrame>
        <p:nvGraphicFramePr>
          <p:cNvPr id="15" name="Concept table"/>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429000"/>
                <a:gridCol w="7665415"/>
              </a:tblGrid>
              <a:tr h="566928">
                <a:tc>
                  <a:txBody>
                    <a:bodyPr/>
                    <a:lstStyle/>
                    <a:p>
                      <a:pPr indent="0" marL="0">
                        <a:buNone/>
                      </a:pPr>
                      <a:r>
                        <a:rPr lang="en-US" sz="1400" b="1" dirty="0">
                          <a:solidFill>
                            <a:schemeClr val="bg1"/>
                          </a:solidFill>
                        </a:rPr>
                        <a:t>Concept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Where it lives in this project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tx1"/>
                          </a:solidFill>
                        </a:rPr>
                        <a:t>Dynamic recommender, real-time scoring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 /invocations ranks from the current beliefs on every request, with no batch step</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Options store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row per policy, context and offer; the database computes α and β, so they can't disagree with the counts</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Real-time feedback</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POST /response updates the belief before it returns; the next app open uses it</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Epsilon-greedy and Thompson sampling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Both, with global, per-segment and per-segment-and-payday contexts, compared like for like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tx1"/>
                          </a:solidFill>
                        </a:rPr>
                        <a:t>Forgetting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Discounted evidence per context, measured before and after a behaviour shift and across 6 worlds</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1"/>
                          </a:solidFill>
                        </a:rPr>
                        <a:t>Presentation and response logging</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Every app open with its context, every offer shown and its position, every response</a:t>
                      </a:r>
                      <a:endParaRPr lang="en-US" sz="1400" dirty="0"/>
                    </a:p>
                  </a:txBody>
                  <a:tcPr marL="137160" marR="137160" marT="73152" marB="73152" anchor="ctr">
                    <a:lnL w="9525" cap="flat" cmpd="sng" algn="ctr">
                      <a:solidFill>
                        <a:srgbClr val="D7E0E5"/>
                      </a:solidFill>
                      <a:prstDash val="solid"/>
                      <a:round/>
                      <a:headEnd type="none" w="med" len="med"/>
                      <a:tailEnd type="none" w="med" len="med"/>
                    </a:lnL>
                    <a:lnR w="9525" cap="flat" cmpd="sng" algn="ctr">
                      <a:solidFill>
                        <a:srgbClr val="D7E0E5"/>
                      </a:solidFill>
                      <a:prstDash val="solid"/>
                      <a:round/>
                      <a:headEnd type="none" w="med" len="med"/>
                      <a:tailEnd type="none" w="med" len="med"/>
                    </a:lnR>
                    <a:lnT w="9525" cap="flat" cmpd="sng" algn="ctr">
                      <a:solidFill>
                        <a:srgbClr val="D7E0E5"/>
                      </a:solidFill>
                      <a:prstDash val="solid"/>
                      <a:round/>
                      <a:headEnd type="none" w="med" len="med"/>
                      <a:tailEnd type="none" w="med" len="med"/>
                    </a:lnT>
                    <a:lnB w="9525" cap="flat" cmpd="sng" algn="ctr">
                      <a:solidFill>
                        <a:srgbClr val="D7E0E5"/>
                      </a:solidFill>
                      <a:prstDash val="solid"/>
                      <a:round/>
                      <a:headEnd type="none" w="med" len="med"/>
                      <a:tailEnd type="none" w="med" len="med"/>
                    </a:lnB>
                    <a:solidFill>
                      <a:schemeClr val="bg1"/>
                    </a:solidFill>
                  </a:tcPr>
                </a:tc>
              </a:tr>
            </a:tbl>
          </a:graphicData>
        </a:graphic>
      </p:graphicFrame>
      <p:sp>
        <p:nvSpPr>
          <p:cNvPr id="5" name="Text 267"/>
          <p:cNvSpPr txBox="1"/>
          <p:nvPr/>
        </p:nvSpPr>
        <p:spPr>
          <a:xfrm>
            <a:off x="548640" y="5806440"/>
            <a:ext cx="11094415" cy="320040"/>
          </a:xfrm>
          <a:prstGeom prst="rect">
            <a:avLst/>
          </a:prstGeom>
          <a:noFill/>
          <a:ln/>
        </p:spPr>
        <p:txBody>
          <a:bodyPr wrap="square" lIns="0" tIns="0" rIns="0" bIns="0" rtlCol="0" anchor="t"/>
          <a:lstStyle/>
          <a:p>
            <a:pPr indent="0" marL="0">
              <a:buNone/>
            </a:pPr>
            <a:r>
              <a:rPr lang="en-US" sz="1200" i="1" dirty="0">
                <a:solidFill>
                  <a:schemeClr val="tx2"/>
                </a:solidFill>
              </a:rPr>
              <a:t>Implemented from scratch in Python. It does not use ecosystem.Ai's product or APIs.</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777240"/>
          </a:xfrm>
          <a:prstGeom prst="rect">
            <a:avLst/>
          </a:prstGeom>
          <a:noFill/>
          <a:ln/>
        </p:spPr>
        <p:txBody>
          <a:bodyPr wrap="square" lIns="0" tIns="0" rIns="0" bIns="0" rtlCol="0" anchor="t"/>
          <a:lstStyle/>
          <a:p>
            <a:pPr algn="l" indent="0" marL="0">
              <a:buNone/>
            </a:pPr>
            <a:r>
              <a:rPr lang="en-US" sz="3600" b="1" dirty="0">
                <a:solidFill>
                  <a:schemeClr val="bg1"/>
                </a:solidFill>
              </a:rPr>
              <a:t>What I would bring to the team</a:t>
            </a:r>
            <a:endParaRPr lang="en-US" sz="3600" dirty="0"/>
          </a:p>
        </p:txBody>
      </p:sp>
      <p:sp>
        <p:nvSpPr>
          <p:cNvPr id="3" name="Card 268"/>
          <p:cNvSpPr/>
          <p:nvPr/>
        </p:nvSpPr>
        <p:spPr>
          <a:xfrm>
            <a:off x="548640" y="1828800"/>
            <a:ext cx="3515258" cy="2331720"/>
          </a:xfrm>
          <a:prstGeom prst="roundRect">
            <a:avLst>
              <a:gd name="adj" fmla="val 3137"/>
            </a:avLst>
          </a:prstGeom>
          <a:solidFill>
            <a:schemeClr val="bg1">
              <a:alpha val="10000"/>
            </a:schemeClr>
          </a:solidFill>
          <a:ln/>
        </p:spPr>
      </p:sp>
      <p:sp>
        <p:nvSpPr>
          <p:cNvPr id="4" name="Step 269"/>
          <p:cNvSpPr txBox="1"/>
          <p:nvPr/>
        </p:nvSpPr>
        <p:spPr>
          <a:xfrm>
            <a:off x="868680"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Text 270"/>
          <p:cNvSpPr txBox="1"/>
          <p:nvPr/>
        </p:nvSpPr>
        <p:spPr>
          <a:xfrm>
            <a:off x="868680"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Evidence before claims</a:t>
            </a:r>
            <a:endParaRPr lang="en-US" sz="2000" dirty="0"/>
          </a:p>
        </p:txBody>
      </p:sp>
      <p:sp>
        <p:nvSpPr>
          <p:cNvPr id="6" name="Text 271"/>
          <p:cNvSpPr txBox="1"/>
          <p:nvPr/>
        </p:nvSpPr>
        <p:spPr>
          <a:xfrm>
            <a:off x="868680"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Paired seeds, intervals, and a tie called a tie.</a:t>
            </a:r>
            <a:endParaRPr lang="en-US" sz="1500" dirty="0"/>
          </a:p>
        </p:txBody>
      </p:sp>
      <p:sp>
        <p:nvSpPr>
          <p:cNvPr id="7" name="Card 272"/>
          <p:cNvSpPr/>
          <p:nvPr/>
        </p:nvSpPr>
        <p:spPr>
          <a:xfrm>
            <a:off x="4338218" y="1828800"/>
            <a:ext cx="3515258" cy="2331720"/>
          </a:xfrm>
          <a:prstGeom prst="roundRect">
            <a:avLst>
              <a:gd name="adj" fmla="val 3137"/>
            </a:avLst>
          </a:prstGeom>
          <a:solidFill>
            <a:schemeClr val="bg1">
              <a:alpha val="10000"/>
            </a:schemeClr>
          </a:solidFill>
          <a:ln/>
        </p:spPr>
      </p:sp>
      <p:sp>
        <p:nvSpPr>
          <p:cNvPr id="8" name="Step 273"/>
          <p:cNvSpPr txBox="1"/>
          <p:nvPr/>
        </p:nvSpPr>
        <p:spPr>
          <a:xfrm>
            <a:off x="4658258"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 274"/>
          <p:cNvSpPr txBox="1"/>
          <p:nvPr/>
        </p:nvSpPr>
        <p:spPr>
          <a:xfrm>
            <a:off x="4658258"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Production instincts</a:t>
            </a:r>
            <a:endParaRPr lang="en-US" sz="2000" dirty="0"/>
          </a:p>
        </p:txBody>
      </p:sp>
      <p:sp>
        <p:nvSpPr>
          <p:cNvPr id="10" name="Text 275"/>
          <p:cNvSpPr txBox="1"/>
          <p:nvPr/>
        </p:nvSpPr>
        <p:spPr>
          <a:xfrm>
            <a:off x="4658258"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Idempotency, atomic learning, and latency measured where it's honest.</a:t>
            </a:r>
            <a:endParaRPr lang="en-US" sz="1500" dirty="0"/>
          </a:p>
        </p:txBody>
      </p:sp>
      <p:sp>
        <p:nvSpPr>
          <p:cNvPr id="11" name="Card 276"/>
          <p:cNvSpPr/>
          <p:nvPr/>
        </p:nvSpPr>
        <p:spPr>
          <a:xfrm>
            <a:off x="8127797" y="1828800"/>
            <a:ext cx="3515258" cy="2331720"/>
          </a:xfrm>
          <a:prstGeom prst="roundRect">
            <a:avLst>
              <a:gd name="adj" fmla="val 3137"/>
            </a:avLst>
          </a:prstGeom>
          <a:solidFill>
            <a:schemeClr val="bg1">
              <a:alpha val="10000"/>
            </a:schemeClr>
          </a:solidFill>
          <a:ln/>
        </p:spPr>
      </p:sp>
      <p:sp>
        <p:nvSpPr>
          <p:cNvPr id="12" name="Step 277"/>
          <p:cNvSpPr txBox="1"/>
          <p:nvPr/>
        </p:nvSpPr>
        <p:spPr>
          <a:xfrm>
            <a:off x="8447837" y="2103120"/>
            <a:ext cx="502920" cy="50292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Text 278"/>
          <p:cNvSpPr txBox="1"/>
          <p:nvPr/>
        </p:nvSpPr>
        <p:spPr>
          <a:xfrm>
            <a:off x="8447837" y="2788920"/>
            <a:ext cx="2875178" cy="411480"/>
          </a:xfrm>
          <a:prstGeom prst="rect">
            <a:avLst/>
          </a:prstGeom>
          <a:noFill/>
          <a:ln/>
        </p:spPr>
        <p:txBody>
          <a:bodyPr wrap="square" lIns="0" tIns="0" rIns="0" bIns="0" rtlCol="0" anchor="t"/>
          <a:lstStyle/>
          <a:p>
            <a:pPr indent="0" marL="0">
              <a:buNone/>
            </a:pPr>
            <a:r>
              <a:rPr lang="en-US" sz="2000" b="1" dirty="0">
                <a:solidFill>
                  <a:schemeClr val="bg1"/>
                </a:solidFill>
              </a:rPr>
              <a:t>Product judgement</a:t>
            </a:r>
            <a:endParaRPr lang="en-US" sz="2000" dirty="0"/>
          </a:p>
        </p:txBody>
      </p:sp>
      <p:sp>
        <p:nvSpPr>
          <p:cNvPr id="14" name="Text 279"/>
          <p:cNvSpPr txBox="1"/>
          <p:nvPr/>
        </p:nvSpPr>
        <p:spPr>
          <a:xfrm>
            <a:off x="8447837" y="3246120"/>
            <a:ext cx="2875178" cy="777240"/>
          </a:xfrm>
          <a:prstGeom prst="rect">
            <a:avLst/>
          </a:prstGeom>
          <a:noFill/>
          <a:ln/>
        </p:spPr>
        <p:txBody>
          <a:bodyPr wrap="square" lIns="0" tIns="0" rIns="0" bIns="0" rtlCol="0" anchor="t"/>
          <a:lstStyle/>
          <a:p>
            <a:pPr indent="0" marL="0">
              <a:buNone/>
            </a:pPr>
            <a:r>
              <a:rPr lang="en-US" sz="1500" dirty="0">
                <a:solidFill>
                  <a:schemeClr val="bg2"/>
                </a:solidFill>
              </a:rPr>
              <a:t>Rewards and guardrails are business decisions; I make them explicit.</a:t>
            </a:r>
            <a:endParaRPr lang="en-US" sz="1500" dirty="0"/>
          </a:p>
        </p:txBody>
      </p:sp>
      <p:sp>
        <p:nvSpPr>
          <p:cNvPr id="15" name="Text 280"/>
          <p:cNvSpPr txBox="1"/>
          <p:nvPr/>
        </p:nvSpPr>
        <p:spPr>
          <a:xfrm>
            <a:off x="548640" y="4617720"/>
            <a:ext cx="11094415" cy="640080"/>
          </a:xfrm>
          <a:prstGeom prst="rect">
            <a:avLst/>
          </a:prstGeom>
          <a:noFill/>
          <a:ln/>
        </p:spPr>
        <p:txBody>
          <a:bodyPr wrap="square" lIns="0" tIns="0" rIns="0" bIns="0" rtlCol="0" anchor="t"/>
          <a:lstStyle/>
          <a:p>
            <a:pPr indent="0" marL="0">
              <a:buNone/>
            </a:pPr>
            <a:r>
              <a:rPr lang="en-US" sz="3200" b="1" dirty="0">
                <a:solidFill>
                  <a:schemeClr val="bg1"/>
                </a:solidFill>
                <a:latin typeface="+mj-lt" pitchFamily="34" charset="0"/>
                <a:ea typeface="+mj-lt" pitchFamily="34" charset="-122"/>
                <a:cs typeface="+mj-lt" pitchFamily="34" charset="-120"/>
              </a:rPr>
              <a:t>Thank you. Questions?</a:t>
            </a:r>
            <a:endParaRPr lang="en-US" sz="3200" dirty="0"/>
          </a:p>
        </p:txBody>
      </p:sp>
      <p:sp>
        <p:nvSpPr>
          <p:cNvPr id="16" name="Text 281"/>
          <p:cNvSpPr txBox="1"/>
          <p:nvPr/>
        </p:nvSpPr>
        <p:spPr>
          <a:xfrm>
            <a:off x="548640" y="5349240"/>
            <a:ext cx="11094415" cy="365760"/>
          </a:xfrm>
          <a:prstGeom prst="rect">
            <a:avLst/>
          </a:prstGeom>
          <a:noFill/>
          <a:ln/>
        </p:spPr>
        <p:txBody>
          <a:bodyPr wrap="square" lIns="0" tIns="0" rIns="0" bIns="0" rtlCol="0" anchor="t"/>
          <a:lstStyle/>
          <a:p>
            <a:pPr indent="0" marL="0">
              <a:buNone/>
            </a:pPr>
            <a:r>
              <a:rPr lang="en-US" sz="1600" b="1" dirty="0">
                <a:solidFill>
                  <a:schemeClr val="accent5"/>
                </a:solidFill>
              </a:rPr>
              <a:t>Sean Mukariri  ·  mukaririsean@gmail.com</a:t>
            </a:r>
            <a:endParaRPr lang="en-US" sz="1600" dirty="0"/>
          </a:p>
        </p:txBody>
      </p:sp>
      <p:sp>
        <p:nvSpPr>
          <p:cNvPr id="17" name="Text 282"/>
          <p:cNvSpPr txBox="1"/>
          <p:nvPr/>
        </p:nvSpPr>
        <p:spPr>
          <a:xfrm>
            <a:off x="548640" y="5760720"/>
            <a:ext cx="11094415" cy="320040"/>
          </a:xfrm>
          <a:prstGeom prst="rect">
            <a:avLst/>
          </a:prstGeom>
          <a:noFill/>
          <a:ln/>
        </p:spPr>
        <p:txBody>
          <a:bodyPr wrap="square" lIns="0" tIns="0" rIns="0" bIns="0" rtlCol="0" anchor="t"/>
          <a:lstStyle/>
          <a:p>
            <a:pPr indent="0" marL="0">
              <a:buNone/>
            </a:pPr>
            <a:r>
              <a:rPr lang="en-US" sz="1300" dirty="0">
                <a:solidFill>
                  <a:schemeClr val="bg2"/>
                </a:solidFill>
              </a:rPr>
              <a:t>In the repository: WRITEUP.md (two pages)  ·  DECISIONS.md (98 decisions)  ·  docs/how-it-works.html</a:t>
            </a:r>
            <a:endParaRPr lang="en-US" sz="1300" dirty="0"/>
          </a:p>
        </p:txBody>
      </p:sp>
    </p:spTree>
  </p:cSld>
  <p:clrMapOvr>
    <a:masterClrMapping/>
  </p:clrMapOvr>
</p:sld>
</file>

<file path=ppt/theme/theme1.xml><?xml version="1.0" encoding="utf-8"?>
<a:theme xmlns:a="http://schemas.openxmlformats.org/drawingml/2006/main" name="Recommender">
  <a:themeElements>
    <a:clrScheme name="Recommender">
      <a:dk1>
        <a:srgbClr val="13202A"/>
      </a:dk1>
      <a:lt1>
        <a:srgbClr val="FFFFFF"/>
      </a:lt1>
      <a:dk2>
        <a:srgbClr val="566773"/>
      </a:dk2>
      <a:lt2>
        <a:srgbClr val="EAF2F5"/>
      </a:lt2>
      <a:accent1>
        <a:srgbClr val="0D6987"/>
      </a:accent1>
      <a:accent2>
        <a:srgbClr val="D98E2B"/>
      </a:accent2>
      <a:accent3>
        <a:srgbClr val="9AA9B4"/>
      </a:accent3>
      <a:accent4>
        <a:srgbClr val="2B7A4B"/>
      </a:accent4>
      <a:accent5>
        <a:srgbClr val="5BB6D6"/>
      </a:accent5>
      <a:accent6>
        <a:srgbClr val="A35F08"/>
      </a:accent6>
      <a:hlink>
        <a:srgbClr val="0D6987"/>
      </a:hlink>
      <a:folHlink>
        <a:srgbClr val="566773"/>
      </a:folHlink>
    </a:clrScheme>
    <a:fontScheme name="Recommend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Sean Mukariri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recommender that learns from every tap</dc:title>
  <dc:subject>Real-time dynamic offer recommender: portfolio project</dc:subject>
  <dc:creator>Sean Mukariri</dc:creator>
  <cp:lastModifiedBy>Sean Mukariri</cp:lastModifiedBy>
  <cp:revision>1</cp:revision>
  <dcterms:created xsi:type="dcterms:W3CDTF">2026-10-21T10:57:33Z</dcterms:created>
  <dcterms:modified xsi:type="dcterms:W3CDTF">2026-10-21T10:57:33Z</dcterms:modified>
</cp:coreProperties>
</file>