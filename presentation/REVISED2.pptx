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dcc9b73-b6bb-a53b-4112-6c89ed4bf08e}">
          <p14:sldIdLst>
            <p14:sldId id="256"/>
            <p14:sldId id="257"/>
            <p14:sldId id="258"/>
          </p14:sldIdLst>
        </p14:section>
        <p14:section name="Problem and approach" id="{65018163-22c7-b036-f6e0-5aae26607f82}">
          <p14:sldIdLst>
            <p14:sldId id="259"/>
            <p14:sldId id="260"/>
          </p14:sldIdLst>
        </p14:section>
        <p14:section name="Evidence" id="{ac6df2c6-7e0e-102e-d29d-42929e51dfde}">
          <p14:sldIdLst>
            <p14:sldId id="261"/>
            <p14:sldId id="262"/>
            <p14:sldId id="263"/>
          </p14:sldIdLst>
        </p14:section>
        <p14:section name="Engineering" id="{5246679e-d03e-9c8e-a124-b4ac20178306}">
          <p14:sldIdLst>
            <p14:sldId id="264"/>
            <p14:sldId id="265"/>
          </p14:sldIdLst>
        </p14:section>
        <p14:section name="Next steps" id="{963fadff-dc7a-554c-de44-7d99d28fccaa}">
          <p14:sldIdLst>
            <p14:sldId id="266"/>
            <p14:sldId id="267"/>
          </p14:sldIdLst>
        </p14:section>
        <p14:section name="Backup" id="{13d775e6-3236-fe4c-55b0-f0b678abf055}">
          <p14:sldIdLst>
            <p14:sldId id="268"/>
            <p14:sldId id="269"/>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3"/>
          <c:y val="0.06"/>
          <c:w val="0.94"/>
          <c:h val="0.8"/>
        </c:manualLayout>
      </c:layout>
      <c:lineChart>
        <c:varyColors val="0"/>
        <c:ser>
          <c:idx val="0"/>
          <c:order val="0"/>
          <c:tx>
            <c:strRef>
              <c:f>Sheet1!$B$1</c:f>
              <c:strCache>
                <c:ptCount val="1"/>
                <c:pt idx="0">
                  <c:v>Extra take-ups over the fixed ranking</c:v>
                </c:pt>
              </c:strCache>
            </c:strRef>
          </c:tx>
          <c:spPr>
            <a:solidFill>
              <a:srgbClr val="0D6987"/>
            </a:solidFill>
            <a:ln w="44450" cap="flat">
              <a:solidFill>
                <a:srgbClr val="0D6987"/>
              </a:solidFill>
              <a:prstDash val="solid"/>
              <a:round/>
            </a:ln>
            <a:effectLst/>
          </c:spPr>
          <c:invertIfNegative val="0"/>
          <c:dLbls>
            <c:numFmt formatCode="#,##0" sourceLinked="0"/>
            <c:txPr>
              <a:bodyPr/>
              <a:lstStyle/>
              <a:p>
                <a:pPr>
                  <a:defRPr b="0" i="0" strike="noStrike" sz="1200" u="none">
                    <a:solidFill>
                      <a:srgbClr val="13202A"/>
                    </a:solidFill>
                    <a:latin typeface="+mn-lt"/>
                  </a:defRPr>
                </a:pPr>
              </a:p>
            </c:txPr>
            <c:showLegendKey val="0"/>
            <c:showVal val="0"/>
            <c:showCatName val="0"/>
            <c:showSerName val="0"/>
            <c:showPercent val="0"/>
            <c:showBubbleSize val="0"/>
            <c:showLeaderLines val="0"/>
          </c:dLbls>
          <c:marker>
            <c:symbol val="none"/>
            <c:size val="6"/>
            <c:spPr>
              <a:solidFill>
                <a:srgbClr val="0D6987"/>
              </a:solidFill>
              <a:ln w="9525" cap="flat">
                <a:solidFill>
                  <a:srgbClr val="0D6987"/>
                </a:solidFill>
                <a:prstDash val="solid"/>
                <a:round/>
              </a:ln>
              <a:effectLst/>
            </c:spPr>
          </c:marker>
          <c:cat>
            <c:multiLvlStrRef>
              <c:f>Sheet1!$A$2:$A$102</c:f>
              <c:multiLvlStrCache>
                <c:ptCount val="101"/>
                <c:lvl>
                  <c:pt idx="0">
                    <c:v>0</c:v>
                  </c:pt>
                  <c:pt idx="1">
                    <c:v>0.5k</c:v>
                  </c:pt>
                  <c:pt idx="2">
                    <c:v>1k</c:v>
                  </c:pt>
                  <c:pt idx="3">
                    <c:v>1.5k</c:v>
                  </c:pt>
                  <c:pt idx="4">
                    <c:v>2k</c:v>
                  </c:pt>
                  <c:pt idx="5">
                    <c:v>2.5k</c:v>
                  </c:pt>
                  <c:pt idx="6">
                    <c:v>3k</c:v>
                  </c:pt>
                  <c:pt idx="7">
                    <c:v>3.5k</c:v>
                  </c:pt>
                  <c:pt idx="8">
                    <c:v>4k</c:v>
                  </c:pt>
                  <c:pt idx="9">
                    <c:v>4.5k</c:v>
                  </c:pt>
                  <c:pt idx="10">
                    <c:v>5k</c:v>
                  </c:pt>
                  <c:pt idx="11">
                    <c:v>5.5k</c:v>
                  </c:pt>
                  <c:pt idx="12">
                    <c:v>6k</c:v>
                  </c:pt>
                  <c:pt idx="13">
                    <c:v>6.5k</c:v>
                  </c:pt>
                  <c:pt idx="14">
                    <c:v>7k</c:v>
                  </c:pt>
                  <c:pt idx="15">
                    <c:v>7.5k</c:v>
                  </c:pt>
                  <c:pt idx="16">
                    <c:v>8k</c:v>
                  </c:pt>
                  <c:pt idx="17">
                    <c:v>8.5k</c:v>
                  </c:pt>
                  <c:pt idx="18">
                    <c:v>9k</c:v>
                  </c:pt>
                  <c:pt idx="19">
                    <c:v>9.5k</c:v>
                  </c:pt>
                  <c:pt idx="20">
                    <c:v>10k</c:v>
                  </c:pt>
                  <c:pt idx="21">
                    <c:v>10.5k</c:v>
                  </c:pt>
                  <c:pt idx="22">
                    <c:v>11k</c:v>
                  </c:pt>
                  <c:pt idx="23">
                    <c:v>11.5k</c:v>
                  </c:pt>
                  <c:pt idx="24">
                    <c:v>12k</c:v>
                  </c:pt>
                  <c:pt idx="25">
                    <c:v>12.5k</c:v>
                  </c:pt>
                  <c:pt idx="26">
                    <c:v>13k</c:v>
                  </c:pt>
                  <c:pt idx="27">
                    <c:v>13.5k</c:v>
                  </c:pt>
                  <c:pt idx="28">
                    <c:v>14k</c:v>
                  </c:pt>
                  <c:pt idx="29">
                    <c:v>14.5k</c:v>
                  </c:pt>
                  <c:pt idx="30">
                    <c:v>15k</c:v>
                  </c:pt>
                  <c:pt idx="31">
                    <c:v>15.5k</c:v>
                  </c:pt>
                  <c:pt idx="32">
                    <c:v>16k</c:v>
                  </c:pt>
                  <c:pt idx="33">
                    <c:v>16.5k</c:v>
                  </c:pt>
                  <c:pt idx="34">
                    <c:v>17k</c:v>
                  </c:pt>
                  <c:pt idx="35">
                    <c:v>17.5k</c:v>
                  </c:pt>
                  <c:pt idx="36">
                    <c:v>18k</c:v>
                  </c:pt>
                  <c:pt idx="37">
                    <c:v>18.5k</c:v>
                  </c:pt>
                  <c:pt idx="38">
                    <c:v>19k</c:v>
                  </c:pt>
                  <c:pt idx="39">
                    <c:v>19.5k</c:v>
                  </c:pt>
                  <c:pt idx="40">
                    <c:v>20k</c:v>
                  </c:pt>
                  <c:pt idx="41">
                    <c:v>20.5k</c:v>
                  </c:pt>
                  <c:pt idx="42">
                    <c:v>21k</c:v>
                  </c:pt>
                  <c:pt idx="43">
                    <c:v>21.5k</c:v>
                  </c:pt>
                  <c:pt idx="44">
                    <c:v>22k</c:v>
                  </c:pt>
                  <c:pt idx="45">
                    <c:v>22.5k</c:v>
                  </c:pt>
                  <c:pt idx="46">
                    <c:v>23k</c:v>
                  </c:pt>
                  <c:pt idx="47">
                    <c:v>23.5k</c:v>
                  </c:pt>
                  <c:pt idx="48">
                    <c:v>24k</c:v>
                  </c:pt>
                  <c:pt idx="49">
                    <c:v>24.5k</c:v>
                  </c:pt>
                  <c:pt idx="50">
                    <c:v>25k</c:v>
                  </c:pt>
                  <c:pt idx="51">
                    <c:v>25.5k</c:v>
                  </c:pt>
                  <c:pt idx="52">
                    <c:v>26k</c:v>
                  </c:pt>
                  <c:pt idx="53">
                    <c:v>26.5k</c:v>
                  </c:pt>
                  <c:pt idx="54">
                    <c:v>27k</c:v>
                  </c:pt>
                  <c:pt idx="55">
                    <c:v>27.5k</c:v>
                  </c:pt>
                  <c:pt idx="56">
                    <c:v>28k</c:v>
                  </c:pt>
                  <c:pt idx="57">
                    <c:v>28.5k</c:v>
                  </c:pt>
                  <c:pt idx="58">
                    <c:v>29k</c:v>
                  </c:pt>
                  <c:pt idx="59">
                    <c:v>29.5k</c:v>
                  </c:pt>
                  <c:pt idx="60">
                    <c:v>30k</c:v>
                  </c:pt>
                  <c:pt idx="61">
                    <c:v>30.5k</c:v>
                  </c:pt>
                  <c:pt idx="62">
                    <c:v>31k</c:v>
                  </c:pt>
                  <c:pt idx="63">
                    <c:v>31.5k</c:v>
                  </c:pt>
                  <c:pt idx="64">
                    <c:v>32k</c:v>
                  </c:pt>
                  <c:pt idx="65">
                    <c:v>32.5k</c:v>
                  </c:pt>
                  <c:pt idx="66">
                    <c:v>33k</c:v>
                  </c:pt>
                  <c:pt idx="67">
                    <c:v>33.5k</c:v>
                  </c:pt>
                  <c:pt idx="68">
                    <c:v>34k</c:v>
                  </c:pt>
                  <c:pt idx="69">
                    <c:v>34.5k</c:v>
                  </c:pt>
                  <c:pt idx="70">
                    <c:v>35k</c:v>
                  </c:pt>
                  <c:pt idx="71">
                    <c:v>35.5k</c:v>
                  </c:pt>
                  <c:pt idx="72">
                    <c:v>36k</c:v>
                  </c:pt>
                  <c:pt idx="73">
                    <c:v>36.5k</c:v>
                  </c:pt>
                  <c:pt idx="74">
                    <c:v>37k</c:v>
                  </c:pt>
                  <c:pt idx="75">
                    <c:v>37.5k</c:v>
                  </c:pt>
                  <c:pt idx="76">
                    <c:v>38k</c:v>
                  </c:pt>
                  <c:pt idx="77">
                    <c:v>38.5k</c:v>
                  </c:pt>
                  <c:pt idx="78">
                    <c:v>39k</c:v>
                  </c:pt>
                  <c:pt idx="79">
                    <c:v>39.5k</c:v>
                  </c:pt>
                  <c:pt idx="80">
                    <c:v>40k</c:v>
                  </c:pt>
                  <c:pt idx="81">
                    <c:v>40.5k</c:v>
                  </c:pt>
                  <c:pt idx="82">
                    <c:v>41k</c:v>
                  </c:pt>
                  <c:pt idx="83">
                    <c:v>41.5k</c:v>
                  </c:pt>
                  <c:pt idx="84">
                    <c:v>42k</c:v>
                  </c:pt>
                  <c:pt idx="85">
                    <c:v>42.5k</c:v>
                  </c:pt>
                  <c:pt idx="86">
                    <c:v>43k</c:v>
                  </c:pt>
                  <c:pt idx="87">
                    <c:v>43.5k</c:v>
                  </c:pt>
                  <c:pt idx="88">
                    <c:v>44k</c:v>
                  </c:pt>
                  <c:pt idx="89">
                    <c:v>44.5k</c:v>
                  </c:pt>
                  <c:pt idx="90">
                    <c:v>45k</c:v>
                  </c:pt>
                  <c:pt idx="91">
                    <c:v>45.5k</c:v>
                  </c:pt>
                  <c:pt idx="92">
                    <c:v>46k</c:v>
                  </c:pt>
                  <c:pt idx="93">
                    <c:v>46.5k</c:v>
                  </c:pt>
                  <c:pt idx="94">
                    <c:v>47k</c:v>
                  </c:pt>
                  <c:pt idx="95">
                    <c:v>47.5k</c:v>
                  </c:pt>
                  <c:pt idx="96">
                    <c:v>48k</c:v>
                  </c:pt>
                  <c:pt idx="97">
                    <c:v>48.5k</c:v>
                  </c:pt>
                  <c:pt idx="98">
                    <c:v>49k</c:v>
                  </c:pt>
                  <c:pt idx="99">
                    <c:v>49.5k</c:v>
                  </c:pt>
                  <c:pt idx="100">
                    <c:v>50k</c:v>
                  </c:pt>
                </c:lvl>
              </c:multiLvlStrCache>
            </c:multiLvlStrRef>
          </c:cat>
          <c:val>
            <c:numRef>
              <c:f>Sheet1!$B$2:$B$102</c:f>
              <c:numCache>
                <c:formatCode>General</c:formatCode>
                <c:ptCount val="101"/>
                <c:pt idx="0">
                  <c:v>0</c:v>
                </c:pt>
                <c:pt idx="1">
                  <c:v>-2</c:v>
                </c:pt>
                <c:pt idx="2">
                  <c:v>9</c:v>
                </c:pt>
                <c:pt idx="3">
                  <c:v>31</c:v>
                </c:pt>
                <c:pt idx="4">
                  <c:v>56</c:v>
                </c:pt>
                <c:pt idx="5">
                  <c:v>80</c:v>
                </c:pt>
                <c:pt idx="6">
                  <c:v>106</c:v>
                </c:pt>
                <c:pt idx="7">
                  <c:v>133</c:v>
                </c:pt>
                <c:pt idx="8">
                  <c:v>162</c:v>
                </c:pt>
                <c:pt idx="9">
                  <c:v>194</c:v>
                </c:pt>
                <c:pt idx="10">
                  <c:v>228</c:v>
                </c:pt>
                <c:pt idx="11">
                  <c:v>261</c:v>
                </c:pt>
                <c:pt idx="12">
                  <c:v>292</c:v>
                </c:pt>
                <c:pt idx="13">
                  <c:v>320</c:v>
                </c:pt>
                <c:pt idx="14">
                  <c:v>349</c:v>
                </c:pt>
                <c:pt idx="15">
                  <c:v>378</c:v>
                </c:pt>
                <c:pt idx="16">
                  <c:v>407</c:v>
                </c:pt>
                <c:pt idx="17">
                  <c:v>439</c:v>
                </c:pt>
                <c:pt idx="18">
                  <c:v>469</c:v>
                </c:pt>
                <c:pt idx="19">
                  <c:v>501</c:v>
                </c:pt>
                <c:pt idx="20">
                  <c:v>534</c:v>
                </c:pt>
                <c:pt idx="21">
                  <c:v>568</c:v>
                </c:pt>
                <c:pt idx="22">
                  <c:v>601</c:v>
                </c:pt>
                <c:pt idx="23">
                  <c:v>634</c:v>
                </c:pt>
                <c:pt idx="24">
                  <c:v>664</c:v>
                </c:pt>
                <c:pt idx="25">
                  <c:v>695</c:v>
                </c:pt>
                <c:pt idx="26">
                  <c:v>725</c:v>
                </c:pt>
                <c:pt idx="27">
                  <c:v>755</c:v>
                </c:pt>
                <c:pt idx="28">
                  <c:v>786</c:v>
                </c:pt>
                <c:pt idx="29">
                  <c:v>818</c:v>
                </c:pt>
                <c:pt idx="30">
                  <c:v>849</c:v>
                </c:pt>
                <c:pt idx="31">
                  <c:v>882</c:v>
                </c:pt>
                <c:pt idx="32">
                  <c:v>915</c:v>
                </c:pt>
                <c:pt idx="33">
                  <c:v>948</c:v>
                </c:pt>
                <c:pt idx="34">
                  <c:v>981</c:v>
                </c:pt>
                <c:pt idx="35">
                  <c:v>1014</c:v>
                </c:pt>
                <c:pt idx="36">
                  <c:v>1047</c:v>
                </c:pt>
                <c:pt idx="37">
                  <c:v>1079</c:v>
                </c:pt>
                <c:pt idx="38">
                  <c:v>1111</c:v>
                </c:pt>
                <c:pt idx="39">
                  <c:v>1144</c:v>
                </c:pt>
                <c:pt idx="40">
                  <c:v>1175</c:v>
                </c:pt>
                <c:pt idx="41">
                  <c:v>1220</c:v>
                </c:pt>
                <c:pt idx="42">
                  <c:v>1266</c:v>
                </c:pt>
                <c:pt idx="43">
                  <c:v>1314</c:v>
                </c:pt>
                <c:pt idx="44">
                  <c:v>1360</c:v>
                </c:pt>
                <c:pt idx="45">
                  <c:v>1406</c:v>
                </c:pt>
                <c:pt idx="46">
                  <c:v>1451</c:v>
                </c:pt>
                <c:pt idx="47">
                  <c:v>1498</c:v>
                </c:pt>
                <c:pt idx="48">
                  <c:v>1542</c:v>
                </c:pt>
                <c:pt idx="49">
                  <c:v>1587</c:v>
                </c:pt>
                <c:pt idx="50">
                  <c:v>1634</c:v>
                </c:pt>
                <c:pt idx="51">
                  <c:v>1667</c:v>
                </c:pt>
                <c:pt idx="52">
                  <c:v>1702</c:v>
                </c:pt>
                <c:pt idx="53">
                  <c:v>1750</c:v>
                </c:pt>
                <c:pt idx="54">
                  <c:v>1802</c:v>
                </c:pt>
                <c:pt idx="55">
                  <c:v>1859</c:v>
                </c:pt>
                <c:pt idx="56">
                  <c:v>1920</c:v>
                </c:pt>
                <c:pt idx="57">
                  <c:v>1978</c:v>
                </c:pt>
                <c:pt idx="58">
                  <c:v>2027</c:v>
                </c:pt>
                <c:pt idx="59">
                  <c:v>2080</c:v>
                </c:pt>
                <c:pt idx="60">
                  <c:v>2134</c:v>
                </c:pt>
                <c:pt idx="61">
                  <c:v>2185</c:v>
                </c:pt>
                <c:pt idx="62">
                  <c:v>2238</c:v>
                </c:pt>
                <c:pt idx="63">
                  <c:v>2291</c:v>
                </c:pt>
                <c:pt idx="64">
                  <c:v>2345</c:v>
                </c:pt>
                <c:pt idx="65">
                  <c:v>2400</c:v>
                </c:pt>
                <c:pt idx="66">
                  <c:v>2462</c:v>
                </c:pt>
                <c:pt idx="67">
                  <c:v>2525</c:v>
                </c:pt>
                <c:pt idx="68">
                  <c:v>2587</c:v>
                </c:pt>
                <c:pt idx="69">
                  <c:v>2642</c:v>
                </c:pt>
                <c:pt idx="70">
                  <c:v>2692</c:v>
                </c:pt>
                <c:pt idx="71">
                  <c:v>2745</c:v>
                </c:pt>
                <c:pt idx="72">
                  <c:v>2796</c:v>
                </c:pt>
                <c:pt idx="73">
                  <c:v>2849</c:v>
                </c:pt>
                <c:pt idx="74">
                  <c:v>2902</c:v>
                </c:pt>
                <c:pt idx="75">
                  <c:v>2957</c:v>
                </c:pt>
                <c:pt idx="76">
                  <c:v>3013</c:v>
                </c:pt>
                <c:pt idx="77">
                  <c:v>3069</c:v>
                </c:pt>
                <c:pt idx="78">
                  <c:v>3128</c:v>
                </c:pt>
                <c:pt idx="79">
                  <c:v>3192</c:v>
                </c:pt>
                <c:pt idx="80">
                  <c:v>3250</c:v>
                </c:pt>
                <c:pt idx="81">
                  <c:v>3304</c:v>
                </c:pt>
                <c:pt idx="82">
                  <c:v>3358</c:v>
                </c:pt>
                <c:pt idx="83">
                  <c:v>3413</c:v>
                </c:pt>
                <c:pt idx="84">
                  <c:v>3463</c:v>
                </c:pt>
                <c:pt idx="85">
                  <c:v>3520</c:v>
                </c:pt>
                <c:pt idx="86">
                  <c:v>3573</c:v>
                </c:pt>
                <c:pt idx="87">
                  <c:v>3625</c:v>
                </c:pt>
                <c:pt idx="88">
                  <c:v>3682</c:v>
                </c:pt>
                <c:pt idx="89">
                  <c:v>3740</c:v>
                </c:pt>
                <c:pt idx="90">
                  <c:v>3797</c:v>
                </c:pt>
                <c:pt idx="91">
                  <c:v>3881</c:v>
                </c:pt>
                <c:pt idx="92">
                  <c:v>3961</c:v>
                </c:pt>
                <c:pt idx="93">
                  <c:v>4036</c:v>
                </c:pt>
                <c:pt idx="94">
                  <c:v>4112</c:v>
                </c:pt>
                <c:pt idx="95">
                  <c:v>4184</c:v>
                </c:pt>
                <c:pt idx="96">
                  <c:v>4254</c:v>
                </c:pt>
                <c:pt idx="97">
                  <c:v>4327</c:v>
                </c:pt>
                <c:pt idx="98">
                  <c:v>4397</c:v>
                </c:pt>
                <c:pt idx="99">
                  <c:v>4470</c:v>
                </c:pt>
                <c:pt idx="100">
                  <c:v>4543</c:v>
                </c:pt>
              </c:numCache>
            </c:numRef>
          </c:val>
          <c:smooth val="0"/>
        </c:ser>
        <c:dLbls>
          <c:numFmt formatCode="#,##0" sourceLinked="0"/>
          <c:txPr>
            <a:bodyPr/>
            <a:lstStyle/>
            <a:p>
              <a:pPr>
                <a:defRPr b="0" i="0" strike="noStrike" sz="1200" u="none">
                  <a:solidFill>
                    <a:srgbClr val="13202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66773"/>
                    </a:solidFill>
                    <a:latin typeface="Arial"/>
                  </a:defRPr>
                </a:pPr>
                <a:r>
                  <a:rPr sz="1100" b="0" i="0" u="none" strike="noStrike">
                    <a:solidFill>
                      <a:srgbClr val="566773"/>
                    </a:solidFill>
                    <a:latin typeface="Arial"/>
                  </a:rPr>
                  <a:t>app opens</a:t>
                </a:r>
              </a:p>
            </c:rich>
          </c:tx>
          <c:layout/>
          <c:overlay val="0"/>
        </c:title>
        <c:numFmt formatCode="General" sourceLinked="1"/>
        <c:majorTickMark val="out"/>
        <c:minorTickMark val="none"/>
        <c:tickLblPos val="low"/>
        <c:spPr>
          <a:ln w="12700" cap="flat">
            <a:solidFill>
              <a:srgbClr val="D7E0E5"/>
            </a:solidFill>
            <a:prstDash val="solid"/>
            <a:round/>
          </a:ln>
        </c:spPr>
        <c:txPr>
          <a:bodyPr/>
          <a:lstStyle/>
          <a:p>
            <a:pPr>
              <a:defRPr sz="1200" b="0" i="0" u="none" strike="noStrike">
                <a:solidFill>
                  <a:srgbClr val="13202A"/>
                </a:solidFill>
                <a:latin typeface="+mn-lt"/>
              </a:defRPr>
            </a:pPr>
            <a:endParaRPr lang="en-US"/>
          </a:p>
        </c:txPr>
        <c:crossAx val="2094734552"/>
        <c:crosses val="autoZero"/>
        <c:auto val="1"/>
        <c:lblAlgn val="ctr"/>
        <c:noMultiLvlLbl val="1"/>
        <c:tickLblSkip val="20"/>
      </c:catAx>
      <c:valAx>
        <c:axId val="2094734552"/>
        <c:scaling>
          <c:orientation val="minMax"/>
          <c:max val="5000"/>
          <c:min val="-25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67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66773"/>
                </a:solidFill>
                <a:latin typeface="+mn-lt"/>
              </a:defRPr>
            </a:pPr>
            <a:r>
              <a:rPr sz="1300" b="0" i="0" u="none" strike="noStrike">
                <a:solidFill>
                  <a:srgbClr val="566773"/>
                </a:solidFill>
                <a:latin typeface="+mn-lt"/>
              </a:rPr>
              <a:t>Share of the take-ups an oracle would get  ·  ★ serving in the API</a:t>
            </a:r>
          </a:p>
        </c:rich>
      </c:tx>
      <c:layout/>
      <c:overlay val="0"/>
    </c:title>
    <c:autoTitleDeleted val="0"/>
    <c:plotArea>
      <c:layout/>
      <c:barChart>
        <c:barDir val="bar"/>
        <c:grouping val="clustered"/>
        <c:varyColors val="0"/>
        <c:ser>
          <c:idx val="0"/>
          <c:order val="0"/>
          <c:tx>
            <c:strRef>
              <c:f>Sheet1!$B$1</c:f>
              <c:strCache>
                <c:ptCount val="1"/>
                <c:pt idx="0">
                  <c:v>Share of the oracle (tenths of a percent)</c:v>
                </c:pt>
              </c:strCache>
            </c:strRef>
          </c:tx>
          <c:spPr>
            <a:solidFill>
              <a:srgbClr val="5BB6D6"/>
            </a:solidFill>
            <a:effectLst/>
          </c:spPr>
          <c:invertIfNegative val="0"/>
          <c:dLbls>
            <c:numFmt formatCode="0\.0\%" sourceLinked="0"/>
            <c:txPr>
              <a:bodyPr/>
              <a:lstStyle/>
              <a:p>
                <a:pPr>
                  <a:defRPr b="0" i="0" strike="noStrike" sz="1200" u="none">
                    <a:solidFill>
                      <a:srgbClr val="13202A"/>
                    </a:solidFill>
                    <a:latin typeface="+mn-lt"/>
                  </a:defRPr>
                </a:pPr>
              </a:p>
            </c:txPr>
            <c:showLegendKey val="0"/>
            <c:showVal val="1"/>
            <c:showCatName val="0"/>
            <c:showSerName val="0"/>
            <c:showPercent val="0"/>
            <c:showBubbleSize val="0"/>
            <c:showLeaderLines val="0"/>
          </c:dLbls>
          <c:dPt>
            <c:idx val="0"/>
            <c:invertIfNegative val="0"/>
            <c:bubble3D val="0"/>
            <c:spPr>
              <a:solidFill>
                <a:srgbClr val="5BB6D6"/>
              </a:solidFill>
              <a:effectLst/>
            </c:spPr>
          </c:dPt>
          <c:dPt>
            <c:idx val="1"/>
            <c:invertIfNegative val="0"/>
            <c:bubble3D val="0"/>
            <c:spPr>
              <a:solidFill>
                <a:srgbClr val="0D6987"/>
              </a:solidFill>
              <a:effectLst/>
            </c:spPr>
          </c:dPt>
          <c:dPt>
            <c:idx val="2"/>
            <c:invertIfNegative val="0"/>
            <c:bubble3D val="0"/>
            <c:spPr>
              <a:solidFill>
                <a:srgbClr val="9AA9B4"/>
              </a:solidFill>
              <a:effectLst/>
            </c:spPr>
          </c:dPt>
          <c:dPt>
            <c:idx val="3"/>
            <c:invertIfNegative val="0"/>
            <c:bubble3D val="0"/>
            <c:spPr>
              <a:solidFill>
                <a:srgbClr val="9AA9B4"/>
              </a:solidFill>
              <a:effectLst/>
            </c:spPr>
          </c:dPt>
          <c:dPt>
            <c:idx val="4"/>
            <c:invertIfNegative val="0"/>
            <c:bubble3D val="0"/>
            <c:spPr>
              <a:solidFill>
                <a:srgbClr val="9AA9B4"/>
              </a:solidFill>
              <a:effectLst/>
            </c:spPr>
          </c:dPt>
          <c:dPt>
            <c:idx val="5"/>
            <c:invertIfNegative val="0"/>
            <c:bubble3D val="0"/>
            <c:spPr>
              <a:solidFill>
                <a:srgbClr val="9AA9B4"/>
              </a:solidFill>
              <a:effectLst/>
            </c:spPr>
          </c:dPt>
          <c:dPt>
            <c:idx val="6"/>
            <c:invertIfNegative val="0"/>
            <c:bubble3D val="0"/>
            <c:spPr>
              <a:solidFill>
                <a:srgbClr val="9AA9B4"/>
              </a:solidFill>
              <a:effectLst/>
            </c:spPr>
          </c:dPt>
          <c:dPt>
            <c:idx val="7"/>
            <c:invertIfNegative val="0"/>
            <c:bubble3D val="0"/>
            <c:spPr>
              <a:solidFill>
                <a:srgbClr val="9AA9B4"/>
              </a:solidFill>
              <a:effectLst/>
            </c:spPr>
          </c:dPt>
          <c:dPt>
            <c:idx val="8"/>
            <c:invertIfNegative val="0"/>
            <c:bubble3D val="0"/>
            <c:spPr>
              <a:solidFill>
                <a:srgbClr val="D98E2B"/>
              </a:solidFill>
              <a:effectLst/>
            </c:spPr>
          </c:dPt>
          <c:dPt>
            <c:idx val="9"/>
            <c:invertIfNegative val="0"/>
            <c:bubble3D val="0"/>
            <c:spPr>
              <a:solidFill>
                <a:srgbClr val="D98E2B"/>
              </a:solidFill>
              <a:effectLst/>
            </c:spPr>
          </c:dPt>
          <c:cat>
            <c:multiLvlStrRef>
              <c:f>Sheet1!$A$2:$A$11</c:f>
              <c:multiLvlStrCache>
                <c:ptCount val="10"/>
                <c:lvl>
                  <c:pt idx="0">
                    <c:v>Thompson, customer features (sim only)</c:v>
                  </c:pt>
                  <c:pt idx="1">
                    <c:v>Thompson, per segment + forgetting ★</c:v>
                  </c:pt>
                  <c:pt idx="2">
                    <c:v>Thompson, per segment</c:v>
                  </c:pt>
                  <c:pt idx="3">
                    <c:v>Thompson, segment + payday</c:v>
                  </c:pt>
                  <c:pt idx="4">
                    <c:v>ε-greedy, per segment</c:v>
                  </c:pt>
                  <c:pt idx="5">
                    <c:v>Thompson, revenue reward</c:v>
                  </c:pt>
                  <c:pt idx="6">
                    <c:v>Thompson, one global belief</c:v>
                  </c:pt>
                  <c:pt idx="7">
                    <c:v>ε-greedy, one global belief</c:v>
                  </c:pt>
                  <c:pt idx="8">
                    <c:v>Static popularity (batch model)</c:v>
                  </c:pt>
                  <c:pt idx="9">
                    <c:v>Random offers</c:v>
                  </c:pt>
                </c:lvl>
              </c:multiLvlStrCache>
            </c:multiLvlStrRef>
          </c:cat>
          <c:val>
            <c:numRef>
              <c:f>Sheet1!$B$2:$B$11</c:f>
              <c:numCache>
                <c:formatCode>General</c:formatCode>
                <c:ptCount val="10"/>
                <c:pt idx="0">
                  <c:v>942</c:v>
                </c:pt>
                <c:pt idx="1">
                  <c:v>927</c:v>
                </c:pt>
                <c:pt idx="2">
                  <c:v>924</c:v>
                </c:pt>
                <c:pt idx="3">
                  <c:v>923</c:v>
                </c:pt>
                <c:pt idx="4">
                  <c:v>881</c:v>
                </c:pt>
                <c:pt idx="5">
                  <c:v>724</c:v>
                </c:pt>
                <c:pt idx="6">
                  <c:v>677</c:v>
                </c:pt>
                <c:pt idx="7">
                  <c:v>659</c:v>
                </c:pt>
                <c:pt idx="8">
                  <c:v>608</c:v>
                </c:pt>
                <c:pt idx="9">
                  <c:v>526</c:v>
                </c:pt>
              </c:numCache>
            </c:numRef>
          </c:val>
        </c:ser>
        <c:dLbls>
          <c:numFmt formatCode="0\.0\%" sourceLinked="0"/>
          <c:txPr>
            <a:bodyPr/>
            <a:lstStyle/>
            <a:p>
              <a:pPr>
                <a:defRPr b="0" i="0" strike="noStrike" sz="1200" u="none">
                  <a:solidFill>
                    <a:srgbClr val="1320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3202A"/>
                </a:solidFill>
                <a:latin typeface="+mn-lt"/>
              </a:defRPr>
            </a:pPr>
            <a:endParaRPr lang="en-US"/>
          </a:p>
        </c:txPr>
        <c:crossAx val="2094734552"/>
        <c:crosses val="autoZero"/>
        <c:auto val="1"/>
        <c:lblAlgn val="ctr"/>
        <c:noMultiLvlLbl val="1"/>
      </c:catAx>
      <c:valAx>
        <c:axId val="2094734552"/>
        <c:scaling>
          <c:orientation val="minMax"/>
          <c:max val="1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667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66773"/>
                </a:solidFill>
                <a:latin typeface="+mn-lt"/>
              </a:defRPr>
            </a:pPr>
            <a:r>
              <a:rPr sz="1300" b="0" i="0" u="none" strike="noStrike">
                <a:solidFill>
                  <a:srgbClr val="566773"/>
                </a:solidFill>
                <a:latin typeface="+mn-lt"/>
              </a:rPr>
              <a:t>Three beliefs about take-up, one segment (illustrative)</a:t>
            </a:r>
          </a:p>
        </c:rich>
      </c:tx>
      <c:layout/>
      <c:overlay val="0"/>
    </c:title>
    <c:autoTitleDeleted val="0"/>
    <c:plotArea>
      <c:layout/>
      <c:lineChart>
        <c:varyColors val="0"/>
        <c:ser>
          <c:idx val="0"/>
          <c:order val="0"/>
          <c:tx>
            <c:strRef>
              <c:f>Sheet1!$B$1</c:f>
              <c:strCache>
                <c:ptCount val="1"/>
                <c:pt idx="0">
                  <c:v>Offer A: well known, strong · Beta(61, 141)</c:v>
                </c:pt>
              </c:strCache>
            </c:strRef>
          </c:tx>
          <c:spPr>
            <a:solidFill>
              <a:srgbClr val="0D6987"/>
            </a:solidFill>
            <a:ln w="38100" cap="flat">
              <a:solidFill>
                <a:srgbClr val="0D6987"/>
              </a:solidFill>
              <a:prstDash val="solid"/>
              <a:round/>
            </a:ln>
            <a:effectLst/>
          </c:spPr>
          <c:invertIfNegative val="0"/>
          <c:dLbls>
            <c:numFmt formatCode="#,##0" sourceLinked="0"/>
            <c:txPr>
              <a:bodyPr/>
              <a:lstStyle/>
              <a:p>
                <a:pPr>
                  <a:defRPr b="0" i="0" strike="noStrike" sz="1200" u="none">
                    <a:solidFill>
                      <a:srgbClr val="13202A"/>
                    </a:solidFill>
                    <a:latin typeface="+mn-lt"/>
                  </a:defRPr>
                </a:pPr>
              </a:p>
            </c:txPr>
            <c:showLegendKey val="0"/>
            <c:showVal val="0"/>
            <c:showCatName val="0"/>
            <c:showSerName val="0"/>
            <c:showPercent val="0"/>
            <c:showBubbleSize val="0"/>
            <c:showLeaderLines val="0"/>
          </c:dLbls>
          <c:marker>
            <c:symbol val="none"/>
            <c:size val="6"/>
            <c:spPr>
              <a:solidFill>
                <a:srgbClr val="0D6987"/>
              </a:solidFill>
              <a:ln w="9525" cap="flat">
                <a:solidFill>
                  <a:srgbClr val="0D6987"/>
                </a:solidFill>
                <a:prstDash val="solid"/>
                <a:round/>
              </a:ln>
              <a:effectLst/>
            </c:spPr>
          </c:marker>
          <c:cat>
            <c:multiLvlStrRef>
              <c:f>Sheet1!$A$2:$A$62</c:f>
              <c:multiLvlStrCache>
                <c:ptCount val="6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lvl>
              </c:multiLvlStrCache>
            </c:multiLvlStrRef>
          </c:cat>
          <c:val>
            <c:numRef>
              <c:f>Sheet1!$B$2:$B$62</c:f>
              <c:numCache>
                <c:formatCode>General</c:formatCode>
                <c:ptCount val="6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0.003</c:v>
                </c:pt>
                <c:pt idx="19">
                  <c:v>0.012</c:v>
                </c:pt>
                <c:pt idx="20">
                  <c:v>0.044</c:v>
                </c:pt>
                <c:pt idx="21">
                  <c:v>0.142</c:v>
                </c:pt>
                <c:pt idx="22">
                  <c:v>0.389</c:v>
                </c:pt>
                <c:pt idx="23">
                  <c:v>0.919</c:v>
                </c:pt>
                <c:pt idx="24">
                  <c:v>1.894</c:v>
                </c:pt>
                <c:pt idx="25">
                  <c:v>3.434</c:v>
                </c:pt>
                <c:pt idx="26">
                  <c:v>5.516</c:v>
                </c:pt>
                <c:pt idx="27">
                  <c:v>7.904</c:v>
                </c:pt>
                <c:pt idx="28">
                  <c:v>10.159</c:v>
                </c:pt>
                <c:pt idx="29">
                  <c:v>11.772</c:v>
                </c:pt>
                <c:pt idx="30">
                  <c:v>12.354</c:v>
                </c:pt>
                <c:pt idx="31">
                  <c:v>11.786</c:v>
                </c:pt>
                <c:pt idx="32">
                  <c:v>10.258</c:v>
                </c:pt>
                <c:pt idx="33">
                  <c:v>8.168</c:v>
                </c:pt>
                <c:pt idx="34">
                  <c:v>5.966</c:v>
                </c:pt>
                <c:pt idx="35">
                  <c:v>4.006</c:v>
                </c:pt>
                <c:pt idx="36">
                  <c:v>2.478</c:v>
                </c:pt>
                <c:pt idx="37">
                  <c:v>1.414</c:v>
                </c:pt>
                <c:pt idx="38">
                  <c:v>0.746</c:v>
                </c:pt>
                <c:pt idx="39">
                  <c:v>0.364</c:v>
                </c:pt>
                <c:pt idx="40">
                  <c:v>0.164</c:v>
                </c:pt>
                <c:pt idx="41">
                  <c:v>0.069</c:v>
                </c:pt>
                <c:pt idx="42">
                  <c:v>0.027</c:v>
                </c:pt>
                <c:pt idx="43">
                  <c:v>0.01</c:v>
                </c:pt>
                <c:pt idx="44">
                  <c:v>0.003</c:v>
                </c:pt>
                <c:pt idx="45">
                  <c:v>0.001</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numCache>
            </c:numRef>
          </c:val>
          <c:smooth val="0"/>
        </c:ser>
        <c:ser>
          <c:idx val="1"/>
          <c:order val="1"/>
          <c:tx>
            <c:strRef>
              <c:f>Sheet1!$C$1</c:f>
              <c:strCache>
                <c:ptCount val="1"/>
                <c:pt idx="0">
                  <c:v>Offer B: well known, weaker · Beta(25, 151)</c:v>
                </c:pt>
              </c:strCache>
            </c:strRef>
          </c:tx>
          <c:spPr>
            <a:solidFill>
              <a:srgbClr val="9AA9B4"/>
            </a:solidFill>
            <a:ln w="38100" cap="flat">
              <a:solidFill>
                <a:srgbClr val="9AA9B4"/>
              </a:solidFill>
              <a:prstDash val="solid"/>
              <a:round/>
            </a:ln>
            <a:effectLst/>
          </c:spPr>
          <c:invertIfNegative val="0"/>
          <c:dLbls>
            <c:numFmt formatCode="#,##0" sourceLinked="0"/>
            <c:txPr>
              <a:bodyPr/>
              <a:lstStyle/>
              <a:p>
                <a:pPr>
                  <a:defRPr b="0" i="0" strike="noStrike" sz="1200" u="none">
                    <a:solidFill>
                      <a:srgbClr val="13202A"/>
                    </a:solidFill>
                    <a:latin typeface="+mn-lt"/>
                  </a:defRPr>
                </a:pPr>
              </a:p>
            </c:txPr>
            <c:showLegendKey val="0"/>
            <c:showVal val="0"/>
            <c:showCatName val="0"/>
            <c:showSerName val="0"/>
            <c:showPercent val="0"/>
            <c:showBubbleSize val="0"/>
            <c:showLeaderLines val="0"/>
          </c:dLbls>
          <c:marker>
            <c:symbol val="none"/>
            <c:size val="6"/>
            <c:spPr>
              <a:solidFill>
                <a:srgbClr val="9AA9B4"/>
              </a:solidFill>
              <a:ln w="9525" cap="flat">
                <a:solidFill>
                  <a:srgbClr val="9AA9B4"/>
                </a:solidFill>
                <a:prstDash val="solid"/>
                <a:round/>
              </a:ln>
              <a:effectLst/>
            </c:spPr>
          </c:marker>
          <c:cat>
            <c:multiLvlStrRef>
              <c:f>Sheet1!$A$2:$A$62</c:f>
              <c:multiLvlStrCache>
                <c:ptCount val="6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lvl>
              </c:multiLvlStrCache>
            </c:multiLvlStrRef>
          </c:cat>
          <c:val>
            <c:numRef>
              <c:f>Sheet1!$C$2:$C$62</c:f>
              <c:numCache>
                <c:formatCode>General</c:formatCode>
                <c:ptCount val="61"/>
                <c:pt idx="0">
                  <c:v>0</c:v>
                </c:pt>
                <c:pt idx="1">
                  <c:v>0</c:v>
                </c:pt>
                <c:pt idx="2">
                  <c:v>0</c:v>
                </c:pt>
                <c:pt idx="3">
                  <c:v>0</c:v>
                </c:pt>
                <c:pt idx="4">
                  <c:v>0</c:v>
                </c:pt>
                <c:pt idx="5">
                  <c:v>0.001</c:v>
                </c:pt>
                <c:pt idx="6">
                  <c:v>0.014</c:v>
                </c:pt>
                <c:pt idx="7">
                  <c:v>0.114</c:v>
                </c:pt>
                <c:pt idx="8">
                  <c:v>0.554</c:v>
                </c:pt>
                <c:pt idx="9">
                  <c:v>1.817</c:v>
                </c:pt>
                <c:pt idx="10">
                  <c:v>4.342</c:v>
                </c:pt>
                <c:pt idx="11">
                  <c:v>8.003</c:v>
                </c:pt>
                <c:pt idx="12">
                  <c:v>11.86</c:v>
                </c:pt>
                <c:pt idx="13">
                  <c:v>14.584</c:v>
                </c:pt>
                <c:pt idx="14">
                  <c:v>15.247</c:v>
                </c:pt>
                <c:pt idx="15">
                  <c:v>13.816</c:v>
                </c:pt>
                <c:pt idx="16">
                  <c:v>11.018</c:v>
                </c:pt>
                <c:pt idx="17">
                  <c:v>7.831</c:v>
                </c:pt>
                <c:pt idx="18">
                  <c:v>5.011</c:v>
                </c:pt>
                <c:pt idx="19">
                  <c:v>2.912</c:v>
                </c:pt>
                <c:pt idx="20">
                  <c:v>1.547</c:v>
                </c:pt>
                <c:pt idx="21">
                  <c:v>0.756</c:v>
                </c:pt>
                <c:pt idx="22">
                  <c:v>0.342</c:v>
                </c:pt>
                <c:pt idx="23">
                  <c:v>0.143</c:v>
                </c:pt>
                <c:pt idx="24">
                  <c:v>0.056</c:v>
                </c:pt>
                <c:pt idx="25">
                  <c:v>0.02</c:v>
                </c:pt>
                <c:pt idx="26">
                  <c:v>0.007</c:v>
                </c:pt>
                <c:pt idx="27">
                  <c:v>0.002</c:v>
                </c:pt>
                <c:pt idx="28">
                  <c:v>0.001</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numCache>
            </c:numRef>
          </c:val>
          <c:smooth val="0"/>
        </c:ser>
        <c:ser>
          <c:idx val="2"/>
          <c:order val="2"/>
          <c:tx>
            <c:strRef>
              <c:f>Sheet1!$D$1</c:f>
              <c:strCache>
                <c:ptCount val="1"/>
                <c:pt idx="0">
                  <c:v>Offer C: barely tried · Beta(2, 9)</c:v>
                </c:pt>
              </c:strCache>
            </c:strRef>
          </c:tx>
          <c:spPr>
            <a:solidFill>
              <a:srgbClr val="D98E2B"/>
            </a:solidFill>
            <a:ln w="38100" cap="flat">
              <a:solidFill>
                <a:srgbClr val="D98E2B"/>
              </a:solidFill>
              <a:prstDash val="solid"/>
              <a:round/>
            </a:ln>
            <a:effectLst/>
          </c:spPr>
          <c:invertIfNegative val="0"/>
          <c:dLbls>
            <c:numFmt formatCode="#,##0" sourceLinked="0"/>
            <c:txPr>
              <a:bodyPr/>
              <a:lstStyle/>
              <a:p>
                <a:pPr>
                  <a:defRPr b="0" i="0" strike="noStrike" sz="1200" u="none">
                    <a:solidFill>
                      <a:srgbClr val="13202A"/>
                    </a:solidFill>
                    <a:latin typeface="+mn-lt"/>
                  </a:defRPr>
                </a:pPr>
              </a:p>
            </c:txPr>
            <c:showLegendKey val="0"/>
            <c:showVal val="0"/>
            <c:showCatName val="0"/>
            <c:showSerName val="0"/>
            <c:showPercent val="0"/>
            <c:showBubbleSize val="0"/>
            <c:showLeaderLines val="0"/>
          </c:dLbls>
          <c:marker>
            <c:symbol val="none"/>
            <c:size val="6"/>
            <c:spPr>
              <a:solidFill>
                <a:srgbClr val="D98E2B"/>
              </a:solidFill>
              <a:ln w="9525" cap="flat">
                <a:solidFill>
                  <a:srgbClr val="D98E2B"/>
                </a:solidFill>
                <a:prstDash val="solid"/>
                <a:round/>
              </a:ln>
              <a:effectLst/>
            </c:spPr>
          </c:marker>
          <c:cat>
            <c:multiLvlStrRef>
              <c:f>Sheet1!$A$2:$A$62</c:f>
              <c:multiLvlStrCache>
                <c:ptCount val="6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lvl>
              </c:multiLvlStrCache>
            </c:multiLvlStrRef>
          </c:cat>
          <c:val>
            <c:numRef>
              <c:f>Sheet1!$D$2:$D$62</c:f>
              <c:numCache>
                <c:formatCode>General</c:formatCode>
                <c:ptCount val="61"/>
                <c:pt idx="0">
                  <c:v>0</c:v>
                </c:pt>
                <c:pt idx="1">
                  <c:v>0.83</c:v>
                </c:pt>
                <c:pt idx="2">
                  <c:v>1.531</c:v>
                </c:pt>
                <c:pt idx="3">
                  <c:v>2.116</c:v>
                </c:pt>
                <c:pt idx="4">
                  <c:v>2.597</c:v>
                </c:pt>
                <c:pt idx="5">
                  <c:v>2.985</c:v>
                </c:pt>
                <c:pt idx="6">
                  <c:v>3.292</c:v>
                </c:pt>
                <c:pt idx="7">
                  <c:v>3.525</c:v>
                </c:pt>
                <c:pt idx="8">
                  <c:v>3.695</c:v>
                </c:pt>
                <c:pt idx="9">
                  <c:v>3.809</c:v>
                </c:pt>
                <c:pt idx="10">
                  <c:v>3.874</c:v>
                </c:pt>
                <c:pt idx="11">
                  <c:v>3.897</c:v>
                </c:pt>
                <c:pt idx="12">
                  <c:v>3.884</c:v>
                </c:pt>
                <c:pt idx="13">
                  <c:v>3.84</c:v>
                </c:pt>
                <c:pt idx="14">
                  <c:v>3.77</c:v>
                </c:pt>
                <c:pt idx="15">
                  <c:v>3.679</c:v>
                </c:pt>
                <c:pt idx="16">
                  <c:v>3.569</c:v>
                </c:pt>
                <c:pt idx="17">
                  <c:v>3.446</c:v>
                </c:pt>
                <c:pt idx="18">
                  <c:v>3.312</c:v>
                </c:pt>
                <c:pt idx="19">
                  <c:v>3.169</c:v>
                </c:pt>
                <c:pt idx="20">
                  <c:v>3.02</c:v>
                </c:pt>
                <c:pt idx="21">
                  <c:v>2.867</c:v>
                </c:pt>
                <c:pt idx="22">
                  <c:v>2.713</c:v>
                </c:pt>
                <c:pt idx="23">
                  <c:v>2.558</c:v>
                </c:pt>
                <c:pt idx="24">
                  <c:v>2.404</c:v>
                </c:pt>
                <c:pt idx="25">
                  <c:v>2.253</c:v>
                </c:pt>
                <c:pt idx="26">
                  <c:v>2.104</c:v>
                </c:pt>
                <c:pt idx="27">
                  <c:v>1.96</c:v>
                </c:pt>
                <c:pt idx="28">
                  <c:v>1.82</c:v>
                </c:pt>
                <c:pt idx="29">
                  <c:v>1.685</c:v>
                </c:pt>
                <c:pt idx="30">
                  <c:v>1.556</c:v>
                </c:pt>
                <c:pt idx="31">
                  <c:v>1.433</c:v>
                </c:pt>
                <c:pt idx="32">
                  <c:v>1.317</c:v>
                </c:pt>
                <c:pt idx="33">
                  <c:v>1.206</c:v>
                </c:pt>
                <c:pt idx="34">
                  <c:v>1.102</c:v>
                </c:pt>
                <c:pt idx="35">
                  <c:v>1.004</c:v>
                </c:pt>
                <c:pt idx="36">
                  <c:v>0.912</c:v>
                </c:pt>
                <c:pt idx="37">
                  <c:v>0.826</c:v>
                </c:pt>
                <c:pt idx="38">
                  <c:v>0.747</c:v>
                </c:pt>
                <c:pt idx="39">
                  <c:v>0.673</c:v>
                </c:pt>
                <c:pt idx="40">
                  <c:v>0.605</c:v>
                </c:pt>
                <c:pt idx="41">
                  <c:v>0.542</c:v>
                </c:pt>
                <c:pt idx="42">
                  <c:v>0.484</c:v>
                </c:pt>
                <c:pt idx="43">
                  <c:v>0.431</c:v>
                </c:pt>
                <c:pt idx="44">
                  <c:v>0.383</c:v>
                </c:pt>
                <c:pt idx="45">
                  <c:v>0.339</c:v>
                </c:pt>
                <c:pt idx="46">
                  <c:v>0.299</c:v>
                </c:pt>
                <c:pt idx="47">
                  <c:v>0.263</c:v>
                </c:pt>
                <c:pt idx="48">
                  <c:v>0.231</c:v>
                </c:pt>
                <c:pt idx="49">
                  <c:v>0.202</c:v>
                </c:pt>
                <c:pt idx="50">
                  <c:v>0.176</c:v>
                </c:pt>
                <c:pt idx="51">
                  <c:v>0.153</c:v>
                </c:pt>
                <c:pt idx="52">
                  <c:v>0.132</c:v>
                </c:pt>
                <c:pt idx="53">
                  <c:v>0.114</c:v>
                </c:pt>
                <c:pt idx="54">
                  <c:v>0.097</c:v>
                </c:pt>
                <c:pt idx="55">
                  <c:v>0.083</c:v>
                </c:pt>
                <c:pt idx="56">
                  <c:v>0.071</c:v>
                </c:pt>
                <c:pt idx="57">
                  <c:v>0.06</c:v>
                </c:pt>
                <c:pt idx="58">
                  <c:v>0.051</c:v>
                </c:pt>
                <c:pt idx="59">
                  <c:v>0.042</c:v>
                </c:pt>
                <c:pt idx="60">
                  <c:v>0.035</c:v>
                </c:pt>
              </c:numCache>
            </c:numRef>
          </c:val>
          <c:smooth val="0"/>
        </c:ser>
        <c:dLbls>
          <c:numFmt formatCode="#,##0" sourceLinked="0"/>
          <c:txPr>
            <a:bodyPr/>
            <a:lstStyle/>
            <a:p>
              <a:pPr>
                <a:defRPr b="0" i="0" strike="noStrike" sz="1200" u="none">
                  <a:solidFill>
                    <a:srgbClr val="13202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66773"/>
                    </a:solidFill>
                    <a:latin typeface="Arial"/>
                  </a:defRPr>
                </a:pPr>
                <a:r>
                  <a:rPr sz="1100" b="0" i="0" u="none" strike="noStrike">
                    <a:solidFill>
                      <a:srgbClr val="566773"/>
                    </a:solidFill>
                    <a:latin typeface="Arial"/>
                  </a:rPr>
                  <a:t>take-up rate</a:t>
                </a:r>
              </a:p>
            </c:rich>
          </c:tx>
          <c:layout/>
          <c:overlay val="0"/>
        </c:title>
        <c:numFmt formatCode="General" sourceLinked="1"/>
        <c:majorTickMark val="out"/>
        <c:minorTickMark val="none"/>
        <c:tickLblPos val="low"/>
        <c:spPr>
          <a:ln w="12700" cap="flat">
            <a:solidFill>
              <a:srgbClr val="D7E0E5"/>
            </a:solidFill>
            <a:prstDash val="solid"/>
            <a:round/>
          </a:ln>
        </c:spPr>
        <c:txPr>
          <a:bodyPr/>
          <a:lstStyle/>
          <a:p>
            <a:pPr>
              <a:defRPr sz="1200" b="0" i="0" u="none" strike="noStrike">
                <a:solidFill>
                  <a:srgbClr val="13202A"/>
                </a:solidFill>
                <a:latin typeface="+mn-lt"/>
              </a:defRPr>
            </a:pPr>
            <a:endParaRPr lang="en-US"/>
          </a:p>
        </c:txPr>
        <c:crossAx val="2094734552"/>
        <c:crosses val="autoZero"/>
        <c:auto val="1"/>
        <c:lblAlgn val="ctr"/>
        <c:noMultiLvlLbl val="1"/>
        <c:tickLblSkip val="10"/>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67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320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66773"/>
                </a:solidFill>
                <a:latin typeface="+mn-lt"/>
              </a:defRPr>
            </a:pPr>
            <a:r>
              <a:rPr sz="1300" b="0" i="0" u="none" strike="noStrike">
                <a:solidFill>
                  <a:srgbClr val="566773"/>
                </a:solidFill>
                <a:latin typeface="+mn-lt"/>
              </a:rPr>
              <a:t>Take-ups per app open, before and after the shift (mean of 10 seeds)</a:t>
            </a:r>
          </a:p>
        </c:rich>
      </c:tx>
      <c:layout/>
      <c:overlay val="0"/>
    </c:title>
    <c:autoTitleDeleted val="0"/>
    <c:plotArea>
      <c:layout/>
      <c:barChart>
        <c:barDir val="col"/>
        <c:grouping val="clustered"/>
        <c:varyColors val="0"/>
        <c:ser>
          <c:idx val="0"/>
          <c:order val="0"/>
          <c:tx>
            <c:strRef>
              <c:f>Sheet1!$B$1</c:f>
              <c:strCache>
                <c:ptCount val="1"/>
                <c:pt idx="0">
                  <c:v>Before the shift</c:v>
                </c:pt>
              </c:strCache>
            </c:strRef>
          </c:tx>
          <c:spPr>
            <a:solidFill>
              <a:srgbClr val="9AA9B4"/>
            </a:solidFill>
            <a:effectLst/>
          </c:spPr>
          <c:invertIfNegative val="0"/>
          <c:dLbls>
            <c:numFmt formatCode="0\.000" sourceLinked="0"/>
            <c:txPr>
              <a:bodyPr/>
              <a:lstStyle/>
              <a:p>
                <a:pPr>
                  <a:defRPr b="0" i="0" strike="noStrike" sz="1200" u="none">
                    <a:solidFill>
                      <a:srgbClr val="13202A"/>
                    </a:solidFill>
                    <a:latin typeface="+mn-lt"/>
                  </a:defRPr>
                </a:pPr>
              </a:p>
            </c:txPr>
            <c:showLegendKey val="0"/>
            <c:showVal val="1"/>
            <c:showCatName val="0"/>
            <c:showSerName val="0"/>
            <c:showPercent val="0"/>
            <c:showBubbleSize val="0"/>
            <c:showLeaderLines val="0"/>
          </c:dLbls>
          <c:cat>
            <c:multiLvlStrRef>
              <c:f>Sheet1!$A$2:$A$4</c:f>
              <c:multiLvlStrCache>
                <c:ptCount val="3"/>
                <c:lvl>
                  <c:pt idx="0">
                    <c:v>Static batch model</c:v>
                  </c:pt>
                  <c:pt idx="1">
                    <c:v>Thompson per segment</c:v>
                  </c:pt>
                  <c:pt idx="2">
                    <c:v>… + forgetting ★</c:v>
                  </c:pt>
                </c:lvl>
              </c:multiLvlStrCache>
            </c:multiLvlStrRef>
          </c:cat>
          <c:val>
            <c:numRef>
              <c:f>Sheet1!$B$2:$B$4</c:f>
              <c:numCache>
                <c:formatCode>General</c:formatCode>
                <c:ptCount val="3"/>
                <c:pt idx="0">
                  <c:v>168</c:v>
                </c:pt>
                <c:pt idx="1">
                  <c:v>234</c:v>
                </c:pt>
                <c:pt idx="2">
                  <c:v>231</c:v>
                </c:pt>
              </c:numCache>
            </c:numRef>
          </c:val>
        </c:ser>
        <c:ser>
          <c:idx val="1"/>
          <c:order val="1"/>
          <c:tx>
            <c:strRef>
              <c:f>Sheet1!$C$1</c:f>
              <c:strCache>
                <c:ptCount val="1"/>
                <c:pt idx="0">
                  <c:v>After the shift</c:v>
                </c:pt>
              </c:strCache>
            </c:strRef>
          </c:tx>
          <c:spPr>
            <a:solidFill>
              <a:srgbClr val="0D6987"/>
            </a:solidFill>
            <a:effectLst/>
          </c:spPr>
          <c:invertIfNegative val="0"/>
          <c:dLbls>
            <c:numFmt formatCode="0\.000" sourceLinked="0"/>
            <c:txPr>
              <a:bodyPr/>
              <a:lstStyle/>
              <a:p>
                <a:pPr>
                  <a:defRPr b="0" i="0" strike="noStrike" sz="1200" u="none">
                    <a:solidFill>
                      <a:srgbClr val="13202A"/>
                    </a:solidFill>
                    <a:latin typeface="+mn-lt"/>
                  </a:defRPr>
                </a:pPr>
              </a:p>
            </c:txPr>
            <c:showLegendKey val="0"/>
            <c:showVal val="1"/>
            <c:showCatName val="0"/>
            <c:showSerName val="0"/>
            <c:showPercent val="0"/>
            <c:showBubbleSize val="0"/>
            <c:showLeaderLines val="0"/>
          </c:dLbls>
          <c:cat>
            <c:multiLvlStrRef>
              <c:f>Sheet1!$A$2:$A$4</c:f>
              <c:multiLvlStrCache>
                <c:ptCount val="3"/>
                <c:lvl>
                  <c:pt idx="0">
                    <c:v>Static batch model</c:v>
                  </c:pt>
                  <c:pt idx="1">
                    <c:v>Thompson per segment</c:v>
                  </c:pt>
                  <c:pt idx="2">
                    <c:v>… + forgetting ★</c:v>
                  </c:pt>
                </c:lvl>
              </c:multiLvlStrCache>
            </c:multiLvlStrRef>
          </c:cat>
          <c:val>
            <c:numRef>
              <c:f>Sheet1!$C$2:$C$4</c:f>
              <c:numCache>
                <c:formatCode>General</c:formatCode>
                <c:ptCount val="3"/>
                <c:pt idx="0">
                  <c:v>175</c:v>
                </c:pt>
                <c:pt idx="1">
                  <c:v>289</c:v>
                </c:pt>
                <c:pt idx="2">
                  <c:v>295</c:v>
                </c:pt>
              </c:numCache>
            </c:numRef>
          </c:val>
        </c:ser>
        <c:dLbls>
          <c:numFmt formatCode="0\.000" sourceLinked="0"/>
          <c:txPr>
            <a:bodyPr/>
            <a:lstStyle/>
            <a:p>
              <a:pPr>
                <a:defRPr b="0" i="0" strike="noStrike" sz="1200" u="none">
                  <a:solidFill>
                    <a:srgbClr val="13202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7E0E5"/>
            </a:solidFill>
            <a:prstDash val="solid"/>
            <a:round/>
          </a:ln>
        </c:spPr>
        <c:txPr>
          <a:bodyPr/>
          <a:lstStyle/>
          <a:p>
            <a:pPr>
              <a:defRPr sz="1200" b="0" i="0" u="none" strike="noStrike">
                <a:solidFill>
                  <a:srgbClr val="13202A"/>
                </a:solidFill>
                <a:latin typeface="+mn-lt"/>
              </a:defRPr>
            </a:pPr>
            <a:endParaRPr lang="en-US"/>
          </a:p>
        </c:txPr>
        <c:crossAx val="2094734552"/>
        <c:crosses val="autoZero"/>
        <c:auto val="1"/>
        <c:lblAlgn val="ctr"/>
        <c:noMultiLvlLbl val="1"/>
      </c:catAx>
      <c:valAx>
        <c:axId val="2094734552"/>
        <c:scaling>
          <c:orientation val="minMax"/>
          <c:max val="3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677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3202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every time a customer opens the app, this system picks three offers and learns from what the customer does with them, immediately.
The cards on the right are a real ranking from the API; the scores are the draws from each offer's belief.
Plan for the next 18 minutes: who I am, the answer, how it works, the evidence, the data engineering underneath, and what I'd build next. Detail for questions is in the backup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under a minute. I'm a data engineer: Python, SQL, Spark, Airflow, AWS and GCP. My tools mostly run in batches. Your platform's whole idea is the opposite, learning in the moment, so I built a small, production-minded version to understand it properly, end to end.
If asked how you built it (have this answer ready, and make it match how you actually worked): I wrote the brief and the phases, worked with an AI coding assistant as a pair programmer, made and logged the 98 decisions, and verified every phase with tests and measurements before moving on. The four bugs later in the deck were caught by those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result; the rest is the evidence for it.
+53% take-ups per app open over a static popularity ranking fitted on a month of history: 0.263 against 0.172, a 95% bootstrap interval of 46 to 61%. That's about 91,000 more take-ups per million app opens.
92.7% of an oracle that knows the hidden take-up probabilities; static gets 60.8%.
It beat both baselines on regret in all 10 seeds, and in all 18 runs of a sensitivity sweep across six variants of the world.
In money: R9.68 against R4.42 of revenue per app open in the simulation, so about R5.3 million more per million app opens. Say clearly that prices and margins are illustrative: it shows the size of the lever, not a forecast.
And it's fast enough for the request path: 11 ms p95 per app open on one worker.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has room for three offers, and the right three depend on who the customer is and the moment: students want the cheapest data; pensioners airtime, except in SASSA grant week, when they buy electricity; small businesses pay-later mid-month and a big data bundle at payday.
And preferences move: halfway through the simulated run, streaming goes viral with young professionals, and an electricity price hike turns families from funeral cover to prepaid electricity.
A monthly batch model is out of date when it ships, never learns about offers it doesn't show, and can't notice the change until someone retrains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by the numbers.
1-2: the app sends the customer id; the API looks up the profile and adds the moment, including whether it's payday week for that segment.
3: the policy reads the segment's beliefs, draws one sample from each eligible offer and shows the three highest. (This audience knows Thompson sampling; the explainer is backup slide B1 if they want it.)
4: it logs the app open with its full context and the offers shown, in one transaction, before replying.
5-6: the response is logged exactly once; the database's primary key enforces that, so a repeat gets 409 even across workers. A take-up is reward 1, a view 0, and an ignored offer teaches nothing because the customer may never have seen it.
7: in one transaction the segment's evidence shrinks by 0.9998 and the reward is added. The next app open in that segment, on any worker, reads it.
The blue column is the point: the options store is the only thing that carries learning from one customer 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learning curve: the expected take-ups the serving policy won over the fixed popularity ranking, added up over the run. The fixed ranking is the zero line.
It starts with no data and is behind for a moment, because it has to explore; it overtakes the batch model after 698 app opens and never looks back.
The shift is the dashed line at 25,000. Before it the learner won 1,634 extra take-ups; after it, 2,909. The lead grows faster because the static model is now wrong and stays wrong, while the learner finds the new favourites. With forgetting, young professionals' new favourite led within 1,460 app opens; without it, 5,601.
Caveat if asked: this curve and the convergence counts are from the first of the 10 runs; the averages over all 10 are on the next slide. Before-and-after take-up rates are backup slide B3.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of the oracle: each policy's take-ups as a share of what a policy that knows the truth would get, on the same 50,000 app opens, averaged over 10 seeds.
The serving policy gets 92.7%; the static batch model 60.8%; random 52.6%.
The biggest single step is personalisation: one belief per segment instead of one global belief takes Thompson from 68% to 92%, in 10 of 10 seeds.
The top bar is Thompson on customer features. It wins every seed but isn't served yet: its state is a matrix per offer, which the options store can't hold. I chose to recommend only what can actually be switched on.
Be ready to say: the top three per-segment policies are statistically tied. The test bench behind these numbers is backup slide 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claim says how many runs back it, and a tie is called a tie.
The top three per-segment Thompson policies are within the noise. Thompson beats epsilon-greedy with the same segments in 8 of 10 seeds. Learning from margin earns 38% more revenue for 22% fewer take-ups: which is right is a product decision, and it's one line of config.
The challenge I'd raise myself: I built the world, so of course my method wins. The sensitivity sweep changes one assumption at a time across six worlds; it beat both baselines in all 18 runs. Forgetting only pays in half of them.
And the honest limit: this shows the mechanism works and how its parts compare, not the uplift in a real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home ground, so it's where I'd slow down.
The event log is three normalised tables: invocations with the full context, impressions with position and score, responses with the outcome. Plain SQL answers take-up by position, offer, policy or segment without unpacking blobs.
Idempotency is the database's job, not the application's: the responses table's primary key plus ON CONFLICT DO NOTHING. A read-then-check in Python would race; this can't. On Postgres I detect the duplicate with RETURNING, because the driver reports rowcount -1 there (that's bug 2 on the next slide).
The nightly job rebuilds one day of daily_offer_stats in a single transaction: delete the day, insert its aggregate, counted by the database in one query. Reruns are safe and pick up late responses; outcomes count on the day of the app open they answer, so each day's funnel stays consistent. It runs from cron or as a single Airflow task; I chose not to add Airflow itself because it would have been code I couldn't test here.
Log first, then learn: the response is written before the model updates, so the record survives a failed update. Next step (slide 11): make the two one transaction or add a replay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stories I'd most like to tell, because each was invisible until I measured it.
1. The first learning step read the row, changed it in Python and wrote it back. Four threads lost 74% of updates; FastAPI runs handlers on parallel threads, so the API would have silently dropped learning under load. Now the update is computed inside the database.
2. Idempotency looked fine on SQLite. On Postgres the driver reports rowcount -1 for ON CONFLICT DO NOTHING, so eight simultaneous copies of one take-up were all learned. Now the insert returns the key; no row back means a duplicate. That's why the tests run on both databases.
3. With four workers, forgetting updates to one segment deadlocked; Postgres's log showed rows locked in different orders. A per-context advisory lock fixes the order. I chose that over a retry loop, which would have hidden the cause.
4. The Docker API looked slow from the host, 55 ms p50, but in-process the endpoint took 10 ms. The extra was Docker Desktop's port forwarding on Windows, so I measured from a container on the same network.
If there's time, this is a good moment for the live demo (backup slide B5).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reviewed my own architecture as if it were someone else's. In order:
Harden: each worker holds a lock while it reads beliefs from the database, so app opens for the serving policy queue behind each other; reading outside the lock is a small change. Logging and learning are two transactions today: if a process dies between them, that response is never learned, so either one transaction or a replay tool. And the logged context should carry a version.
Scale: learning off the request path through a stream or an outbox; lazy forgetting, storing an update counter and applying gamma to the power of the gap on read; beliefs cached in memory.
Product: serve the feature model; guardrails, including affordability checks because the pay-later voucher is credit under the National Credit Act; a holdout and logged propensities so a new policy can be evaluated offline before it serves anyone; an attribution window for take-ups that arrive hours later; POPIA-compliant data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how I work, as a data engineer: data that stays correct under load, reruns and late arrivals; evidence before claims; and failure modes measured rather than assumed.
Then questions. Short answers to the likely ones:
- Cold start for a new offer? It starts at Beta(1,1), so its draws are wide and it's explored straight away; a prior from similar offers would cut that cost.
- Delayed take-ups? An attribution window, and learning from a stream rather than in the request path.
- Position bias? The simulator models attention by position; production would log propensities and weight by them offline.
- Why segments, not features? Segments are servable today and reach 92%; features reach 94% and are next once the store can hold their state.
- Why not UCB? Thompson handles a ranked list and batches of delayed feedback naturally; UCB would be a fair next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open a slide here only if a question calls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offer has a Beta belief per segment. To rank, draw one plausible rate from each and sort. A is well known and strong, so it usually wins; C has only a handful of responses, so its draws spread out and it comes first in about 15% of app opens; B is known to be weaker and almost never wins. Exploration in proportion to doubt, with nothing to tune. Forgetting shrinks every belief in the segment by 0.9998 per update, so roughly the last 5,000 responses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take-up data doesn't come with the answer attached, so I simulated a world that does. The recommender never sees the truth, enforced by a test. Common random numbers: every policy sees the identical app opens. Regret from expected values, 10 seeds, paired claims, bootstrap intervals. Take-up rates are 2-20%, higher than the 1-5% typical in practice, so 50,000 rounds show convergence; the relative patterns matter, not the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shift the static model looks respectable, because it was fitted on the right month; after it, it's wrong and stays wrong: 0.168 to 0.175. The learners rise to about 0.29. Forgetting lowered post-shift regret in 10 of 10 seeds but cost a little before; the sensitivity sweep says it pays in 3 of 6 worlds. Convergence counts are from the first seed; the 80%-of-last-100 threshold is a judgement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 with synchronous endpoints on a thread pool, SQLAlchemy Core on Postgres (SQLite with no .env), Streamlit, Docker Compose. Latency measured by a benchmark script against a real server over HTTP: 11 ms p95 on one worker; 224 req/s with four workers in Docker, p95 under 25 ms up to four clients. CI runs lint, types, a docs-freshness check and the full suite on SQLite and Postgres, plus a clean-machine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python manage.py runserver; sign in as an admin. Try it: pick a student, open the app, take up the first offer; the belief updates before the page refreshes. Live view: run a simulation through the API and watch events arrive. Algorithm comparison: the findings as a story. If the demo misbehaves, this screenshot carries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brief's concepts and where each lives in the code. Built from first principles to understand the trade-offs behind each one. It doesn't use ecosystem.Ai's product or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6675120" cy="320040"/>
          </a:xfrm>
          <a:prstGeom prst="rect">
            <a:avLst/>
          </a:prstGeom>
          <a:noFill/>
          <a:ln/>
        </p:spPr>
        <p:txBody>
          <a:bodyPr wrap="square" rtlCol="0"/>
          <a:lstStyle>
            <a:lvl1pPr indent="0" marL="0">
              <a:buNone/>
              <a:defRPr lang="en-US" sz="1200" b="1" spc="150" kern="0" dirty="0">
                <a:solidFill>
                  <a:schemeClr val="accent5"/>
                </a:solidFill>
              </a:defRPr>
            </a:lvl1pPr>
          </a:lstStyle>
          <a:p>
            <a:pPr indent="0" marL="0">
              <a:buNone/>
            </a:pPr>
            <a:endParaRPr lang="en-US" sz="1200" dirty="0"/>
          </a:p>
        </p:txBody>
      </p:sp>
      <p:sp>
        <p:nvSpPr>
          <p:cNvPr id="3" name="Text 0"/>
          <p:cNvSpPr/>
          <p:nvPr>
            <p:ph idx="101" type="title" hasCustomPrompt="1"/>
          </p:nvPr>
        </p:nvSpPr>
        <p:spPr>
          <a:xfrm>
            <a:off x="548640" y="1600200"/>
            <a:ext cx="667512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474720"/>
            <a:ext cx="6309360" cy="1188720"/>
          </a:xfrm>
          <a:prstGeom prst="rect">
            <a:avLst/>
          </a:prstGeom>
          <a:noFill/>
          <a:ln/>
        </p:spPr>
        <p:txBody>
          <a:bodyPr wrap="square" rtlCol="0"/>
          <a:lstStyle>
            <a:lvl1pPr indent="0" marL="0">
              <a:buNone/>
              <a:defRPr lang="en-US" sz="1700" dirty="0">
                <a:solidFill>
                  <a:schemeClr val="bg2"/>
                </a:solidFill>
              </a:defRPr>
            </a:lvl1pPr>
          </a:lstStyle>
          <a:p>
            <a:pPr indent="0" marL="0">
              <a:buNone/>
            </a:pPr>
            <a:endParaRPr lang="en-US" sz="1700" dirty="0"/>
          </a:p>
        </p:txBody>
      </p:sp>
      <p:sp>
        <p:nvSpPr>
          <p:cNvPr id="5" name="Text 0"/>
          <p:cNvSpPr/>
          <p:nvPr>
            <p:ph idx="103" type="body" hasCustomPrompt="1"/>
          </p:nvPr>
        </p:nvSpPr>
        <p:spPr>
          <a:xfrm>
            <a:off x="548640" y="5486400"/>
            <a:ext cx="6400800" cy="365760"/>
          </a:xfrm>
          <a:prstGeom prst="rect">
            <a:avLst/>
          </a:prstGeom>
          <a:noFill/>
          <a:ln/>
        </p:spPr>
        <p:txBody>
          <a:bodyPr wrap="square" rtlCol="0"/>
          <a:lstStyle>
            <a:lvl1pPr indent="0" marL="0">
              <a:buNone/>
              <a:defRPr lang="en-US" sz="1400" b="1" dirty="0">
                <a:solidFill>
                  <a:schemeClr val="accent5"/>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tx2"/>
                </a:solidFill>
              </a:rPr>
              <a:t>Sean Mukariri  ·  Real-time offer recommender</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6675120" cy="320040"/>
          </a:xfrm>
          <a:prstGeom prst="rect">
            <a:avLst/>
          </a:prstGeom>
          <a:noFill/>
          <a:ln/>
        </p:spPr>
        <p:txBody>
          <a:bodyPr wrap="square" lIns="0" tIns="0" rIns="0" bIns="0" rtlCol="0" anchor="t"/>
          <a:lstStyle/>
          <a:p>
            <a:pPr indent="0" marL="0">
              <a:buNone/>
            </a:pPr>
            <a:r>
              <a:rPr lang="en-US" sz="1200" b="1" spc="150" kern="0" dirty="0">
                <a:solidFill>
                  <a:schemeClr val="accent5"/>
                </a:solidFill>
              </a:rPr>
              <a:t>PORTFOLIO PROJECT  ·  FOR THE ECOSYSTEM.AI TECHNICAL TEAM</a:t>
            </a:r>
            <a:endParaRPr lang="en-US" sz="1200" dirty="0"/>
          </a:p>
        </p:txBody>
      </p:sp>
      <p:sp>
        <p:nvSpPr>
          <p:cNvPr id="3" name="Text 0"/>
          <p:cNvSpPr/>
          <p:nvPr>
            <p:ph idx="101" type="title" hasCustomPrompt="1"/>
          </p:nvPr>
        </p:nvSpPr>
        <p:spPr>
          <a:xfrm>
            <a:off x="548640" y="1600200"/>
            <a:ext cx="6675120" cy="1737360"/>
          </a:xfrm>
          <a:prstGeom prst="rect">
            <a:avLst/>
          </a:prstGeom>
          <a:noFill/>
          <a:ln/>
        </p:spPr>
        <p:txBody>
          <a:bodyPr wrap="square" lIns="0" tIns="0" rIns="0" bIns="0" rtlCol="0" anchor="t"/>
          <a:lstStyle/>
          <a:p>
            <a:pPr algn="l" indent="0" marL="0">
              <a:buNone/>
            </a:pPr>
            <a:r>
              <a:rPr lang="en-US" sz="4400" b="1" dirty="0">
                <a:solidFill>
                  <a:schemeClr val="bg1"/>
                </a:solidFill>
              </a:rPr>
              <a:t>A recommender that learns from every tap</a:t>
            </a:r>
            <a:endParaRPr lang="en-US" sz="4400" dirty="0"/>
          </a:p>
        </p:txBody>
      </p:sp>
      <p:sp>
        <p:nvSpPr>
          <p:cNvPr id="4" name="Text 0"/>
          <p:cNvSpPr/>
          <p:nvPr>
            <p:ph idx="102" type="body" hasCustomPrompt="1"/>
          </p:nvPr>
        </p:nvSpPr>
        <p:spPr>
          <a:xfrm>
            <a:off x="548640" y="3474720"/>
            <a:ext cx="6309360" cy="1188720"/>
          </a:xfrm>
          <a:prstGeom prst="rect">
            <a:avLst/>
          </a:prstGeom>
          <a:noFill/>
          <a:ln/>
        </p:spPr>
        <p:txBody>
          <a:bodyPr wrap="square" lIns="0" tIns="0" rIns="0" bIns="0" rtlCol="0" anchor="t"/>
          <a:lstStyle/>
          <a:p>
            <a:pPr indent="0" marL="0">
              <a:buNone/>
            </a:pPr>
            <a:r>
              <a:rPr lang="en-US" sz="1700" dirty="0">
                <a:solidFill>
                  <a:schemeClr val="bg2"/>
                </a:solidFill>
              </a:rPr>
              <a:t>Real-time offer ranking for a telco and fintech app: contextual Thompson sampling, built from scratch and tested against a world with a known answer.</a:t>
            </a:r>
            <a:endParaRPr lang="en-US" sz="1700" dirty="0"/>
          </a:p>
        </p:txBody>
      </p:sp>
      <p:sp>
        <p:nvSpPr>
          <p:cNvPr id="5" name="Text 0"/>
          <p:cNvSpPr/>
          <p:nvPr>
            <p:ph idx="103" type="body" hasCustomPrompt="1"/>
          </p:nvPr>
        </p:nvSpPr>
        <p:spPr>
          <a:xfrm>
            <a:off x="548640" y="5486400"/>
            <a:ext cx="6400800" cy="365760"/>
          </a:xfrm>
          <a:prstGeom prst="rect">
            <a:avLst/>
          </a:prstGeom>
          <a:noFill/>
          <a:ln/>
        </p:spPr>
        <p:txBody>
          <a:bodyPr wrap="square" lIns="0" tIns="0" rIns="0" bIns="0" rtlCol="0" anchor="t"/>
          <a:lstStyle/>
          <a:p>
            <a:pPr indent="0" marL="0">
              <a:buNone/>
            </a:pPr>
            <a:r>
              <a:rPr lang="en-US" sz="1400" b="1" dirty="0">
                <a:solidFill>
                  <a:schemeClr val="accent5"/>
                </a:solidFill>
              </a:rPr>
              <a:t>Sean Mukariri  ·  October 2026</a:t>
            </a:r>
            <a:endParaRPr lang="en-US" sz="1400" dirty="0"/>
          </a:p>
        </p:txBody>
      </p:sp>
      <p:sp>
        <p:nvSpPr>
          <p:cNvPr id="6" name="Text 1"/>
          <p:cNvSpPr txBox="1"/>
          <p:nvPr/>
        </p:nvSpPr>
        <p:spPr>
          <a:xfrm>
            <a:off x="7726680" y="1600200"/>
            <a:ext cx="3913632" cy="274320"/>
          </a:xfrm>
          <a:prstGeom prst="rect">
            <a:avLst/>
          </a:prstGeom>
          <a:noFill/>
          <a:ln/>
        </p:spPr>
        <p:txBody>
          <a:bodyPr wrap="square" lIns="0" tIns="0" rIns="0" bIns="0" rtlCol="0" anchor="t"/>
          <a:lstStyle/>
          <a:p>
            <a:pPr indent="0" marL="0">
              <a:buNone/>
            </a:pPr>
            <a:r>
              <a:rPr lang="en-US" sz="1200" b="1" dirty="0">
                <a:solidFill>
                  <a:schemeClr val="accent5"/>
                </a:solidFill>
              </a:rPr>
              <a:t>Customer C00042  ·  small business  ·  one app open</a:t>
            </a:r>
            <a:endParaRPr lang="en-US" sz="1200" dirty="0"/>
          </a:p>
        </p:txBody>
      </p:sp>
      <p:sp>
        <p:nvSpPr>
          <p:cNvPr id="7" name="Card 2"/>
          <p:cNvSpPr/>
          <p:nvPr/>
        </p:nvSpPr>
        <p:spPr>
          <a:xfrm>
            <a:off x="7726680" y="2011680"/>
            <a:ext cx="3913632" cy="804672"/>
          </a:xfrm>
          <a:prstGeom prst="roundRect">
            <a:avLst>
              <a:gd name="adj" fmla="val 9091"/>
            </a:avLst>
          </a:prstGeom>
          <a:solidFill>
            <a:schemeClr val="bg1">
              <a:alpha val="12000"/>
            </a:schemeClr>
          </a:solidFill>
          <a:ln/>
        </p:spPr>
      </p:sp>
      <p:sp>
        <p:nvSpPr>
          <p:cNvPr id="8" name="Step 3"/>
          <p:cNvSpPr txBox="1"/>
          <p:nvPr/>
        </p:nvSpPr>
        <p:spPr>
          <a:xfrm>
            <a:off x="7927848" y="2203704"/>
            <a:ext cx="420624" cy="42062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4"/>
          <p:cNvSpPr txBox="1"/>
          <p:nvPr/>
        </p:nvSpPr>
        <p:spPr>
          <a:xfrm>
            <a:off x="8513064" y="2139696"/>
            <a:ext cx="2331720" cy="310896"/>
          </a:xfrm>
          <a:prstGeom prst="rect">
            <a:avLst/>
          </a:prstGeom>
          <a:noFill/>
          <a:ln/>
        </p:spPr>
        <p:txBody>
          <a:bodyPr wrap="square" lIns="0" tIns="0" rIns="0" bIns="0" rtlCol="0" anchor="t"/>
          <a:lstStyle/>
          <a:p>
            <a:pPr indent="0" marL="0">
              <a:buNone/>
            </a:pPr>
            <a:r>
              <a:rPr lang="en-US" sz="1600" b="1" dirty="0">
                <a:solidFill>
                  <a:schemeClr val="bg1"/>
                </a:solidFill>
              </a:rPr>
              <a:t>Pay-later R500 voucher</a:t>
            </a:r>
            <a:endParaRPr lang="en-US" sz="1600" dirty="0"/>
          </a:p>
        </p:txBody>
      </p:sp>
      <p:sp>
        <p:nvSpPr>
          <p:cNvPr id="10" name="Text 5"/>
          <p:cNvSpPr txBox="1"/>
          <p:nvPr/>
        </p:nvSpPr>
        <p:spPr>
          <a:xfrm>
            <a:off x="8513064" y="2468880"/>
            <a:ext cx="2331720" cy="237744"/>
          </a:xfrm>
          <a:prstGeom prst="rect">
            <a:avLst/>
          </a:prstGeom>
          <a:noFill/>
          <a:ln/>
        </p:spPr>
        <p:txBody>
          <a:bodyPr wrap="square" lIns="0" tIns="0" rIns="0" bIns="0" rtlCol="0" anchor="t"/>
          <a:lstStyle/>
          <a:p>
            <a:pPr indent="0" marL="0">
              <a:buNone/>
            </a:pPr>
            <a:r>
              <a:rPr lang="en-US" sz="1200" dirty="0">
                <a:solidFill>
                  <a:schemeClr val="bg2"/>
                </a:solidFill>
              </a:rPr>
              <a:t>credit  ·  R500</a:t>
            </a:r>
            <a:endParaRPr lang="en-US" sz="1200" dirty="0"/>
          </a:p>
        </p:txBody>
      </p:sp>
      <p:sp>
        <p:nvSpPr>
          <p:cNvPr id="11" name="Text 6"/>
          <p:cNvSpPr txBox="1"/>
          <p:nvPr/>
        </p:nvSpPr>
        <p:spPr>
          <a:xfrm>
            <a:off x="10789920" y="2231136"/>
            <a:ext cx="685800" cy="365760"/>
          </a:xfrm>
          <a:prstGeom prst="rect">
            <a:avLst/>
          </a:prstGeom>
          <a:noFill/>
          <a:ln/>
        </p:spPr>
        <p:txBody>
          <a:bodyPr wrap="square" lIns="0" tIns="0" rIns="0" bIns="0" rtlCol="0" anchor="t"/>
          <a:lstStyle/>
          <a:p>
            <a:pPr algn="r" indent="0" marL="0">
              <a:buNone/>
            </a:pPr>
            <a:r>
              <a:rPr lang="en-US" sz="2000" b="1" dirty="0">
                <a:solidFill>
                  <a:schemeClr val="accent5"/>
                </a:solidFill>
                <a:latin typeface="+mj-lt" pitchFamily="34" charset="0"/>
                <a:ea typeface="+mj-lt" pitchFamily="34" charset="-122"/>
                <a:cs typeface="+mj-lt" pitchFamily="34" charset="-120"/>
              </a:rPr>
              <a:t>0.31</a:t>
            </a:r>
            <a:endParaRPr lang="en-US" sz="2000" dirty="0"/>
          </a:p>
        </p:txBody>
      </p:sp>
      <p:sp>
        <p:nvSpPr>
          <p:cNvPr id="12" name="Card 7"/>
          <p:cNvSpPr/>
          <p:nvPr/>
        </p:nvSpPr>
        <p:spPr>
          <a:xfrm>
            <a:off x="7726680" y="2971800"/>
            <a:ext cx="3913632" cy="804672"/>
          </a:xfrm>
          <a:prstGeom prst="roundRect">
            <a:avLst>
              <a:gd name="adj" fmla="val 9091"/>
            </a:avLst>
          </a:prstGeom>
          <a:solidFill>
            <a:schemeClr val="bg1">
              <a:alpha val="12000"/>
            </a:schemeClr>
          </a:solidFill>
          <a:ln/>
        </p:spPr>
      </p:sp>
      <p:sp>
        <p:nvSpPr>
          <p:cNvPr id="13" name="Step 8"/>
          <p:cNvSpPr txBox="1"/>
          <p:nvPr/>
        </p:nvSpPr>
        <p:spPr>
          <a:xfrm>
            <a:off x="7927848" y="3163824"/>
            <a:ext cx="420624" cy="42062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4" name="Text 9"/>
          <p:cNvSpPr txBox="1"/>
          <p:nvPr/>
        </p:nvSpPr>
        <p:spPr>
          <a:xfrm>
            <a:off x="8513064" y="3099816"/>
            <a:ext cx="2331720" cy="310896"/>
          </a:xfrm>
          <a:prstGeom prst="rect">
            <a:avLst/>
          </a:prstGeom>
          <a:noFill/>
          <a:ln/>
        </p:spPr>
        <p:txBody>
          <a:bodyPr wrap="square" lIns="0" tIns="0" rIns="0" bIns="0" rtlCol="0" anchor="t"/>
          <a:lstStyle/>
          <a:p>
            <a:pPr indent="0" marL="0">
              <a:buNone/>
            </a:pPr>
            <a:r>
              <a:rPr lang="en-US" sz="1600" b="1" dirty="0">
                <a:solidFill>
                  <a:schemeClr val="bg1"/>
                </a:solidFill>
              </a:rPr>
              <a:t>R50 airtime + 10% bonus</a:t>
            </a:r>
            <a:endParaRPr lang="en-US" sz="1600" dirty="0"/>
          </a:p>
        </p:txBody>
      </p:sp>
      <p:sp>
        <p:nvSpPr>
          <p:cNvPr id="15" name="Text 10"/>
          <p:cNvSpPr txBox="1"/>
          <p:nvPr/>
        </p:nvSpPr>
        <p:spPr>
          <a:xfrm>
            <a:off x="8513064" y="3429000"/>
            <a:ext cx="2331720" cy="237744"/>
          </a:xfrm>
          <a:prstGeom prst="rect">
            <a:avLst/>
          </a:prstGeom>
          <a:noFill/>
          <a:ln/>
        </p:spPr>
        <p:txBody>
          <a:bodyPr wrap="square" lIns="0" tIns="0" rIns="0" bIns="0" rtlCol="0" anchor="t"/>
          <a:lstStyle/>
          <a:p>
            <a:pPr indent="0" marL="0">
              <a:buNone/>
            </a:pPr>
            <a:r>
              <a:rPr lang="en-US" sz="1200" dirty="0">
                <a:solidFill>
                  <a:schemeClr val="bg2"/>
                </a:solidFill>
              </a:rPr>
              <a:t>airtime  ·  R50</a:t>
            </a:r>
            <a:endParaRPr lang="en-US" sz="1200" dirty="0"/>
          </a:p>
        </p:txBody>
      </p:sp>
      <p:sp>
        <p:nvSpPr>
          <p:cNvPr id="16" name="Text 11"/>
          <p:cNvSpPr txBox="1"/>
          <p:nvPr/>
        </p:nvSpPr>
        <p:spPr>
          <a:xfrm>
            <a:off x="10789920" y="3191256"/>
            <a:ext cx="685800" cy="365760"/>
          </a:xfrm>
          <a:prstGeom prst="rect">
            <a:avLst/>
          </a:prstGeom>
          <a:noFill/>
          <a:ln/>
        </p:spPr>
        <p:txBody>
          <a:bodyPr wrap="square" lIns="0" tIns="0" rIns="0" bIns="0" rtlCol="0" anchor="t"/>
          <a:lstStyle/>
          <a:p>
            <a:pPr algn="r" indent="0" marL="0">
              <a:buNone/>
            </a:pPr>
            <a:r>
              <a:rPr lang="en-US" sz="2000" b="1" dirty="0">
                <a:solidFill>
                  <a:schemeClr val="accent5"/>
                </a:solidFill>
                <a:latin typeface="+mj-lt" pitchFamily="34" charset="0"/>
                <a:ea typeface="+mj-lt" pitchFamily="34" charset="-122"/>
                <a:cs typeface="+mj-lt" pitchFamily="34" charset="-120"/>
              </a:rPr>
              <a:t>0.25</a:t>
            </a:r>
            <a:endParaRPr lang="en-US" sz="2000" dirty="0"/>
          </a:p>
        </p:txBody>
      </p:sp>
      <p:sp>
        <p:nvSpPr>
          <p:cNvPr id="17" name="Card 12"/>
          <p:cNvSpPr/>
          <p:nvPr/>
        </p:nvSpPr>
        <p:spPr>
          <a:xfrm>
            <a:off x="7726680" y="3931920"/>
            <a:ext cx="3913632" cy="804672"/>
          </a:xfrm>
          <a:prstGeom prst="roundRect">
            <a:avLst>
              <a:gd name="adj" fmla="val 9091"/>
            </a:avLst>
          </a:prstGeom>
          <a:solidFill>
            <a:schemeClr val="bg1">
              <a:alpha val="12000"/>
            </a:schemeClr>
          </a:solidFill>
          <a:ln/>
        </p:spPr>
      </p:sp>
      <p:sp>
        <p:nvSpPr>
          <p:cNvPr id="18" name="Step 13"/>
          <p:cNvSpPr txBox="1"/>
          <p:nvPr/>
        </p:nvSpPr>
        <p:spPr>
          <a:xfrm>
            <a:off x="7927848" y="4123944"/>
            <a:ext cx="420624" cy="42062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9" name="Text 14"/>
          <p:cNvSpPr txBox="1"/>
          <p:nvPr/>
        </p:nvSpPr>
        <p:spPr>
          <a:xfrm>
            <a:off x="8513064" y="4059936"/>
            <a:ext cx="2331720" cy="310896"/>
          </a:xfrm>
          <a:prstGeom prst="rect">
            <a:avLst/>
          </a:prstGeom>
          <a:noFill/>
          <a:ln/>
        </p:spPr>
        <p:txBody>
          <a:bodyPr wrap="square" lIns="0" tIns="0" rIns="0" bIns="0" rtlCol="0" anchor="t"/>
          <a:lstStyle/>
          <a:p>
            <a:pPr indent="0" marL="0">
              <a:buNone/>
            </a:pPr>
            <a:r>
              <a:rPr lang="en-US" sz="1600" b="1" dirty="0">
                <a:solidFill>
                  <a:schemeClr val="bg1"/>
                </a:solidFill>
              </a:rPr>
              <a:t>20GB data bundle</a:t>
            </a:r>
            <a:endParaRPr lang="en-US" sz="1600" dirty="0"/>
          </a:p>
        </p:txBody>
      </p:sp>
      <p:sp>
        <p:nvSpPr>
          <p:cNvPr id="20" name="Text 15"/>
          <p:cNvSpPr txBox="1"/>
          <p:nvPr/>
        </p:nvSpPr>
        <p:spPr>
          <a:xfrm>
            <a:off x="8513064" y="4389120"/>
            <a:ext cx="2331720" cy="237744"/>
          </a:xfrm>
          <a:prstGeom prst="rect">
            <a:avLst/>
          </a:prstGeom>
          <a:noFill/>
          <a:ln/>
        </p:spPr>
        <p:txBody>
          <a:bodyPr wrap="square" lIns="0" tIns="0" rIns="0" bIns="0" rtlCol="0" anchor="t"/>
          <a:lstStyle/>
          <a:p>
            <a:pPr indent="0" marL="0">
              <a:buNone/>
            </a:pPr>
            <a:r>
              <a:rPr lang="en-US" sz="1200" dirty="0">
                <a:solidFill>
                  <a:schemeClr val="bg2"/>
                </a:solidFill>
              </a:rPr>
              <a:t>data  ·  R449</a:t>
            </a:r>
            <a:endParaRPr lang="en-US" sz="1200" dirty="0"/>
          </a:p>
        </p:txBody>
      </p:sp>
      <p:sp>
        <p:nvSpPr>
          <p:cNvPr id="21" name="Text 16"/>
          <p:cNvSpPr txBox="1"/>
          <p:nvPr/>
        </p:nvSpPr>
        <p:spPr>
          <a:xfrm>
            <a:off x="10789920" y="4151376"/>
            <a:ext cx="685800" cy="365760"/>
          </a:xfrm>
          <a:prstGeom prst="rect">
            <a:avLst/>
          </a:prstGeom>
          <a:noFill/>
          <a:ln/>
        </p:spPr>
        <p:txBody>
          <a:bodyPr wrap="square" lIns="0" tIns="0" rIns="0" bIns="0" rtlCol="0" anchor="t"/>
          <a:lstStyle/>
          <a:p>
            <a:pPr algn="r" indent="0" marL="0">
              <a:buNone/>
            </a:pPr>
            <a:r>
              <a:rPr lang="en-US" sz="2000" b="1" dirty="0">
                <a:solidFill>
                  <a:schemeClr val="accent5"/>
                </a:solidFill>
                <a:latin typeface="+mj-lt" pitchFamily="34" charset="0"/>
                <a:ea typeface="+mj-lt" pitchFamily="34" charset="-122"/>
                <a:cs typeface="+mj-lt" pitchFamily="34" charset="-120"/>
              </a:rPr>
              <a:t>0.19</a:t>
            </a:r>
            <a:endParaRPr lang="en-US" sz="2000" dirty="0"/>
          </a:p>
        </p:txBody>
      </p:sp>
      <p:sp>
        <p:nvSpPr>
          <p:cNvPr id="22" name="Text 17"/>
          <p:cNvSpPr txBox="1"/>
          <p:nvPr/>
        </p:nvSpPr>
        <p:spPr>
          <a:xfrm>
            <a:off x="7726680" y="4937760"/>
            <a:ext cx="3913632" cy="548640"/>
          </a:xfrm>
          <a:prstGeom prst="rect">
            <a:avLst/>
          </a:prstGeom>
          <a:noFill/>
          <a:ln/>
        </p:spPr>
        <p:txBody>
          <a:bodyPr wrap="square" lIns="0" tIns="0" rIns="0" bIns="0" rtlCol="0" anchor="t"/>
          <a:lstStyle/>
          <a:p>
            <a:pPr indent="0" marL="0">
              <a:buNone/>
            </a:pPr>
            <a:r>
              <a:rPr lang="en-US" sz="1200" i="1" dirty="0">
                <a:solidFill>
                  <a:schemeClr val="bg2"/>
                </a:solidFill>
              </a:rPr>
              <a:t>Ranked by one draw from each offer's belief. A take-up updates that belief before the next customer arrives.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ABOUT ME</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Why a data engineer built a recommender</a:t>
            </a:r>
            <a:endParaRPr lang="en-US" sz="3600" dirty="0"/>
          </a:p>
        </p:txBody>
      </p:sp>
      <p:sp>
        <p:nvSpPr>
          <p:cNvPr id="4" name="Card 18"/>
          <p:cNvSpPr/>
          <p:nvPr/>
        </p:nvSpPr>
        <p:spPr>
          <a:xfrm>
            <a:off x="548640" y="1691640"/>
            <a:ext cx="4023360" cy="4343400"/>
          </a:xfrm>
          <a:prstGeom prst="roundRect">
            <a:avLst>
              <a:gd name="adj" fmla="val 1818"/>
            </a:avLst>
          </a:prstGeom>
          <a:solidFill>
            <a:schemeClr val="tx1"/>
          </a:solidFill>
          <a:ln/>
        </p:spPr>
      </p:sp>
      <p:sp>
        <p:nvSpPr>
          <p:cNvPr id="5" name="Text 19"/>
          <p:cNvSpPr txBox="1"/>
          <p:nvPr/>
        </p:nvSpPr>
        <p:spPr>
          <a:xfrm>
            <a:off x="914400" y="2011680"/>
            <a:ext cx="3291840" cy="548640"/>
          </a:xfrm>
          <a:prstGeom prst="rect">
            <a:avLst/>
          </a:prstGeom>
          <a:noFill/>
          <a:ln/>
        </p:spPr>
        <p:txBody>
          <a:bodyPr wrap="square" lIns="0" tIns="0" rIns="0" bIns="0" rtlCol="0" anchor="t"/>
          <a:lstStyle/>
          <a:p>
            <a:pPr indent="0" marL="0">
              <a:buNone/>
            </a:pPr>
            <a:r>
              <a:rPr lang="en-US" sz="3000" b="1" dirty="0">
                <a:solidFill>
                  <a:schemeClr val="bg1"/>
                </a:solidFill>
                <a:latin typeface="+mj-lt" pitchFamily="34" charset="0"/>
                <a:ea typeface="+mj-lt" pitchFamily="34" charset="-122"/>
                <a:cs typeface="+mj-lt" pitchFamily="34" charset="-120"/>
              </a:rPr>
              <a:t>Sean Mukariri</a:t>
            </a:r>
            <a:endParaRPr lang="en-US" sz="3000" dirty="0"/>
          </a:p>
        </p:txBody>
      </p:sp>
      <p:sp>
        <p:nvSpPr>
          <p:cNvPr id="6" name="Text 20"/>
          <p:cNvSpPr txBox="1"/>
          <p:nvPr/>
        </p:nvSpPr>
        <p:spPr>
          <a:xfrm>
            <a:off x="914400" y="2606040"/>
            <a:ext cx="3291840" cy="365760"/>
          </a:xfrm>
          <a:prstGeom prst="rect">
            <a:avLst/>
          </a:prstGeom>
          <a:noFill/>
          <a:ln/>
        </p:spPr>
        <p:txBody>
          <a:bodyPr wrap="square" lIns="0" tIns="0" rIns="0" bIns="0" rtlCol="0" anchor="t"/>
          <a:lstStyle/>
          <a:p>
            <a:pPr indent="0" marL="0">
              <a:buNone/>
            </a:pPr>
            <a:r>
              <a:rPr lang="en-US" sz="1800" b="1" dirty="0">
                <a:solidFill>
                  <a:schemeClr val="accent5"/>
                </a:solidFill>
              </a:rPr>
              <a:t>Data Engineer</a:t>
            </a:r>
            <a:endParaRPr lang="en-US" sz="1800" dirty="0"/>
          </a:p>
        </p:txBody>
      </p:sp>
      <p:sp>
        <p:nvSpPr>
          <p:cNvPr id="7" name="Text 21"/>
          <p:cNvSpPr txBox="1"/>
          <p:nvPr/>
        </p:nvSpPr>
        <p:spPr>
          <a:xfrm>
            <a:off x="914400" y="3337560"/>
            <a:ext cx="3291840" cy="274320"/>
          </a:xfrm>
          <a:prstGeom prst="rect">
            <a:avLst/>
          </a:prstGeom>
          <a:noFill/>
          <a:ln/>
        </p:spPr>
        <p:txBody>
          <a:bodyPr wrap="square" lIns="0" tIns="0" rIns="0" bIns="0" rtlCol="0" anchor="t"/>
          <a:lstStyle/>
          <a:p>
            <a:pPr indent="0" marL="0">
              <a:buNone/>
            </a:pPr>
            <a:r>
              <a:rPr lang="en-US" sz="1200" b="1" spc="100" kern="0" dirty="0">
                <a:solidFill>
                  <a:schemeClr val="bg2"/>
                </a:solidFill>
              </a:rPr>
              <a:t>What I work with</a:t>
            </a:r>
            <a:endParaRPr lang="en-US" sz="1200" dirty="0"/>
          </a:p>
        </p:txBody>
      </p:sp>
      <p:sp>
        <p:nvSpPr>
          <p:cNvPr id="8" name="Chip 22"/>
          <p:cNvSpPr txBox="1"/>
          <p:nvPr/>
        </p:nvSpPr>
        <p:spPr>
          <a:xfrm>
            <a:off x="914400" y="3749040"/>
            <a:ext cx="987552" cy="402336"/>
          </a:xfrm>
          <a:prstGeom prst="roundRect">
            <a:avLst>
              <a:gd name="adj" fmla="val 45455"/>
            </a:avLst>
          </a:prstGeom>
          <a:solidFill>
            <a:schemeClr val="tx1"/>
          </a:solidFill>
          <a:ln w="15875">
            <a:solidFill>
              <a:schemeClr val="accent5"/>
            </a:solidFill>
          </a:ln>
        </p:spPr>
        <p:txBody>
          <a:bodyPr wrap="square" lIns="0" tIns="0" rIns="0" bIns="0" rtlCol="0" anchor="ctr"/>
          <a:lstStyle/>
          <a:p>
            <a:pPr algn="ctr" indent="0" marL="0">
              <a:buNone/>
            </a:pPr>
            <a:r>
              <a:rPr lang="en-US" sz="1300" b="1" dirty="0">
                <a:solidFill>
                  <a:schemeClr val="bg1"/>
                </a:solidFill>
              </a:rPr>
              <a:t>Python</a:t>
            </a:r>
            <a:endParaRPr lang="en-US" sz="1300" dirty="0"/>
          </a:p>
        </p:txBody>
      </p:sp>
      <p:sp>
        <p:nvSpPr>
          <p:cNvPr id="9" name="Chip 23"/>
          <p:cNvSpPr txBox="1"/>
          <p:nvPr/>
        </p:nvSpPr>
        <p:spPr>
          <a:xfrm>
            <a:off x="2029968" y="3749040"/>
            <a:ext cx="987552" cy="402336"/>
          </a:xfrm>
          <a:prstGeom prst="roundRect">
            <a:avLst>
              <a:gd name="adj" fmla="val 45455"/>
            </a:avLst>
          </a:prstGeom>
          <a:solidFill>
            <a:schemeClr val="tx1"/>
          </a:solidFill>
          <a:ln w="15875">
            <a:solidFill>
              <a:schemeClr val="accent5"/>
            </a:solidFill>
          </a:ln>
        </p:spPr>
        <p:txBody>
          <a:bodyPr wrap="square" lIns="0" tIns="0" rIns="0" bIns="0" rtlCol="0" anchor="ctr"/>
          <a:lstStyle/>
          <a:p>
            <a:pPr algn="ctr" indent="0" marL="0">
              <a:buNone/>
            </a:pPr>
            <a:r>
              <a:rPr lang="en-US" sz="1300" b="1" dirty="0">
                <a:solidFill>
                  <a:schemeClr val="bg1"/>
                </a:solidFill>
              </a:rPr>
              <a:t>SQL</a:t>
            </a:r>
            <a:endParaRPr lang="en-US" sz="1300" dirty="0"/>
          </a:p>
        </p:txBody>
      </p:sp>
      <p:sp>
        <p:nvSpPr>
          <p:cNvPr id="10" name="Chip 24"/>
          <p:cNvSpPr txBox="1"/>
          <p:nvPr/>
        </p:nvSpPr>
        <p:spPr>
          <a:xfrm>
            <a:off x="3145536" y="3749040"/>
            <a:ext cx="987552" cy="402336"/>
          </a:xfrm>
          <a:prstGeom prst="roundRect">
            <a:avLst>
              <a:gd name="adj" fmla="val 45455"/>
            </a:avLst>
          </a:prstGeom>
          <a:solidFill>
            <a:schemeClr val="tx1"/>
          </a:solidFill>
          <a:ln w="15875">
            <a:solidFill>
              <a:schemeClr val="accent5"/>
            </a:solidFill>
          </a:ln>
        </p:spPr>
        <p:txBody>
          <a:bodyPr wrap="square" lIns="0" tIns="0" rIns="0" bIns="0" rtlCol="0" anchor="ctr"/>
          <a:lstStyle/>
          <a:p>
            <a:pPr algn="ctr" indent="0" marL="0">
              <a:buNone/>
            </a:pPr>
            <a:r>
              <a:rPr lang="en-US" sz="1300" b="1" dirty="0">
                <a:solidFill>
                  <a:schemeClr val="bg1"/>
                </a:solidFill>
              </a:rPr>
              <a:t>Spark</a:t>
            </a:r>
            <a:endParaRPr lang="en-US" sz="1300" dirty="0"/>
          </a:p>
        </p:txBody>
      </p:sp>
      <p:sp>
        <p:nvSpPr>
          <p:cNvPr id="11" name="Chip 25"/>
          <p:cNvSpPr txBox="1"/>
          <p:nvPr/>
        </p:nvSpPr>
        <p:spPr>
          <a:xfrm>
            <a:off x="914400" y="4315968"/>
            <a:ext cx="987552" cy="402336"/>
          </a:xfrm>
          <a:prstGeom prst="roundRect">
            <a:avLst>
              <a:gd name="adj" fmla="val 45455"/>
            </a:avLst>
          </a:prstGeom>
          <a:solidFill>
            <a:schemeClr val="tx1"/>
          </a:solidFill>
          <a:ln w="15875">
            <a:solidFill>
              <a:schemeClr val="accent5"/>
            </a:solidFill>
          </a:ln>
        </p:spPr>
        <p:txBody>
          <a:bodyPr wrap="square" lIns="0" tIns="0" rIns="0" bIns="0" rtlCol="0" anchor="ctr"/>
          <a:lstStyle/>
          <a:p>
            <a:pPr algn="ctr" indent="0" marL="0">
              <a:buNone/>
            </a:pPr>
            <a:r>
              <a:rPr lang="en-US" sz="1300" b="1" dirty="0">
                <a:solidFill>
                  <a:schemeClr val="bg1"/>
                </a:solidFill>
              </a:rPr>
              <a:t>Airflow</a:t>
            </a:r>
            <a:endParaRPr lang="en-US" sz="1300" dirty="0"/>
          </a:p>
        </p:txBody>
      </p:sp>
      <p:sp>
        <p:nvSpPr>
          <p:cNvPr id="12" name="Chip 26"/>
          <p:cNvSpPr txBox="1"/>
          <p:nvPr/>
        </p:nvSpPr>
        <p:spPr>
          <a:xfrm>
            <a:off x="2029968" y="4315968"/>
            <a:ext cx="987552" cy="402336"/>
          </a:xfrm>
          <a:prstGeom prst="roundRect">
            <a:avLst>
              <a:gd name="adj" fmla="val 45455"/>
            </a:avLst>
          </a:prstGeom>
          <a:solidFill>
            <a:schemeClr val="tx1"/>
          </a:solidFill>
          <a:ln w="15875">
            <a:solidFill>
              <a:schemeClr val="accent5"/>
            </a:solidFill>
          </a:ln>
        </p:spPr>
        <p:txBody>
          <a:bodyPr wrap="square" lIns="0" tIns="0" rIns="0" bIns="0" rtlCol="0" anchor="ctr"/>
          <a:lstStyle/>
          <a:p>
            <a:pPr algn="ctr" indent="0" marL="0">
              <a:buNone/>
            </a:pPr>
            <a:r>
              <a:rPr lang="en-US" sz="1300" b="1" dirty="0">
                <a:solidFill>
                  <a:schemeClr val="bg1"/>
                </a:solidFill>
              </a:rPr>
              <a:t>AWS</a:t>
            </a:r>
            <a:endParaRPr lang="en-US" sz="1300" dirty="0"/>
          </a:p>
        </p:txBody>
      </p:sp>
      <p:sp>
        <p:nvSpPr>
          <p:cNvPr id="13" name="Chip 27"/>
          <p:cNvSpPr txBox="1"/>
          <p:nvPr/>
        </p:nvSpPr>
        <p:spPr>
          <a:xfrm>
            <a:off x="3145536" y="4315968"/>
            <a:ext cx="987552" cy="402336"/>
          </a:xfrm>
          <a:prstGeom prst="roundRect">
            <a:avLst>
              <a:gd name="adj" fmla="val 45455"/>
            </a:avLst>
          </a:prstGeom>
          <a:solidFill>
            <a:schemeClr val="tx1"/>
          </a:solidFill>
          <a:ln w="15875">
            <a:solidFill>
              <a:schemeClr val="accent5"/>
            </a:solidFill>
          </a:ln>
        </p:spPr>
        <p:txBody>
          <a:bodyPr wrap="square" lIns="0" tIns="0" rIns="0" bIns="0" rtlCol="0" anchor="ctr"/>
          <a:lstStyle/>
          <a:p>
            <a:pPr algn="ctr" indent="0" marL="0">
              <a:buNone/>
            </a:pPr>
            <a:r>
              <a:rPr lang="en-US" sz="1300" b="1" dirty="0">
                <a:solidFill>
                  <a:schemeClr val="bg1"/>
                </a:solidFill>
              </a:rPr>
              <a:t>GCP</a:t>
            </a:r>
            <a:endParaRPr lang="en-US" sz="1300" dirty="0"/>
          </a:p>
        </p:txBody>
      </p:sp>
      <p:sp>
        <p:nvSpPr>
          <p:cNvPr id="14" name="Text 28"/>
          <p:cNvSpPr txBox="1"/>
          <p:nvPr/>
        </p:nvSpPr>
        <p:spPr>
          <a:xfrm>
            <a:off x="914400" y="5029200"/>
            <a:ext cx="3291840" cy="822960"/>
          </a:xfrm>
          <a:prstGeom prst="rect">
            <a:avLst/>
          </a:prstGeom>
          <a:noFill/>
          <a:ln/>
        </p:spPr>
        <p:txBody>
          <a:bodyPr wrap="square" lIns="0" tIns="0" rIns="0" bIns="0" rtlCol="0" anchor="t"/>
          <a:lstStyle/>
          <a:p>
            <a:pPr indent="0" marL="0">
              <a:buNone/>
            </a:pPr>
            <a:r>
              <a:rPr lang="en-US" sz="1300" i="1" dirty="0">
                <a:solidFill>
                  <a:schemeClr val="bg2"/>
                </a:solidFill>
              </a:rPr>
              <a:t>This project: the API, the bandits, the event log, a simulated market, a dashboard and the docs, end to end.</a:t>
            </a:r>
            <a:endParaRPr lang="en-US" sz="1300" dirty="0"/>
          </a:p>
        </p:txBody>
      </p:sp>
      <p:sp>
        <p:nvSpPr>
          <p:cNvPr id="15" name="Step 29"/>
          <p:cNvSpPr txBox="1"/>
          <p:nvPr/>
        </p:nvSpPr>
        <p:spPr>
          <a:xfrm>
            <a:off x="5074920" y="1783080"/>
            <a:ext cx="438912" cy="43891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30"/>
          <p:cNvSpPr txBox="1"/>
          <p:nvPr/>
        </p:nvSpPr>
        <p:spPr>
          <a:xfrm>
            <a:off x="5733288" y="1819656"/>
            <a:ext cx="5907024" cy="365760"/>
          </a:xfrm>
          <a:prstGeom prst="rect">
            <a:avLst/>
          </a:prstGeom>
          <a:noFill/>
          <a:ln/>
        </p:spPr>
        <p:txBody>
          <a:bodyPr wrap="square" lIns="0" tIns="0" rIns="0" bIns="0" rtlCol="0" anchor="t"/>
          <a:lstStyle/>
          <a:p>
            <a:pPr indent="0" marL="0">
              <a:buNone/>
            </a:pPr>
            <a:r>
              <a:rPr lang="en-US" sz="1800" b="1" dirty="0">
                <a:solidFill>
                  <a:schemeClr val="tx1"/>
                </a:solidFill>
              </a:rPr>
              <a:t>The idea, from the other side</a:t>
            </a:r>
            <a:endParaRPr lang="en-US" sz="1800" dirty="0"/>
          </a:p>
        </p:txBody>
      </p:sp>
      <p:sp>
        <p:nvSpPr>
          <p:cNvPr id="17" name="Text 31"/>
          <p:cNvSpPr txBox="1"/>
          <p:nvPr/>
        </p:nvSpPr>
        <p:spPr>
          <a:xfrm>
            <a:off x="5733288" y="2240280"/>
            <a:ext cx="5907024" cy="822960"/>
          </a:xfrm>
          <a:prstGeom prst="rect">
            <a:avLst/>
          </a:prstGeom>
          <a:noFill/>
          <a:ln/>
        </p:spPr>
        <p:txBody>
          <a:bodyPr wrap="square" lIns="0" tIns="0" rIns="0" bIns="0" rtlCol="0" anchor="t"/>
          <a:lstStyle/>
          <a:p>
            <a:pPr indent="0" marL="0">
              <a:buNone/>
            </a:pPr>
            <a:r>
              <a:rPr lang="en-US" sz="1500" dirty="0">
                <a:solidFill>
                  <a:schemeClr val="tx2"/>
                </a:solidFill>
              </a:rPr>
              <a:t>Spark and Airflow run in batches. Your platform learns “in the moment, not in batches”, so I built one to understand that from the inside.</a:t>
            </a:r>
            <a:endParaRPr lang="en-US" sz="1500" dirty="0"/>
          </a:p>
        </p:txBody>
      </p:sp>
      <p:sp>
        <p:nvSpPr>
          <p:cNvPr id="18" name="Step 32"/>
          <p:cNvSpPr txBox="1"/>
          <p:nvPr/>
        </p:nvSpPr>
        <p:spPr>
          <a:xfrm>
            <a:off x="5074920" y="3200400"/>
            <a:ext cx="438912" cy="43891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9" name="Text 33"/>
          <p:cNvSpPr txBox="1"/>
          <p:nvPr/>
        </p:nvSpPr>
        <p:spPr>
          <a:xfrm>
            <a:off x="5733288" y="3236976"/>
            <a:ext cx="5907024" cy="365760"/>
          </a:xfrm>
          <a:prstGeom prst="rect">
            <a:avLst/>
          </a:prstGeom>
          <a:noFill/>
          <a:ln/>
        </p:spPr>
        <p:txBody>
          <a:bodyPr wrap="square" lIns="0" tIns="0" rIns="0" bIns="0" rtlCol="0" anchor="t"/>
          <a:lstStyle/>
          <a:p>
            <a:pPr indent="0" marL="0">
              <a:buNone/>
            </a:pPr>
            <a:r>
              <a:rPr lang="en-US" sz="1800" b="1" dirty="0">
                <a:solidFill>
                  <a:schemeClr val="tx1"/>
                </a:solidFill>
              </a:rPr>
              <a:t>Production-minded, end to end</a:t>
            </a:r>
            <a:endParaRPr lang="en-US" sz="1800" dirty="0"/>
          </a:p>
        </p:txBody>
      </p:sp>
      <p:sp>
        <p:nvSpPr>
          <p:cNvPr id="20" name="Text 34"/>
          <p:cNvSpPr txBox="1"/>
          <p:nvPr/>
        </p:nvSpPr>
        <p:spPr>
          <a:xfrm>
            <a:off x="5733288" y="3657600"/>
            <a:ext cx="5907024" cy="822960"/>
          </a:xfrm>
          <a:prstGeom prst="rect">
            <a:avLst/>
          </a:prstGeom>
          <a:noFill/>
          <a:ln/>
        </p:spPr>
        <p:txBody>
          <a:bodyPr wrap="square" lIns="0" tIns="0" rIns="0" bIns="0" rtlCol="0" anchor="t"/>
          <a:lstStyle/>
          <a:p>
            <a:pPr indent="0" marL="0">
              <a:buNone/>
            </a:pPr>
            <a:r>
              <a:rPr lang="en-US" sz="1500" dirty="0">
                <a:solidFill>
                  <a:schemeClr val="tx2"/>
                </a:solidFill>
              </a:rPr>
              <a:t>Idempotent writes, atomic learning and measured latency, in one system that starts with one command.</a:t>
            </a:r>
            <a:endParaRPr lang="en-US" sz="1500" dirty="0"/>
          </a:p>
        </p:txBody>
      </p:sp>
      <p:sp>
        <p:nvSpPr>
          <p:cNvPr id="21" name="Step 35"/>
          <p:cNvSpPr txBox="1"/>
          <p:nvPr/>
        </p:nvSpPr>
        <p:spPr>
          <a:xfrm>
            <a:off x="5074920" y="4617720"/>
            <a:ext cx="438912" cy="43891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2" name="Text 36"/>
          <p:cNvSpPr txBox="1"/>
          <p:nvPr/>
        </p:nvSpPr>
        <p:spPr>
          <a:xfrm>
            <a:off x="5733288" y="4654296"/>
            <a:ext cx="5907024" cy="365760"/>
          </a:xfrm>
          <a:prstGeom prst="rect">
            <a:avLst/>
          </a:prstGeom>
          <a:noFill/>
          <a:ln/>
        </p:spPr>
        <p:txBody>
          <a:bodyPr wrap="square" lIns="0" tIns="0" rIns="0" bIns="0" rtlCol="0" anchor="t"/>
          <a:lstStyle/>
          <a:p>
            <a:pPr indent="0" marL="0">
              <a:buNone/>
            </a:pPr>
            <a:r>
              <a:rPr lang="en-US" sz="1800" b="1" dirty="0">
                <a:solidFill>
                  <a:schemeClr val="tx1"/>
                </a:solidFill>
              </a:rPr>
              <a:t>Every judgement call on record</a:t>
            </a:r>
            <a:endParaRPr lang="en-US" sz="1800" dirty="0"/>
          </a:p>
        </p:txBody>
      </p:sp>
      <p:sp>
        <p:nvSpPr>
          <p:cNvPr id="23" name="Text 37"/>
          <p:cNvSpPr txBox="1"/>
          <p:nvPr/>
        </p:nvSpPr>
        <p:spPr>
          <a:xfrm>
            <a:off x="5733288" y="5074920"/>
            <a:ext cx="5907024" cy="822960"/>
          </a:xfrm>
          <a:prstGeom prst="rect">
            <a:avLst/>
          </a:prstGeom>
          <a:noFill/>
          <a:ln/>
        </p:spPr>
        <p:txBody>
          <a:bodyPr wrap="square" lIns="0" tIns="0" rIns="0" bIns="0" rtlCol="0" anchor="t"/>
          <a:lstStyle/>
          <a:p>
            <a:pPr indent="0" marL="0">
              <a:buNone/>
            </a:pPr>
            <a:r>
              <a:rPr lang="en-US" sz="1500" dirty="0">
                <a:solidFill>
                  <a:schemeClr val="tx2"/>
                </a:solidFill>
              </a:rPr>
              <a:t>98 decisions written down with their reasons, and every phase tested before the next one began.</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THE ANSWER UP FRONT</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It beats a fixed ranking in every run</a:t>
            </a:r>
            <a:endParaRPr lang="en-US" sz="3600" dirty="0"/>
          </a:p>
        </p:txBody>
      </p:sp>
      <p:sp>
        <p:nvSpPr>
          <p:cNvPr id="4" name="Text 38"/>
          <p:cNvSpPr txBox="1"/>
          <p:nvPr/>
        </p:nvSpPr>
        <p:spPr>
          <a:xfrm>
            <a:off x="548640" y="1572768"/>
            <a:ext cx="10241280" cy="594360"/>
          </a:xfrm>
          <a:prstGeom prst="rect">
            <a:avLst/>
          </a:prstGeom>
          <a:noFill/>
          <a:ln/>
        </p:spPr>
        <p:txBody>
          <a:bodyPr wrap="square" lIns="0" tIns="0" rIns="0" bIns="0" rtlCol="0" anchor="t"/>
          <a:lstStyle/>
          <a:p>
            <a:pPr indent="0" marL="0">
              <a:buNone/>
            </a:pPr>
            <a:r>
              <a:rPr lang="en-US" sz="1600" dirty="0">
                <a:solidFill>
                  <a:schemeClr val="tx2"/>
                </a:solidFill>
              </a:rPr>
              <a:t>Thompson sampling with one belief per customer segment, learning from every response inside the API, against the batch model a telco runs today and random offers.</a:t>
            </a:r>
            <a:endParaRPr lang="en-US" sz="1600" dirty="0"/>
          </a:p>
        </p:txBody>
      </p:sp>
      <p:sp>
        <p:nvSpPr>
          <p:cNvPr id="5" name="Card 39"/>
          <p:cNvSpPr/>
          <p:nvPr/>
        </p:nvSpPr>
        <p:spPr>
          <a:xfrm>
            <a:off x="548640" y="2423160"/>
            <a:ext cx="2567864" cy="2514600"/>
          </a:xfrm>
          <a:prstGeom prst="roundRect">
            <a:avLst>
              <a:gd name="adj" fmla="val 2909"/>
            </a:avLst>
          </a:prstGeom>
          <a:solidFill>
            <a:schemeClr val="bg2"/>
          </a:solidFill>
          <a:ln/>
        </p:spPr>
      </p:sp>
      <p:sp>
        <p:nvSpPr>
          <p:cNvPr id="6" name="Text 40"/>
          <p:cNvSpPr txBox="1"/>
          <p:nvPr/>
        </p:nvSpPr>
        <p:spPr>
          <a:xfrm>
            <a:off x="777240" y="2633472"/>
            <a:ext cx="2202104" cy="82296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+53%</a:t>
            </a:r>
            <a:endParaRPr lang="en-US" sz="4000" dirty="0"/>
          </a:p>
        </p:txBody>
      </p:sp>
      <p:sp>
        <p:nvSpPr>
          <p:cNvPr id="7" name="Text 41"/>
          <p:cNvSpPr txBox="1"/>
          <p:nvPr/>
        </p:nvSpPr>
        <p:spPr>
          <a:xfrm>
            <a:off x="777240" y="3566160"/>
            <a:ext cx="2110664" cy="777240"/>
          </a:xfrm>
          <a:prstGeom prst="rect">
            <a:avLst/>
          </a:prstGeom>
          <a:noFill/>
          <a:ln/>
        </p:spPr>
        <p:txBody>
          <a:bodyPr wrap="square" lIns="0" tIns="0" rIns="0" bIns="0" rtlCol="0" anchor="t"/>
          <a:lstStyle/>
          <a:p>
            <a:pPr indent="0" marL="0">
              <a:buNone/>
            </a:pPr>
            <a:r>
              <a:rPr lang="en-US" sz="1500" b="1" dirty="0">
                <a:solidFill>
                  <a:schemeClr val="tx1"/>
                </a:solidFill>
              </a:rPr>
              <a:t>more take-ups per app open than the static batch model</a:t>
            </a:r>
            <a:endParaRPr lang="en-US" sz="1500" dirty="0"/>
          </a:p>
        </p:txBody>
      </p:sp>
      <p:sp>
        <p:nvSpPr>
          <p:cNvPr id="8" name="Text 42"/>
          <p:cNvSpPr txBox="1"/>
          <p:nvPr/>
        </p:nvSpPr>
        <p:spPr>
          <a:xfrm>
            <a:off x="777240" y="4389120"/>
            <a:ext cx="2110664" cy="411480"/>
          </a:xfrm>
          <a:prstGeom prst="rect">
            <a:avLst/>
          </a:prstGeom>
          <a:noFill/>
          <a:ln/>
        </p:spPr>
        <p:txBody>
          <a:bodyPr wrap="square" lIns="0" tIns="0" rIns="0" bIns="0" rtlCol="0" anchor="t"/>
          <a:lstStyle/>
          <a:p>
            <a:pPr indent="0" marL="0">
              <a:buNone/>
            </a:pPr>
            <a:r>
              <a:rPr lang="en-US" sz="1200" dirty="0">
                <a:solidFill>
                  <a:schemeClr val="tx2"/>
                </a:solidFill>
              </a:rPr>
              <a:t>about 91,000 more per million app opens</a:t>
            </a:r>
            <a:endParaRPr lang="en-US" sz="1200" dirty="0"/>
          </a:p>
        </p:txBody>
      </p:sp>
      <p:sp>
        <p:nvSpPr>
          <p:cNvPr id="9" name="Card 43"/>
          <p:cNvSpPr/>
          <p:nvPr/>
        </p:nvSpPr>
        <p:spPr>
          <a:xfrm>
            <a:off x="3390824" y="2423160"/>
            <a:ext cx="2567864" cy="2514600"/>
          </a:xfrm>
          <a:prstGeom prst="roundRect">
            <a:avLst>
              <a:gd name="adj" fmla="val 2909"/>
            </a:avLst>
          </a:prstGeom>
          <a:solidFill>
            <a:schemeClr val="bg2"/>
          </a:solidFill>
          <a:ln/>
        </p:spPr>
      </p:sp>
      <p:sp>
        <p:nvSpPr>
          <p:cNvPr id="10" name="Text 44"/>
          <p:cNvSpPr txBox="1"/>
          <p:nvPr/>
        </p:nvSpPr>
        <p:spPr>
          <a:xfrm>
            <a:off x="3619424" y="2633472"/>
            <a:ext cx="2202104" cy="82296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92.7%</a:t>
            </a:r>
            <a:endParaRPr lang="en-US" sz="4000" dirty="0"/>
          </a:p>
        </p:txBody>
      </p:sp>
      <p:sp>
        <p:nvSpPr>
          <p:cNvPr id="11" name="Text 45"/>
          <p:cNvSpPr txBox="1"/>
          <p:nvPr/>
        </p:nvSpPr>
        <p:spPr>
          <a:xfrm>
            <a:off x="3619424" y="3566160"/>
            <a:ext cx="2110664" cy="777240"/>
          </a:xfrm>
          <a:prstGeom prst="rect">
            <a:avLst/>
          </a:prstGeom>
          <a:noFill/>
          <a:ln/>
        </p:spPr>
        <p:txBody>
          <a:bodyPr wrap="square" lIns="0" tIns="0" rIns="0" bIns="0" rtlCol="0" anchor="t"/>
          <a:lstStyle/>
          <a:p>
            <a:pPr indent="0" marL="0">
              <a:buNone/>
            </a:pPr>
            <a:r>
              <a:rPr lang="en-US" sz="1500" b="1" dirty="0">
                <a:solidFill>
                  <a:schemeClr val="tx1"/>
                </a:solidFill>
              </a:rPr>
              <a:t>of the take-ups an all-knowing oracle would get</a:t>
            </a:r>
            <a:endParaRPr lang="en-US" sz="1500" dirty="0"/>
          </a:p>
        </p:txBody>
      </p:sp>
      <p:sp>
        <p:nvSpPr>
          <p:cNvPr id="12" name="Text 46"/>
          <p:cNvSpPr txBox="1"/>
          <p:nvPr/>
        </p:nvSpPr>
        <p:spPr>
          <a:xfrm>
            <a:off x="3619424" y="4389120"/>
            <a:ext cx="2110664" cy="411480"/>
          </a:xfrm>
          <a:prstGeom prst="rect">
            <a:avLst/>
          </a:prstGeom>
          <a:noFill/>
          <a:ln/>
        </p:spPr>
        <p:txBody>
          <a:bodyPr wrap="square" lIns="0" tIns="0" rIns="0" bIns="0" rtlCol="0" anchor="t"/>
          <a:lstStyle/>
          <a:p>
            <a:pPr indent="0" marL="0">
              <a:buNone/>
            </a:pPr>
            <a:r>
              <a:rPr lang="en-US" sz="1200" dirty="0">
                <a:solidFill>
                  <a:schemeClr val="tx2"/>
                </a:solidFill>
              </a:rPr>
              <a:t>static 60.8%  ·  random 52.6%</a:t>
            </a:r>
            <a:endParaRPr lang="en-US" sz="1200" dirty="0"/>
          </a:p>
        </p:txBody>
      </p:sp>
      <p:sp>
        <p:nvSpPr>
          <p:cNvPr id="13" name="Card 47"/>
          <p:cNvSpPr/>
          <p:nvPr/>
        </p:nvSpPr>
        <p:spPr>
          <a:xfrm>
            <a:off x="6233008" y="2423160"/>
            <a:ext cx="2567864" cy="2514600"/>
          </a:xfrm>
          <a:prstGeom prst="roundRect">
            <a:avLst>
              <a:gd name="adj" fmla="val 2909"/>
            </a:avLst>
          </a:prstGeom>
          <a:solidFill>
            <a:schemeClr val="bg2"/>
          </a:solidFill>
          <a:ln/>
        </p:spPr>
      </p:sp>
      <p:sp>
        <p:nvSpPr>
          <p:cNvPr id="14" name="Text 48"/>
          <p:cNvSpPr txBox="1"/>
          <p:nvPr/>
        </p:nvSpPr>
        <p:spPr>
          <a:xfrm>
            <a:off x="6461608" y="2633472"/>
            <a:ext cx="2202104" cy="82296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10 of 10</a:t>
            </a:r>
            <a:endParaRPr lang="en-US" sz="4000" dirty="0"/>
          </a:p>
        </p:txBody>
      </p:sp>
      <p:sp>
        <p:nvSpPr>
          <p:cNvPr id="15" name="Text 49"/>
          <p:cNvSpPr txBox="1"/>
          <p:nvPr/>
        </p:nvSpPr>
        <p:spPr>
          <a:xfrm>
            <a:off x="6461608" y="3566160"/>
            <a:ext cx="2110664" cy="777240"/>
          </a:xfrm>
          <a:prstGeom prst="rect">
            <a:avLst/>
          </a:prstGeom>
          <a:noFill/>
          <a:ln/>
        </p:spPr>
        <p:txBody>
          <a:bodyPr wrap="square" lIns="0" tIns="0" rIns="0" bIns="0" rtlCol="0" anchor="t"/>
          <a:lstStyle/>
          <a:p>
            <a:pPr indent="0" marL="0">
              <a:buNone/>
            </a:pPr>
            <a:r>
              <a:rPr lang="en-US" sz="1500" b="1" dirty="0">
                <a:solidFill>
                  <a:schemeClr val="tx1"/>
                </a:solidFill>
              </a:rPr>
              <a:t>seeds where it beat both baselines on regret</a:t>
            </a:r>
            <a:endParaRPr lang="en-US" sz="1500" dirty="0"/>
          </a:p>
        </p:txBody>
      </p:sp>
      <p:sp>
        <p:nvSpPr>
          <p:cNvPr id="16" name="Text 50"/>
          <p:cNvSpPr txBox="1"/>
          <p:nvPr/>
        </p:nvSpPr>
        <p:spPr>
          <a:xfrm>
            <a:off x="6461608" y="4389120"/>
            <a:ext cx="2110664" cy="411480"/>
          </a:xfrm>
          <a:prstGeom prst="rect">
            <a:avLst/>
          </a:prstGeom>
          <a:noFill/>
          <a:ln/>
        </p:spPr>
        <p:txBody>
          <a:bodyPr wrap="square" lIns="0" tIns="0" rIns="0" bIns="0" rtlCol="0" anchor="t"/>
          <a:lstStyle/>
          <a:p>
            <a:pPr indent="0" marL="0">
              <a:buNone/>
            </a:pPr>
            <a:r>
              <a:rPr lang="en-US" sz="1200" dirty="0">
                <a:solidFill>
                  <a:schemeClr val="tx2"/>
                </a:solidFill>
              </a:rPr>
              <a:t>and 18 of 18 runs in 6 other worlds</a:t>
            </a:r>
            <a:endParaRPr lang="en-US" sz="1200" dirty="0"/>
          </a:p>
        </p:txBody>
      </p:sp>
      <p:sp>
        <p:nvSpPr>
          <p:cNvPr id="17" name="Card 51"/>
          <p:cNvSpPr/>
          <p:nvPr/>
        </p:nvSpPr>
        <p:spPr>
          <a:xfrm>
            <a:off x="9075191" y="2423160"/>
            <a:ext cx="2567864" cy="2514600"/>
          </a:xfrm>
          <a:prstGeom prst="roundRect">
            <a:avLst>
              <a:gd name="adj" fmla="val 2909"/>
            </a:avLst>
          </a:prstGeom>
          <a:solidFill>
            <a:schemeClr val="tx1"/>
          </a:solidFill>
          <a:ln/>
        </p:spPr>
      </p:sp>
      <p:sp>
        <p:nvSpPr>
          <p:cNvPr id="18" name="Text 52"/>
          <p:cNvSpPr txBox="1"/>
          <p:nvPr/>
        </p:nvSpPr>
        <p:spPr>
          <a:xfrm>
            <a:off x="9303791" y="2633472"/>
            <a:ext cx="2202104" cy="822960"/>
          </a:xfrm>
          <a:prstGeom prst="rect">
            <a:avLst/>
          </a:prstGeom>
          <a:noFill/>
          <a:ln/>
        </p:spPr>
        <p:txBody>
          <a:bodyPr wrap="square" lIns="0" tIns="0" rIns="0" bIns="0" rtlCol="0" anchor="t"/>
          <a:lstStyle/>
          <a:p>
            <a:pPr indent="0" marL="0">
              <a:buNone/>
            </a:pPr>
            <a:r>
              <a:rPr lang="en-US" sz="4000" b="1" dirty="0">
                <a:solidFill>
                  <a:schemeClr val="accent5"/>
                </a:solidFill>
                <a:latin typeface="+mj-lt" pitchFamily="34" charset="0"/>
                <a:ea typeface="+mj-lt" pitchFamily="34" charset="-122"/>
                <a:cs typeface="+mj-lt" pitchFamily="34" charset="-120"/>
              </a:rPr>
              <a:t>R5.3M</a:t>
            </a:r>
            <a:endParaRPr lang="en-US" sz="4000" dirty="0"/>
          </a:p>
        </p:txBody>
      </p:sp>
      <p:sp>
        <p:nvSpPr>
          <p:cNvPr id="19" name="Text 53"/>
          <p:cNvSpPr txBox="1"/>
          <p:nvPr/>
        </p:nvSpPr>
        <p:spPr>
          <a:xfrm>
            <a:off x="9303791" y="3566160"/>
            <a:ext cx="2110664" cy="777240"/>
          </a:xfrm>
          <a:prstGeom prst="rect">
            <a:avLst/>
          </a:prstGeom>
          <a:noFill/>
          <a:ln/>
        </p:spPr>
        <p:txBody>
          <a:bodyPr wrap="square" lIns="0" tIns="0" rIns="0" bIns="0" rtlCol="0" anchor="t"/>
          <a:lstStyle/>
          <a:p>
            <a:pPr indent="0" marL="0">
              <a:buNone/>
            </a:pPr>
            <a:r>
              <a:rPr lang="en-US" sz="1500" b="1" dirty="0">
                <a:solidFill>
                  <a:schemeClr val="bg1"/>
                </a:solidFill>
              </a:rPr>
              <a:t>more revenue per million app opens than the static model</a:t>
            </a:r>
            <a:endParaRPr lang="en-US" sz="1500" dirty="0"/>
          </a:p>
        </p:txBody>
      </p:sp>
      <p:sp>
        <p:nvSpPr>
          <p:cNvPr id="20" name="Text 54"/>
          <p:cNvSpPr txBox="1"/>
          <p:nvPr/>
        </p:nvSpPr>
        <p:spPr>
          <a:xfrm>
            <a:off x="9303791" y="4389120"/>
            <a:ext cx="2110664" cy="411480"/>
          </a:xfrm>
          <a:prstGeom prst="rect">
            <a:avLst/>
          </a:prstGeom>
          <a:noFill/>
          <a:ln/>
        </p:spPr>
        <p:txBody>
          <a:bodyPr wrap="square" lIns="0" tIns="0" rIns="0" bIns="0" rtlCol="0" anchor="t"/>
          <a:lstStyle/>
          <a:p>
            <a:pPr indent="0" marL="0">
              <a:buNone/>
            </a:pPr>
            <a:r>
              <a:rPr lang="en-US" sz="1200" dirty="0">
                <a:solidFill>
                  <a:schemeClr val="bg2"/>
                </a:solidFill>
              </a:rPr>
              <a:t>simulated, with illustrative margins</a:t>
            </a:r>
            <a:endParaRPr lang="en-US" sz="1200" dirty="0"/>
          </a:p>
        </p:txBody>
      </p:sp>
      <p:sp>
        <p:nvSpPr>
          <p:cNvPr id="21" name="Chip 55"/>
          <p:cNvSpPr txBox="1"/>
          <p:nvPr/>
        </p:nvSpPr>
        <p:spPr>
          <a:xfrm>
            <a:off x="548640" y="5303520"/>
            <a:ext cx="2880360" cy="457200"/>
          </a:xfrm>
          <a:prstGeom prst="roundRect">
            <a:avLst>
              <a:gd name="adj" fmla="val 40000"/>
            </a:avLst>
          </a:prstGeom>
          <a:solidFill>
            <a:schemeClr val="bg1"/>
          </a:solidFill>
          <a:ln w="15875">
            <a:solidFill>
              <a:schemeClr val="accent1"/>
            </a:solidFill>
          </a:ln>
        </p:spPr>
        <p:txBody>
          <a:bodyPr wrap="square" lIns="0" tIns="0" rIns="0" bIns="0" rtlCol="0" anchor="ctr"/>
          <a:lstStyle/>
          <a:p>
            <a:pPr algn="ctr" indent="0" marL="0">
              <a:buNone/>
            </a:pPr>
            <a:r>
              <a:rPr lang="en-US" sz="1300" b="1" dirty="0">
                <a:solidFill>
                  <a:schemeClr val="accent1"/>
                </a:solidFill>
              </a:rPr>
              <a:t>Beta belief per segment × offer</a:t>
            </a:r>
            <a:endParaRPr lang="en-US" sz="1300" dirty="0"/>
          </a:p>
        </p:txBody>
      </p:sp>
      <p:sp>
        <p:nvSpPr>
          <p:cNvPr id="22" name="Chip 56"/>
          <p:cNvSpPr txBox="1"/>
          <p:nvPr/>
        </p:nvSpPr>
        <p:spPr>
          <a:xfrm>
            <a:off x="3667658" y="5303520"/>
            <a:ext cx="2103120" cy="457200"/>
          </a:xfrm>
          <a:prstGeom prst="roundRect">
            <a:avLst>
              <a:gd name="adj" fmla="val 40000"/>
            </a:avLst>
          </a:prstGeom>
          <a:solidFill>
            <a:schemeClr val="bg1"/>
          </a:solidFill>
          <a:ln w="15875">
            <a:solidFill>
              <a:schemeClr val="accent1"/>
            </a:solidFill>
          </a:ln>
        </p:spPr>
        <p:txBody>
          <a:bodyPr wrap="square" lIns="0" tIns="0" rIns="0" bIns="0" rtlCol="0" anchor="ctr"/>
          <a:lstStyle/>
          <a:p>
            <a:pPr algn="ctr" indent="0" marL="0">
              <a:buNone/>
            </a:pPr>
            <a:r>
              <a:rPr lang="en-US" sz="1300" b="1" dirty="0">
                <a:solidFill>
                  <a:schemeClr val="accent1"/>
                </a:solidFill>
              </a:rPr>
              <a:t>Forgetting γ = 0.9998</a:t>
            </a:r>
            <a:endParaRPr lang="en-US" sz="1300" dirty="0"/>
          </a:p>
        </p:txBody>
      </p:sp>
      <p:sp>
        <p:nvSpPr>
          <p:cNvPr id="23" name="Chip 57"/>
          <p:cNvSpPr txBox="1"/>
          <p:nvPr/>
        </p:nvSpPr>
        <p:spPr>
          <a:xfrm>
            <a:off x="6009437" y="5303520"/>
            <a:ext cx="2606040" cy="457200"/>
          </a:xfrm>
          <a:prstGeom prst="roundRect">
            <a:avLst>
              <a:gd name="adj" fmla="val 40000"/>
            </a:avLst>
          </a:prstGeom>
          <a:solidFill>
            <a:schemeClr val="bg1"/>
          </a:solidFill>
          <a:ln w="15875">
            <a:solidFill>
              <a:schemeClr val="accent1"/>
            </a:solidFill>
          </a:ln>
        </p:spPr>
        <p:txBody>
          <a:bodyPr wrap="square" lIns="0" tIns="0" rIns="0" bIns="0" rtlCol="0" anchor="ctr"/>
          <a:lstStyle/>
          <a:p>
            <a:pPr algn="ctr" indent="0" marL="0">
              <a:buNone/>
            </a:pPr>
            <a:r>
              <a:rPr lang="en-US" sz="1300" b="1" dirty="0">
                <a:solidFill>
                  <a:schemeClr val="accent1"/>
                </a:solidFill>
              </a:rPr>
              <a:t>50,000 app opens × 10 seeds</a:t>
            </a:r>
            <a:endParaRPr lang="en-US" sz="1300" dirty="0"/>
          </a:p>
        </p:txBody>
      </p:sp>
      <p:sp>
        <p:nvSpPr>
          <p:cNvPr id="24" name="Chip 58"/>
          <p:cNvSpPr txBox="1"/>
          <p:nvPr/>
        </p:nvSpPr>
        <p:spPr>
          <a:xfrm>
            <a:off x="8854135" y="5303520"/>
            <a:ext cx="2788920" cy="457200"/>
          </a:xfrm>
          <a:prstGeom prst="roundRect">
            <a:avLst>
              <a:gd name="adj" fmla="val 40000"/>
            </a:avLst>
          </a:prstGeom>
          <a:solidFill>
            <a:schemeClr val="bg1"/>
          </a:solidFill>
          <a:ln w="15875">
            <a:solidFill>
              <a:schemeClr val="accent1"/>
            </a:solidFill>
          </a:ln>
        </p:spPr>
        <p:txBody>
          <a:bodyPr wrap="square" lIns="0" tIns="0" rIns="0" bIns="0" rtlCol="0" anchor="ctr"/>
          <a:lstStyle/>
          <a:p>
            <a:pPr algn="ctr" indent="0" marL="0">
              <a:buNone/>
            </a:pPr>
            <a:r>
              <a:rPr lang="en-US" sz="1300" b="1" dirty="0">
                <a:solidFill>
                  <a:schemeClr val="accent1"/>
                </a:solidFill>
              </a:rPr>
              <a:t>11 ms p95, FastAPI + Postgres</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THE PROBLEM</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Three slots, five segments, moving tastes</a:t>
            </a:r>
            <a:endParaRPr lang="en-US" sz="3600" dirty="0"/>
          </a:p>
        </p:txBody>
      </p:sp>
      <p:sp>
        <p:nvSpPr>
          <p:cNvPr id="4" name="Text 59"/>
          <p:cNvSpPr txBox="1"/>
          <p:nvPr/>
        </p:nvSpPr>
        <p:spPr>
          <a:xfrm>
            <a:off x="548640" y="1627632"/>
            <a:ext cx="6400800" cy="365760"/>
          </a:xfrm>
          <a:prstGeom prst="rect">
            <a:avLst/>
          </a:prstGeom>
          <a:noFill/>
          <a:ln/>
        </p:spPr>
        <p:txBody>
          <a:bodyPr wrap="square" lIns="0" tIns="0" rIns="0" bIns="0" rtlCol="0" anchor="t"/>
          <a:lstStyle/>
          <a:p>
            <a:pPr indent="0" marL="0">
              <a:buNone/>
            </a:pPr>
            <a:r>
              <a:rPr lang="en-US" sz="1800" b="1" dirty="0">
                <a:solidFill>
                  <a:schemeClr val="tx1"/>
                </a:solidFill>
              </a:rPr>
              <a:t>Who wants what, and when</a:t>
            </a:r>
            <a:endParaRPr lang="en-US" sz="1800" dirty="0"/>
          </a:p>
        </p:txBody>
      </p:sp>
      <p:sp>
        <p:nvSpPr>
          <p:cNvPr id="5" name="Card 60"/>
          <p:cNvSpPr/>
          <p:nvPr/>
        </p:nvSpPr>
        <p:spPr>
          <a:xfrm>
            <a:off x="548640" y="2103120"/>
            <a:ext cx="6492240" cy="640080"/>
          </a:xfrm>
          <a:prstGeom prst="roundRect">
            <a:avLst>
              <a:gd name="adj" fmla="val 11429"/>
            </a:avLst>
          </a:prstGeom>
          <a:solidFill>
            <a:schemeClr val="bg2"/>
          </a:solidFill>
          <a:ln/>
        </p:spPr>
      </p:sp>
      <p:sp>
        <p:nvSpPr>
          <p:cNvPr id="6" name="Text 61"/>
          <p:cNvSpPr txBox="1"/>
          <p:nvPr/>
        </p:nvSpPr>
        <p:spPr>
          <a:xfrm>
            <a:off x="777240" y="2276856"/>
            <a:ext cx="2148840" cy="310896"/>
          </a:xfrm>
          <a:prstGeom prst="rect">
            <a:avLst/>
          </a:prstGeom>
          <a:noFill/>
          <a:ln/>
        </p:spPr>
        <p:txBody>
          <a:bodyPr wrap="square" lIns="0" tIns="0" rIns="0" bIns="0" rtlCol="0" anchor="t"/>
          <a:lstStyle/>
          <a:p>
            <a:pPr indent="0" marL="0">
              <a:buNone/>
            </a:pPr>
            <a:r>
              <a:rPr lang="en-US" sz="1500" b="1" dirty="0">
                <a:solidFill>
                  <a:schemeClr val="tx1"/>
                </a:solidFill>
              </a:rPr>
              <a:t>Students</a:t>
            </a:r>
            <a:endParaRPr lang="en-US" sz="1500" dirty="0"/>
          </a:p>
        </p:txBody>
      </p:sp>
      <p:sp>
        <p:nvSpPr>
          <p:cNvPr id="7" name="Text 62"/>
          <p:cNvSpPr txBox="1"/>
          <p:nvPr/>
        </p:nvSpPr>
        <p:spPr>
          <a:xfrm>
            <a:off x="2926080" y="2276856"/>
            <a:ext cx="3108960" cy="310896"/>
          </a:xfrm>
          <a:prstGeom prst="rect">
            <a:avLst/>
          </a:prstGeom>
          <a:noFill/>
          <a:ln/>
        </p:spPr>
        <p:txBody>
          <a:bodyPr wrap="square" lIns="0" tIns="0" rIns="0" bIns="0" rtlCol="0" anchor="t"/>
          <a:lstStyle/>
          <a:p>
            <a:pPr indent="0" marL="0">
              <a:buNone/>
            </a:pPr>
            <a:r>
              <a:rPr lang="en-US" sz="1400" dirty="0">
                <a:solidFill>
                  <a:schemeClr val="tx1"/>
                </a:solidFill>
              </a:rPr>
              <a:t>the cheapest data bundle</a:t>
            </a:r>
            <a:endParaRPr lang="en-US" sz="1400" dirty="0"/>
          </a:p>
        </p:txBody>
      </p:sp>
      <p:sp>
        <p:nvSpPr>
          <p:cNvPr id="8" name="Card 63"/>
          <p:cNvSpPr/>
          <p:nvPr/>
        </p:nvSpPr>
        <p:spPr>
          <a:xfrm>
            <a:off x="548640" y="2871216"/>
            <a:ext cx="6492240" cy="640080"/>
          </a:xfrm>
          <a:prstGeom prst="roundRect">
            <a:avLst>
              <a:gd name="adj" fmla="val 11429"/>
            </a:avLst>
          </a:prstGeom>
          <a:solidFill>
            <a:schemeClr val="bg2"/>
          </a:solidFill>
          <a:ln/>
        </p:spPr>
      </p:sp>
      <p:sp>
        <p:nvSpPr>
          <p:cNvPr id="9" name="Text 64"/>
          <p:cNvSpPr txBox="1"/>
          <p:nvPr/>
        </p:nvSpPr>
        <p:spPr>
          <a:xfrm>
            <a:off x="777240" y="3044952"/>
            <a:ext cx="2148840" cy="310896"/>
          </a:xfrm>
          <a:prstGeom prst="rect">
            <a:avLst/>
          </a:prstGeom>
          <a:noFill/>
          <a:ln/>
        </p:spPr>
        <p:txBody>
          <a:bodyPr wrap="square" lIns="0" tIns="0" rIns="0" bIns="0" rtlCol="0" anchor="t"/>
          <a:lstStyle/>
          <a:p>
            <a:pPr indent="0" marL="0">
              <a:buNone/>
            </a:pPr>
            <a:r>
              <a:rPr lang="en-US" sz="1500" b="1" dirty="0">
                <a:solidFill>
                  <a:schemeClr val="tx1"/>
                </a:solidFill>
              </a:rPr>
              <a:t>Pensioners</a:t>
            </a:r>
            <a:endParaRPr lang="en-US" sz="1500" dirty="0"/>
          </a:p>
        </p:txBody>
      </p:sp>
      <p:sp>
        <p:nvSpPr>
          <p:cNvPr id="10" name="Text 65"/>
          <p:cNvSpPr txBox="1"/>
          <p:nvPr/>
        </p:nvSpPr>
        <p:spPr>
          <a:xfrm>
            <a:off x="2926080" y="3044952"/>
            <a:ext cx="3108960" cy="310896"/>
          </a:xfrm>
          <a:prstGeom prst="rect">
            <a:avLst/>
          </a:prstGeom>
          <a:noFill/>
          <a:ln/>
        </p:spPr>
        <p:txBody>
          <a:bodyPr wrap="square" lIns="0" tIns="0" rIns="0" bIns="0" rtlCol="0" anchor="t"/>
          <a:lstStyle/>
          <a:p>
            <a:pPr indent="0" marL="0">
              <a:buNone/>
            </a:pPr>
            <a:r>
              <a:rPr lang="en-US" sz="1400" dirty="0">
                <a:solidFill>
                  <a:schemeClr val="tx1"/>
                </a:solidFill>
              </a:rPr>
              <a:t>airtime; electricity in SASSA grant week</a:t>
            </a:r>
            <a:endParaRPr lang="en-US" sz="1400" dirty="0"/>
          </a:p>
        </p:txBody>
      </p:sp>
      <p:sp>
        <p:nvSpPr>
          <p:cNvPr id="11" name="Card 66"/>
          <p:cNvSpPr/>
          <p:nvPr/>
        </p:nvSpPr>
        <p:spPr>
          <a:xfrm>
            <a:off x="548640" y="3639312"/>
            <a:ext cx="6492240" cy="640080"/>
          </a:xfrm>
          <a:prstGeom prst="roundRect">
            <a:avLst>
              <a:gd name="adj" fmla="val 11429"/>
            </a:avLst>
          </a:prstGeom>
          <a:solidFill>
            <a:schemeClr val="bg2"/>
          </a:solidFill>
          <a:ln/>
        </p:spPr>
      </p:sp>
      <p:sp>
        <p:nvSpPr>
          <p:cNvPr id="12" name="Text 67"/>
          <p:cNvSpPr txBox="1"/>
          <p:nvPr/>
        </p:nvSpPr>
        <p:spPr>
          <a:xfrm>
            <a:off x="777240" y="3813048"/>
            <a:ext cx="2148840" cy="310896"/>
          </a:xfrm>
          <a:prstGeom prst="rect">
            <a:avLst/>
          </a:prstGeom>
          <a:noFill/>
          <a:ln/>
        </p:spPr>
        <p:txBody>
          <a:bodyPr wrap="square" lIns="0" tIns="0" rIns="0" bIns="0" rtlCol="0" anchor="t"/>
          <a:lstStyle/>
          <a:p>
            <a:pPr indent="0" marL="0">
              <a:buNone/>
            </a:pPr>
            <a:r>
              <a:rPr lang="en-US" sz="1500" b="1" dirty="0">
                <a:solidFill>
                  <a:schemeClr val="tx1"/>
                </a:solidFill>
              </a:rPr>
              <a:t>Small businesses</a:t>
            </a:r>
            <a:endParaRPr lang="en-US" sz="1500" dirty="0"/>
          </a:p>
        </p:txBody>
      </p:sp>
      <p:sp>
        <p:nvSpPr>
          <p:cNvPr id="13" name="Text 68"/>
          <p:cNvSpPr txBox="1"/>
          <p:nvPr/>
        </p:nvSpPr>
        <p:spPr>
          <a:xfrm>
            <a:off x="2926080" y="3813048"/>
            <a:ext cx="3108960" cy="310896"/>
          </a:xfrm>
          <a:prstGeom prst="rect">
            <a:avLst/>
          </a:prstGeom>
          <a:noFill/>
          <a:ln/>
        </p:spPr>
        <p:txBody>
          <a:bodyPr wrap="square" lIns="0" tIns="0" rIns="0" bIns="0" rtlCol="0" anchor="t"/>
          <a:lstStyle/>
          <a:p>
            <a:pPr indent="0" marL="0">
              <a:buNone/>
            </a:pPr>
            <a:r>
              <a:rPr lang="en-US" sz="1400" dirty="0">
                <a:solidFill>
                  <a:schemeClr val="tx1"/>
                </a:solidFill>
              </a:rPr>
              <a:t>pay-later mid-month; 20GB data at payday</a:t>
            </a:r>
            <a:endParaRPr lang="en-US" sz="1400" dirty="0"/>
          </a:p>
        </p:txBody>
      </p:sp>
      <p:sp>
        <p:nvSpPr>
          <p:cNvPr id="14" name="Card 69"/>
          <p:cNvSpPr/>
          <p:nvPr/>
        </p:nvSpPr>
        <p:spPr>
          <a:xfrm>
            <a:off x="548640" y="4407408"/>
            <a:ext cx="6492240" cy="640080"/>
          </a:xfrm>
          <a:prstGeom prst="roundRect">
            <a:avLst>
              <a:gd name="adj" fmla="val 11429"/>
            </a:avLst>
          </a:prstGeom>
          <a:solidFill>
            <a:schemeClr val="bg2"/>
          </a:solidFill>
          <a:ln/>
        </p:spPr>
      </p:sp>
      <p:sp>
        <p:nvSpPr>
          <p:cNvPr id="15" name="Text 70"/>
          <p:cNvSpPr txBox="1"/>
          <p:nvPr/>
        </p:nvSpPr>
        <p:spPr>
          <a:xfrm>
            <a:off x="777240" y="4581144"/>
            <a:ext cx="2148840" cy="310896"/>
          </a:xfrm>
          <a:prstGeom prst="rect">
            <a:avLst/>
          </a:prstGeom>
          <a:noFill/>
          <a:ln/>
        </p:spPr>
        <p:txBody>
          <a:bodyPr wrap="square" lIns="0" tIns="0" rIns="0" bIns="0" rtlCol="0" anchor="t"/>
          <a:lstStyle/>
          <a:p>
            <a:pPr indent="0" marL="0">
              <a:buNone/>
            </a:pPr>
            <a:r>
              <a:rPr lang="en-US" sz="1500" b="1" dirty="0">
                <a:solidFill>
                  <a:schemeClr val="tx1"/>
                </a:solidFill>
              </a:rPr>
              <a:t>Young professionals</a:t>
            </a:r>
            <a:endParaRPr lang="en-US" sz="1500" dirty="0"/>
          </a:p>
        </p:txBody>
      </p:sp>
      <p:sp>
        <p:nvSpPr>
          <p:cNvPr id="16" name="Text 71"/>
          <p:cNvSpPr txBox="1"/>
          <p:nvPr/>
        </p:nvSpPr>
        <p:spPr>
          <a:xfrm>
            <a:off x="2926080" y="4581144"/>
            <a:ext cx="3108960" cy="310896"/>
          </a:xfrm>
          <a:prstGeom prst="rect">
            <a:avLst/>
          </a:prstGeom>
          <a:noFill/>
          <a:ln/>
        </p:spPr>
        <p:txBody>
          <a:bodyPr wrap="square" lIns="0" tIns="0" rIns="0" bIns="0" rtlCol="0" anchor="t"/>
          <a:lstStyle/>
          <a:p>
            <a:pPr indent="0" marL="0">
              <a:buNone/>
            </a:pPr>
            <a:r>
              <a:rPr lang="en-US" sz="1400" dirty="0">
                <a:solidFill>
                  <a:schemeClr val="tx1"/>
                </a:solidFill>
              </a:rPr>
              <a:t>data, until streaming goes viral</a:t>
            </a:r>
            <a:endParaRPr lang="en-US" sz="1400" dirty="0"/>
          </a:p>
        </p:txBody>
      </p:sp>
      <p:sp>
        <p:nvSpPr>
          <p:cNvPr id="17" name="Chip 72"/>
          <p:cNvSpPr txBox="1"/>
          <p:nvPr/>
        </p:nvSpPr>
        <p:spPr>
          <a:xfrm>
            <a:off x="6080760" y="4562856"/>
            <a:ext cx="777240" cy="329184"/>
          </a:xfrm>
          <a:prstGeom prst="roundRect">
            <a:avLst>
              <a:gd name="adj" fmla="val 41667"/>
            </a:avLst>
          </a:prstGeom>
          <a:solidFill>
            <a:schemeClr val="accent2"/>
          </a:solidFill>
          <a:ln/>
        </p:spPr>
        <p:txBody>
          <a:bodyPr wrap="square" lIns="0" tIns="0" rIns="0" bIns="0" rtlCol="0" anchor="ctr"/>
          <a:lstStyle/>
          <a:p>
            <a:pPr algn="ctr" indent="0" marL="0">
              <a:buNone/>
            </a:pPr>
            <a:r>
              <a:rPr lang="en-US" sz="1200" b="1" dirty="0">
                <a:solidFill>
                  <a:schemeClr val="bg1"/>
                </a:solidFill>
              </a:rPr>
              <a:t>shifts</a:t>
            </a:r>
            <a:endParaRPr lang="en-US" sz="1200" dirty="0"/>
          </a:p>
        </p:txBody>
      </p:sp>
      <p:sp>
        <p:nvSpPr>
          <p:cNvPr id="18" name="Card 73"/>
          <p:cNvSpPr/>
          <p:nvPr/>
        </p:nvSpPr>
        <p:spPr>
          <a:xfrm>
            <a:off x="548640" y="5175504"/>
            <a:ext cx="6492240" cy="640080"/>
          </a:xfrm>
          <a:prstGeom prst="roundRect">
            <a:avLst>
              <a:gd name="adj" fmla="val 11429"/>
            </a:avLst>
          </a:prstGeom>
          <a:solidFill>
            <a:schemeClr val="bg2"/>
          </a:solidFill>
          <a:ln/>
        </p:spPr>
      </p:sp>
      <p:sp>
        <p:nvSpPr>
          <p:cNvPr id="19" name="Text 74"/>
          <p:cNvSpPr txBox="1"/>
          <p:nvPr/>
        </p:nvSpPr>
        <p:spPr>
          <a:xfrm>
            <a:off x="777240" y="5349240"/>
            <a:ext cx="2148840" cy="310896"/>
          </a:xfrm>
          <a:prstGeom prst="rect">
            <a:avLst/>
          </a:prstGeom>
          <a:noFill/>
          <a:ln/>
        </p:spPr>
        <p:txBody>
          <a:bodyPr wrap="square" lIns="0" tIns="0" rIns="0" bIns="0" rtlCol="0" anchor="t"/>
          <a:lstStyle/>
          <a:p>
            <a:pPr indent="0" marL="0">
              <a:buNone/>
            </a:pPr>
            <a:r>
              <a:rPr lang="en-US" sz="1500" b="1" dirty="0">
                <a:solidFill>
                  <a:schemeClr val="tx1"/>
                </a:solidFill>
              </a:rPr>
              <a:t>Families</a:t>
            </a:r>
            <a:endParaRPr lang="en-US" sz="1500" dirty="0"/>
          </a:p>
        </p:txBody>
      </p:sp>
      <p:sp>
        <p:nvSpPr>
          <p:cNvPr id="20" name="Text 75"/>
          <p:cNvSpPr txBox="1"/>
          <p:nvPr/>
        </p:nvSpPr>
        <p:spPr>
          <a:xfrm>
            <a:off x="2926080" y="5349240"/>
            <a:ext cx="3108960" cy="310896"/>
          </a:xfrm>
          <a:prstGeom prst="rect">
            <a:avLst/>
          </a:prstGeom>
          <a:noFill/>
          <a:ln/>
        </p:spPr>
        <p:txBody>
          <a:bodyPr wrap="square" lIns="0" tIns="0" rIns="0" bIns="0" rtlCol="0" anchor="t"/>
          <a:lstStyle/>
          <a:p>
            <a:pPr indent="0" marL="0">
              <a:buNone/>
            </a:pPr>
            <a:r>
              <a:rPr lang="en-US" sz="1400" dirty="0">
                <a:solidFill>
                  <a:schemeClr val="tx1"/>
                </a:solidFill>
              </a:rPr>
              <a:t>funeral cover, until electricity prices jump</a:t>
            </a:r>
            <a:endParaRPr lang="en-US" sz="1400" dirty="0"/>
          </a:p>
        </p:txBody>
      </p:sp>
      <p:sp>
        <p:nvSpPr>
          <p:cNvPr id="21" name="Chip 76"/>
          <p:cNvSpPr txBox="1"/>
          <p:nvPr/>
        </p:nvSpPr>
        <p:spPr>
          <a:xfrm>
            <a:off x="6080760" y="5330952"/>
            <a:ext cx="777240" cy="329184"/>
          </a:xfrm>
          <a:prstGeom prst="roundRect">
            <a:avLst>
              <a:gd name="adj" fmla="val 41667"/>
            </a:avLst>
          </a:prstGeom>
          <a:solidFill>
            <a:schemeClr val="accent2"/>
          </a:solidFill>
          <a:ln/>
        </p:spPr>
        <p:txBody>
          <a:bodyPr wrap="square" lIns="0" tIns="0" rIns="0" bIns="0" rtlCol="0" anchor="ctr"/>
          <a:lstStyle/>
          <a:p>
            <a:pPr algn="ctr" indent="0" marL="0">
              <a:buNone/>
            </a:pPr>
            <a:r>
              <a:rPr lang="en-US" sz="1200" b="1" dirty="0">
                <a:solidFill>
                  <a:schemeClr val="bg1"/>
                </a:solidFill>
              </a:rPr>
              <a:t>shifts</a:t>
            </a:r>
            <a:endParaRPr lang="en-US" sz="1200" dirty="0"/>
          </a:p>
        </p:txBody>
      </p:sp>
      <p:sp>
        <p:nvSpPr>
          <p:cNvPr id="22" name="Card 77"/>
          <p:cNvSpPr/>
          <p:nvPr/>
        </p:nvSpPr>
        <p:spPr>
          <a:xfrm>
            <a:off x="7452360" y="1691640"/>
            <a:ext cx="4187952" cy="4434840"/>
          </a:xfrm>
          <a:prstGeom prst="roundRect">
            <a:avLst>
              <a:gd name="adj" fmla="val 1747"/>
            </a:avLst>
          </a:prstGeom>
          <a:solidFill>
            <a:schemeClr val="tx1"/>
          </a:solidFill>
          <a:ln/>
        </p:spPr>
      </p:sp>
      <p:sp>
        <p:nvSpPr>
          <p:cNvPr id="23" name="Text 78"/>
          <p:cNvSpPr txBox="1"/>
          <p:nvPr/>
        </p:nvSpPr>
        <p:spPr>
          <a:xfrm>
            <a:off x="7772400" y="1920240"/>
            <a:ext cx="3547872" cy="731520"/>
          </a:xfrm>
          <a:prstGeom prst="rect">
            <a:avLst/>
          </a:prstGeom>
          <a:noFill/>
          <a:ln/>
        </p:spPr>
        <p:txBody>
          <a:bodyPr wrap="square" lIns="0" tIns="0" rIns="0" bIns="0" rtlCol="0" anchor="t"/>
          <a:lstStyle/>
          <a:p>
            <a:pPr indent="0" marL="0">
              <a:buNone/>
            </a:pPr>
            <a:r>
              <a:rPr lang="en-US" sz="1800" b="1" dirty="0">
                <a:solidFill>
                  <a:schemeClr val="bg1"/>
                </a:solidFill>
              </a:rPr>
              <a:t>Why a monthly batch model falls short</a:t>
            </a:r>
            <a:endParaRPr lang="en-US" sz="1800" dirty="0"/>
          </a:p>
        </p:txBody>
      </p:sp>
      <p:sp>
        <p:nvSpPr>
          <p:cNvPr id="24" name="Step 79"/>
          <p:cNvSpPr txBox="1"/>
          <p:nvPr/>
        </p:nvSpPr>
        <p:spPr>
          <a:xfrm>
            <a:off x="7772400" y="2788920"/>
            <a:ext cx="365760" cy="365760"/>
          </a:xfrm>
          <a:prstGeom prst="ellipse">
            <a:avLst/>
          </a:prstGeom>
          <a:solidFill>
            <a:schemeClr val="accent5"/>
          </a:solid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25" name="Text 80"/>
          <p:cNvSpPr txBox="1"/>
          <p:nvPr/>
        </p:nvSpPr>
        <p:spPr>
          <a:xfrm>
            <a:off x="8321040" y="2807208"/>
            <a:ext cx="2999232" cy="603504"/>
          </a:xfrm>
          <a:prstGeom prst="rect">
            <a:avLst/>
          </a:prstGeom>
          <a:noFill/>
          <a:ln/>
        </p:spPr>
        <p:txBody>
          <a:bodyPr wrap="square" lIns="0" tIns="0" rIns="0" bIns="0" rtlCol="0" anchor="t"/>
          <a:lstStyle/>
          <a:p>
            <a:pPr indent="0" marL="0">
              <a:buNone/>
            </a:pPr>
            <a:r>
              <a:rPr lang="en-US" sz="1500" dirty="0">
                <a:solidFill>
                  <a:schemeClr val="bg1"/>
                </a:solidFill>
              </a:rPr>
              <a:t>Out of date the day it ships</a:t>
            </a:r>
            <a:endParaRPr lang="en-US" sz="1500" dirty="0"/>
          </a:p>
        </p:txBody>
      </p:sp>
      <p:sp>
        <p:nvSpPr>
          <p:cNvPr id="26" name="Step 81"/>
          <p:cNvSpPr txBox="1"/>
          <p:nvPr/>
        </p:nvSpPr>
        <p:spPr>
          <a:xfrm>
            <a:off x="7772400" y="3502152"/>
            <a:ext cx="365760" cy="365760"/>
          </a:xfrm>
          <a:prstGeom prst="ellipse">
            <a:avLst/>
          </a:prstGeom>
          <a:solidFill>
            <a:schemeClr val="accent5"/>
          </a:solid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27" name="Text 82"/>
          <p:cNvSpPr txBox="1"/>
          <p:nvPr/>
        </p:nvSpPr>
        <p:spPr>
          <a:xfrm>
            <a:off x="8321040" y="3520440"/>
            <a:ext cx="2999232" cy="603504"/>
          </a:xfrm>
          <a:prstGeom prst="rect">
            <a:avLst/>
          </a:prstGeom>
          <a:noFill/>
          <a:ln/>
        </p:spPr>
        <p:txBody>
          <a:bodyPr wrap="square" lIns="0" tIns="0" rIns="0" bIns="0" rtlCol="0" anchor="t"/>
          <a:lstStyle/>
          <a:p>
            <a:pPr indent="0" marL="0">
              <a:buNone/>
            </a:pPr>
            <a:r>
              <a:rPr lang="en-US" sz="1500" dirty="0">
                <a:solidFill>
                  <a:schemeClr val="bg1"/>
                </a:solidFill>
              </a:rPr>
              <a:t>Never learns about the offers it doesn't show</a:t>
            </a:r>
            <a:endParaRPr lang="en-US" sz="1500" dirty="0"/>
          </a:p>
        </p:txBody>
      </p:sp>
      <p:sp>
        <p:nvSpPr>
          <p:cNvPr id="28" name="Step 83"/>
          <p:cNvSpPr txBox="1"/>
          <p:nvPr/>
        </p:nvSpPr>
        <p:spPr>
          <a:xfrm>
            <a:off x="7772400" y="4215384"/>
            <a:ext cx="365760" cy="365760"/>
          </a:xfrm>
          <a:prstGeom prst="ellipse">
            <a:avLst/>
          </a:prstGeom>
          <a:solidFill>
            <a:schemeClr val="accent5"/>
          </a:solid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29" name="Text 84"/>
          <p:cNvSpPr txBox="1"/>
          <p:nvPr/>
        </p:nvSpPr>
        <p:spPr>
          <a:xfrm>
            <a:off x="8321040" y="4233672"/>
            <a:ext cx="2999232" cy="603504"/>
          </a:xfrm>
          <a:prstGeom prst="rect">
            <a:avLst/>
          </a:prstGeom>
          <a:noFill/>
          <a:ln/>
        </p:spPr>
        <p:txBody>
          <a:bodyPr wrap="square" lIns="0" tIns="0" rIns="0" bIns="0" rtlCol="0" anchor="t"/>
          <a:lstStyle/>
          <a:p>
            <a:pPr indent="0" marL="0">
              <a:buNone/>
            </a:pPr>
            <a:r>
              <a:rPr lang="en-US" sz="1500" dirty="0">
                <a:solidFill>
                  <a:schemeClr val="bg1"/>
                </a:solidFill>
              </a:rPr>
              <a:t>Can't notice a change until someone retrains it</a:t>
            </a:r>
            <a:endParaRPr lang="en-US" sz="1500" dirty="0"/>
          </a:p>
        </p:txBody>
      </p:sp>
      <p:sp>
        <p:nvSpPr>
          <p:cNvPr id="30" name="Text 85"/>
          <p:cNvSpPr txBox="1"/>
          <p:nvPr/>
        </p:nvSpPr>
        <p:spPr>
          <a:xfrm>
            <a:off x="7772400" y="4983480"/>
            <a:ext cx="3547872" cy="960120"/>
          </a:xfrm>
          <a:prstGeom prst="rect">
            <a:avLst/>
          </a:prstGeom>
          <a:noFill/>
          <a:ln/>
        </p:spPr>
        <p:txBody>
          <a:bodyPr wrap="square" lIns="0" tIns="0" rIns="0" bIns="0" rtlCol="0" anchor="t"/>
          <a:lstStyle/>
          <a:p>
            <a:pPr indent="0" marL="0">
              <a:buNone/>
            </a:pPr>
            <a:r>
              <a:rPr lang="en-US" sz="1300" i="1" dirty="0">
                <a:solidFill>
                  <a:schemeClr val="accent5"/>
                </a:solidFill>
              </a:rPr>
              <a:t>The brief: learn from every response, explore enough to find what works, adapt when behaviour shifts, and prove it beats static and random.</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HOW IT WORKS</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Two API calls, one learning loop</a:t>
            </a:r>
            <a:endParaRPr lang="en-US" sz="3600" dirty="0"/>
          </a:p>
        </p:txBody>
      </p:sp>
      <p:sp>
        <p:nvSpPr>
          <p:cNvPr id="4" name="Arrow 86"/>
          <p:cNvSpPr/>
          <p:nvPr/>
        </p:nvSpPr>
        <p:spPr>
          <a:xfrm flipV="1">
            <a:off x="10218420" y="1810512"/>
            <a:ext cx="0" cy="246888"/>
          </a:xfrm>
          <a:prstGeom prst="line">
            <a:avLst/>
          </a:prstGeom>
          <a:noFill/>
          <a:ln w="19050">
            <a:solidFill>
              <a:schemeClr val="tx1"/>
            </a:solidFill>
            <a:prstDash val="solid"/>
          </a:ln>
        </p:spPr>
      </p:sp>
      <p:sp>
        <p:nvSpPr>
          <p:cNvPr id="5" name="Arrow 87"/>
          <p:cNvSpPr/>
          <p:nvPr/>
        </p:nvSpPr>
        <p:spPr>
          <a:xfrm flipH="1">
            <a:off x="1463040" y="1810512"/>
            <a:ext cx="8755380" cy="0"/>
          </a:xfrm>
          <a:prstGeom prst="line">
            <a:avLst/>
          </a:prstGeom>
          <a:noFill/>
          <a:ln w="19050">
            <a:solidFill>
              <a:schemeClr val="tx1"/>
            </a:solidFill>
            <a:prstDash val="solid"/>
          </a:ln>
        </p:spPr>
      </p:sp>
      <p:sp>
        <p:nvSpPr>
          <p:cNvPr id="6" name="Arrow 88"/>
          <p:cNvSpPr/>
          <p:nvPr/>
        </p:nvSpPr>
        <p:spPr>
          <a:xfrm>
            <a:off x="1463040" y="1810512"/>
            <a:ext cx="0" cy="246888"/>
          </a:xfrm>
          <a:prstGeom prst="line">
            <a:avLst/>
          </a:prstGeom>
          <a:noFill/>
          <a:ln w="19050">
            <a:solidFill>
              <a:schemeClr val="tx1"/>
            </a:solidFill>
            <a:prstDash val="solid"/>
            <a:tailEnd type="triangle"/>
          </a:ln>
        </p:spPr>
      </p:sp>
      <p:sp>
        <p:nvSpPr>
          <p:cNvPr id="7" name="Text 89"/>
          <p:cNvSpPr txBox="1"/>
          <p:nvPr/>
        </p:nvSpPr>
        <p:spPr>
          <a:xfrm>
            <a:off x="3840480" y="1536192"/>
            <a:ext cx="4572000" cy="256032"/>
          </a:xfrm>
          <a:prstGeom prst="rect">
            <a:avLst/>
          </a:prstGeom>
          <a:noFill/>
          <a:ln/>
        </p:spPr>
        <p:txBody>
          <a:bodyPr wrap="square" lIns="0" tIns="0" rIns="0" bIns="0" rtlCol="0" anchor="t"/>
          <a:lstStyle/>
          <a:p>
            <a:pPr algn="ctr" indent="0" marL="0">
              <a:buNone/>
            </a:pPr>
            <a:r>
              <a:rPr lang="en-US" sz="1100" dirty="0">
                <a:solidFill>
                  <a:schemeClr val="tx1"/>
                </a:solidFill>
                <a:latin typeface="Consolas" pitchFamily="34" charset="0"/>
                <a:ea typeface="Consolas" pitchFamily="34" charset="-122"/>
                <a:cs typeface="Consolas" pitchFamily="34" charset="-120"/>
              </a:rPr>
              <a:t>200 · invocation_id + the top 3 offers</a:t>
            </a:r>
            <a:endParaRPr lang="en-US" sz="1100" dirty="0"/>
          </a:p>
        </p:txBody>
      </p:sp>
      <p:sp>
        <p:nvSpPr>
          <p:cNvPr id="8" name="Step box 90"/>
          <p:cNvSpPr/>
          <p:nvPr/>
        </p:nvSpPr>
        <p:spPr>
          <a:xfrm>
            <a:off x="548640" y="2057400"/>
            <a:ext cx="1828800" cy="822960"/>
          </a:xfrm>
          <a:prstGeom prst="roundRect">
            <a:avLst>
              <a:gd name="adj" fmla="val 6667"/>
            </a:avLst>
          </a:prstGeom>
          <a:solidFill>
            <a:schemeClr val="bg2"/>
          </a:solidFill>
          <a:ln w="15875">
            <a:solidFill>
              <a:schemeClr val="tx1"/>
            </a:solidFill>
            <a:prstDash val="solid"/>
          </a:ln>
        </p:spPr>
      </p:sp>
      <p:sp>
        <p:nvSpPr>
          <p:cNvPr id="9" name="Step 91"/>
          <p:cNvSpPr txBox="1"/>
          <p:nvPr/>
        </p:nvSpPr>
        <p:spPr>
          <a:xfrm>
            <a:off x="676656" y="2176272"/>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0" name="Text 92"/>
          <p:cNvSpPr txBox="1"/>
          <p:nvPr/>
        </p:nvSpPr>
        <p:spPr>
          <a:xfrm>
            <a:off x="1078992" y="2157984"/>
            <a:ext cx="1207008" cy="329184"/>
          </a:xfrm>
          <a:prstGeom prst="rect">
            <a:avLst/>
          </a:prstGeom>
          <a:noFill/>
          <a:ln/>
        </p:spPr>
        <p:txBody>
          <a:bodyPr wrap="square" lIns="0" tIns="0" rIns="0" bIns="0" rtlCol="0" anchor="t"/>
          <a:lstStyle/>
          <a:p>
            <a:pPr indent="0" marL="0">
              <a:buNone/>
            </a:pPr>
            <a:r>
              <a:rPr lang="en-US" sz="1400" b="1" dirty="0">
                <a:solidFill>
                  <a:schemeClr val="tx1"/>
                </a:solidFill>
              </a:rPr>
              <a:t>Opens the app</a:t>
            </a:r>
            <a:endParaRPr lang="en-US" sz="1400" dirty="0"/>
          </a:p>
        </p:txBody>
      </p:sp>
      <p:sp>
        <p:nvSpPr>
          <p:cNvPr id="11" name="Text 93"/>
          <p:cNvSpPr txBox="1"/>
          <p:nvPr/>
        </p:nvSpPr>
        <p:spPr>
          <a:xfrm>
            <a:off x="676656" y="2532888"/>
            <a:ext cx="1609344" cy="274320"/>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POST /invocations</a:t>
            </a:r>
            <a:endParaRPr lang="en-US" sz="1100" dirty="0"/>
          </a:p>
        </p:txBody>
      </p:sp>
      <p:sp>
        <p:nvSpPr>
          <p:cNvPr id="12" name="Step box 94"/>
          <p:cNvSpPr/>
          <p:nvPr/>
        </p:nvSpPr>
        <p:spPr>
          <a:xfrm>
            <a:off x="3063240" y="2057400"/>
            <a:ext cx="2606040" cy="822960"/>
          </a:xfrm>
          <a:prstGeom prst="roundRect">
            <a:avLst>
              <a:gd name="adj" fmla="val 6667"/>
            </a:avLst>
          </a:prstGeom>
          <a:solidFill>
            <a:schemeClr val="bg1"/>
          </a:solidFill>
          <a:ln w="15875">
            <a:solidFill>
              <a:schemeClr val="tx1"/>
            </a:solidFill>
            <a:prstDash val="solid"/>
          </a:ln>
        </p:spPr>
      </p:sp>
      <p:sp>
        <p:nvSpPr>
          <p:cNvPr id="13" name="Step 95"/>
          <p:cNvSpPr txBox="1"/>
          <p:nvPr/>
        </p:nvSpPr>
        <p:spPr>
          <a:xfrm>
            <a:off x="3191256" y="2176272"/>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4" name="Text 96"/>
          <p:cNvSpPr txBox="1"/>
          <p:nvPr/>
        </p:nvSpPr>
        <p:spPr>
          <a:xfrm>
            <a:off x="3593592" y="2157984"/>
            <a:ext cx="1984248" cy="329184"/>
          </a:xfrm>
          <a:prstGeom prst="rect">
            <a:avLst/>
          </a:prstGeom>
          <a:noFill/>
          <a:ln/>
        </p:spPr>
        <p:txBody>
          <a:bodyPr wrap="square" lIns="0" tIns="0" rIns="0" bIns="0" rtlCol="0" anchor="t"/>
          <a:lstStyle/>
          <a:p>
            <a:pPr indent="0" marL="0">
              <a:buNone/>
            </a:pPr>
            <a:r>
              <a:rPr lang="en-US" sz="1400" b="1" dirty="0">
                <a:solidFill>
                  <a:schemeClr val="tx1"/>
                </a:solidFill>
              </a:rPr>
              <a:t>Build the moment</a:t>
            </a:r>
            <a:endParaRPr lang="en-US" sz="1400" dirty="0"/>
          </a:p>
        </p:txBody>
      </p:sp>
      <p:sp>
        <p:nvSpPr>
          <p:cNvPr id="15" name="Text 97"/>
          <p:cNvSpPr txBox="1"/>
          <p:nvPr/>
        </p:nvSpPr>
        <p:spPr>
          <a:xfrm>
            <a:off x="3191256" y="2532888"/>
            <a:ext cx="2386584" cy="274320"/>
          </a:xfrm>
          <a:prstGeom prst="rect">
            <a:avLst/>
          </a:prstGeom>
          <a:noFill/>
          <a:ln/>
        </p:spPr>
        <p:txBody>
          <a:bodyPr wrap="square" lIns="0" tIns="0" rIns="0" bIns="0" rtlCol="0" anchor="t"/>
          <a:lstStyle/>
          <a:p>
            <a:pPr indent="0" marL="0">
              <a:buNone/>
            </a:pPr>
            <a:r>
              <a:rPr lang="en-US" sz="1200" dirty="0">
                <a:solidFill>
                  <a:schemeClr val="tx2"/>
                </a:solidFill>
              </a:rPr>
              <a:t>profile + clock: segment, payday</a:t>
            </a:r>
            <a:endParaRPr lang="en-US" sz="1200" dirty="0"/>
          </a:p>
        </p:txBody>
      </p:sp>
      <p:sp>
        <p:nvSpPr>
          <p:cNvPr id="16" name="Step box 98"/>
          <p:cNvSpPr/>
          <p:nvPr/>
        </p:nvSpPr>
        <p:spPr>
          <a:xfrm>
            <a:off x="5989320" y="2057400"/>
            <a:ext cx="2606040" cy="822960"/>
          </a:xfrm>
          <a:prstGeom prst="roundRect">
            <a:avLst>
              <a:gd name="adj" fmla="val 6667"/>
            </a:avLst>
          </a:prstGeom>
          <a:solidFill>
            <a:schemeClr val="bg1"/>
          </a:solidFill>
          <a:ln w="15875">
            <a:solidFill>
              <a:schemeClr val="tx1"/>
            </a:solidFill>
            <a:prstDash val="solid"/>
          </a:ln>
        </p:spPr>
      </p:sp>
      <p:sp>
        <p:nvSpPr>
          <p:cNvPr id="17" name="Step 99"/>
          <p:cNvSpPr txBox="1"/>
          <p:nvPr/>
        </p:nvSpPr>
        <p:spPr>
          <a:xfrm>
            <a:off x="6117336" y="2176272"/>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8" name="Text 100"/>
          <p:cNvSpPr txBox="1"/>
          <p:nvPr/>
        </p:nvSpPr>
        <p:spPr>
          <a:xfrm>
            <a:off x="6519672" y="2157984"/>
            <a:ext cx="1984248" cy="329184"/>
          </a:xfrm>
          <a:prstGeom prst="rect">
            <a:avLst/>
          </a:prstGeom>
          <a:noFill/>
          <a:ln/>
        </p:spPr>
        <p:txBody>
          <a:bodyPr wrap="square" lIns="0" tIns="0" rIns="0" bIns="0" rtlCol="0" anchor="t"/>
          <a:lstStyle/>
          <a:p>
            <a:pPr indent="0" marL="0">
              <a:buNone/>
            </a:pPr>
            <a:r>
              <a:rPr lang="en-US" sz="1400" b="1" dirty="0">
                <a:solidFill>
                  <a:schemeClr val="tx1"/>
                </a:solidFill>
              </a:rPr>
              <a:t>Rank by drawing</a:t>
            </a:r>
            <a:endParaRPr lang="en-US" sz="1400" dirty="0"/>
          </a:p>
        </p:txBody>
      </p:sp>
      <p:sp>
        <p:nvSpPr>
          <p:cNvPr id="19" name="Text 101"/>
          <p:cNvSpPr txBox="1"/>
          <p:nvPr/>
        </p:nvSpPr>
        <p:spPr>
          <a:xfrm>
            <a:off x="6117336" y="2532888"/>
            <a:ext cx="2386584" cy="274320"/>
          </a:xfrm>
          <a:prstGeom prst="rect">
            <a:avLst/>
          </a:prstGeom>
          <a:noFill/>
          <a:ln/>
        </p:spPr>
        <p:txBody>
          <a:bodyPr wrap="square" lIns="0" tIns="0" rIns="0" bIns="0" rtlCol="0" anchor="t"/>
          <a:lstStyle/>
          <a:p>
            <a:pPr indent="0" marL="0">
              <a:buNone/>
            </a:pPr>
            <a:r>
              <a:rPr lang="en-US" sz="1200" dirty="0">
                <a:solidFill>
                  <a:schemeClr val="tx2"/>
                </a:solidFill>
              </a:rPr>
              <a:t>one draw per belief; top 3 shown</a:t>
            </a:r>
            <a:endParaRPr lang="en-US" sz="1200" dirty="0"/>
          </a:p>
        </p:txBody>
      </p:sp>
      <p:sp>
        <p:nvSpPr>
          <p:cNvPr id="20" name="Step box 102"/>
          <p:cNvSpPr/>
          <p:nvPr/>
        </p:nvSpPr>
        <p:spPr>
          <a:xfrm>
            <a:off x="8915400" y="2057400"/>
            <a:ext cx="2606040" cy="822960"/>
          </a:xfrm>
          <a:prstGeom prst="roundRect">
            <a:avLst>
              <a:gd name="adj" fmla="val 6667"/>
            </a:avLst>
          </a:prstGeom>
          <a:solidFill>
            <a:schemeClr val="bg1"/>
          </a:solidFill>
          <a:ln w="15875">
            <a:solidFill>
              <a:schemeClr val="tx1"/>
            </a:solidFill>
            <a:prstDash val="solid"/>
          </a:ln>
        </p:spPr>
      </p:sp>
      <p:sp>
        <p:nvSpPr>
          <p:cNvPr id="21" name="Step 103"/>
          <p:cNvSpPr txBox="1"/>
          <p:nvPr/>
        </p:nvSpPr>
        <p:spPr>
          <a:xfrm>
            <a:off x="9043416" y="2176272"/>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2" name="Text 104"/>
          <p:cNvSpPr txBox="1"/>
          <p:nvPr/>
        </p:nvSpPr>
        <p:spPr>
          <a:xfrm>
            <a:off x="9445752" y="2157984"/>
            <a:ext cx="1984248" cy="329184"/>
          </a:xfrm>
          <a:prstGeom prst="rect">
            <a:avLst/>
          </a:prstGeom>
          <a:noFill/>
          <a:ln/>
        </p:spPr>
        <p:txBody>
          <a:bodyPr wrap="square" lIns="0" tIns="0" rIns="0" bIns="0" rtlCol="0" anchor="t"/>
          <a:lstStyle/>
          <a:p>
            <a:pPr indent="0" marL="0">
              <a:buNone/>
            </a:pPr>
            <a:r>
              <a:rPr lang="en-US" sz="1400" b="1" dirty="0">
                <a:solidFill>
                  <a:schemeClr val="tx1"/>
                </a:solidFill>
              </a:rPr>
              <a:t>Log, then reply</a:t>
            </a:r>
            <a:endParaRPr lang="en-US" sz="1400" dirty="0"/>
          </a:p>
        </p:txBody>
      </p:sp>
      <p:sp>
        <p:nvSpPr>
          <p:cNvPr id="23" name="Text 105"/>
          <p:cNvSpPr txBox="1"/>
          <p:nvPr/>
        </p:nvSpPr>
        <p:spPr>
          <a:xfrm>
            <a:off x="9043416" y="2532888"/>
            <a:ext cx="2386584" cy="274320"/>
          </a:xfrm>
          <a:prstGeom prst="rect">
            <a:avLst/>
          </a:prstGeom>
          <a:noFill/>
          <a:ln/>
        </p:spPr>
        <p:txBody>
          <a:bodyPr wrap="square" lIns="0" tIns="0" rIns="0" bIns="0" rtlCol="0" anchor="t"/>
          <a:lstStyle/>
          <a:p>
            <a:pPr indent="0" marL="0">
              <a:buNone/>
            </a:pPr>
            <a:r>
              <a:rPr lang="en-US" sz="1200" dirty="0">
                <a:solidFill>
                  <a:schemeClr val="tx2"/>
                </a:solidFill>
              </a:rPr>
              <a:t>the app open + 3 offers shown</a:t>
            </a:r>
            <a:endParaRPr lang="en-US" sz="1200" dirty="0"/>
          </a:p>
        </p:txBody>
      </p:sp>
      <p:sp>
        <p:nvSpPr>
          <p:cNvPr id="24" name="Arrow 106"/>
          <p:cNvSpPr/>
          <p:nvPr/>
        </p:nvSpPr>
        <p:spPr>
          <a:xfrm>
            <a:off x="2377440" y="2468880"/>
            <a:ext cx="685800" cy="0"/>
          </a:xfrm>
          <a:prstGeom prst="line">
            <a:avLst/>
          </a:prstGeom>
          <a:noFill/>
          <a:ln w="19050">
            <a:solidFill>
              <a:schemeClr val="tx1"/>
            </a:solidFill>
            <a:prstDash val="solid"/>
            <a:tailEnd type="triangle"/>
          </a:ln>
        </p:spPr>
      </p:sp>
      <p:sp>
        <p:nvSpPr>
          <p:cNvPr id="25" name="Arrow 107"/>
          <p:cNvSpPr/>
          <p:nvPr/>
        </p:nvSpPr>
        <p:spPr>
          <a:xfrm>
            <a:off x="5669280" y="2468880"/>
            <a:ext cx="320040" cy="0"/>
          </a:xfrm>
          <a:prstGeom prst="line">
            <a:avLst/>
          </a:prstGeom>
          <a:noFill/>
          <a:ln w="19050">
            <a:solidFill>
              <a:schemeClr val="tx1"/>
            </a:solidFill>
            <a:prstDash val="solid"/>
            <a:tailEnd type="triangle"/>
          </a:ln>
        </p:spPr>
      </p:sp>
      <p:sp>
        <p:nvSpPr>
          <p:cNvPr id="26" name="Arrow 108"/>
          <p:cNvSpPr/>
          <p:nvPr/>
        </p:nvSpPr>
        <p:spPr>
          <a:xfrm>
            <a:off x="8595360" y="2468880"/>
            <a:ext cx="320040" cy="0"/>
          </a:xfrm>
          <a:prstGeom prst="line">
            <a:avLst/>
          </a:prstGeom>
          <a:noFill/>
          <a:ln w="19050">
            <a:solidFill>
              <a:schemeClr val="tx1"/>
            </a:solidFill>
            <a:prstDash val="solid"/>
            <a:tailEnd type="triangle"/>
          </a:ln>
        </p:spPr>
      </p:sp>
      <p:sp>
        <p:nvSpPr>
          <p:cNvPr id="27" name="Database frame 109"/>
          <p:cNvSpPr/>
          <p:nvPr/>
        </p:nvSpPr>
        <p:spPr>
          <a:xfrm>
            <a:off x="2926080" y="3200400"/>
            <a:ext cx="8732520" cy="1042416"/>
          </a:xfrm>
          <a:prstGeom prst="roundRect">
            <a:avLst>
              <a:gd name="adj" fmla="val 7018"/>
            </a:avLst>
          </a:prstGeom>
          <a:ln w="12700">
            <a:solidFill>
              <a:schemeClr val="accent3"/>
            </a:solidFill>
            <a:prstDash val="dash"/>
          </a:ln>
        </p:spPr>
      </p:sp>
      <p:sp>
        <p:nvSpPr>
          <p:cNvPr id="28" name="Text 110"/>
          <p:cNvSpPr txBox="1"/>
          <p:nvPr/>
        </p:nvSpPr>
        <p:spPr>
          <a:xfrm>
            <a:off x="3063240" y="3227832"/>
            <a:ext cx="1005840" cy="256032"/>
          </a:xfrm>
          <a:prstGeom prst="rect">
            <a:avLst/>
          </a:prstGeom>
          <a:noFill/>
          <a:ln/>
        </p:spPr>
        <p:txBody>
          <a:bodyPr wrap="square" lIns="0" tIns="0" rIns="0" bIns="0" rtlCol="0" anchor="t"/>
          <a:lstStyle/>
          <a:p>
            <a:pPr indent="0" marL="0">
              <a:buNone/>
            </a:pPr>
            <a:r>
              <a:rPr lang="en-US" sz="1100" b="1" spc="100" kern="0" dirty="0">
                <a:solidFill>
                  <a:schemeClr val="tx2"/>
                </a:solidFill>
              </a:rPr>
              <a:t>DATABASE</a:t>
            </a:r>
            <a:endParaRPr lang="en-US" sz="1100" dirty="0"/>
          </a:p>
        </p:txBody>
      </p:sp>
      <p:sp>
        <p:nvSpPr>
          <p:cNvPr id="29" name="Store 111"/>
          <p:cNvSpPr/>
          <p:nvPr/>
        </p:nvSpPr>
        <p:spPr>
          <a:xfrm>
            <a:off x="3063240" y="3474720"/>
            <a:ext cx="2606040" cy="658368"/>
          </a:xfrm>
          <a:prstGeom prst="roundRect">
            <a:avLst>
              <a:gd name="adj" fmla="val 8333"/>
            </a:avLst>
          </a:prstGeom>
          <a:solidFill>
            <a:schemeClr val="bg2"/>
          </a:solidFill>
          <a:ln w="12700">
            <a:solidFill>
              <a:schemeClr val="accent3"/>
            </a:solidFill>
            <a:prstDash val="solid"/>
          </a:ln>
        </p:spPr>
      </p:sp>
      <p:sp>
        <p:nvSpPr>
          <p:cNvPr id="30" name="Text 112"/>
          <p:cNvSpPr txBox="1"/>
          <p:nvPr/>
        </p:nvSpPr>
        <p:spPr>
          <a:xfrm>
            <a:off x="3200400" y="3547872"/>
            <a:ext cx="2331720" cy="292608"/>
          </a:xfrm>
          <a:prstGeom prst="rect">
            <a:avLst/>
          </a:prstGeom>
          <a:noFill/>
          <a:ln/>
        </p:spPr>
        <p:txBody>
          <a:bodyPr wrap="square" lIns="0" tIns="0" rIns="0" bIns="0" rtlCol="0" anchor="t"/>
          <a:lstStyle/>
          <a:p>
            <a:pPr indent="0" marL="0">
              <a:buNone/>
            </a:pPr>
            <a:r>
              <a:rPr lang="en-US" sz="1400" b="1" dirty="0">
                <a:solidFill>
                  <a:schemeClr val="tx1"/>
                </a:solidFill>
              </a:rPr>
              <a:t>customers</a:t>
            </a:r>
            <a:endParaRPr lang="en-US" sz="1400" dirty="0"/>
          </a:p>
        </p:txBody>
      </p:sp>
      <p:sp>
        <p:nvSpPr>
          <p:cNvPr id="31" name="Text 113"/>
          <p:cNvSpPr txBox="1"/>
          <p:nvPr/>
        </p:nvSpPr>
        <p:spPr>
          <a:xfrm>
            <a:off x="3200400" y="3840480"/>
            <a:ext cx="2331720" cy="256032"/>
          </a:xfrm>
          <a:prstGeom prst="rect">
            <a:avLst/>
          </a:prstGeom>
          <a:noFill/>
          <a:ln/>
        </p:spPr>
        <p:txBody>
          <a:bodyPr wrap="square" lIns="0" tIns="0" rIns="0" bIns="0" rtlCol="0" anchor="t"/>
          <a:lstStyle/>
          <a:p>
            <a:pPr indent="0" marL="0">
              <a:buNone/>
            </a:pPr>
            <a:r>
              <a:rPr lang="en-US" sz="1200" dirty="0">
                <a:solidFill>
                  <a:schemeClr val="tx2"/>
                </a:solidFill>
              </a:rPr>
              <a:t>5,000 profiles, lookup by id</a:t>
            </a:r>
            <a:endParaRPr lang="en-US" sz="1200" dirty="0"/>
          </a:p>
        </p:txBody>
      </p:sp>
      <p:sp>
        <p:nvSpPr>
          <p:cNvPr id="32" name="Store 114"/>
          <p:cNvSpPr/>
          <p:nvPr/>
        </p:nvSpPr>
        <p:spPr>
          <a:xfrm>
            <a:off x="5989320" y="3474720"/>
            <a:ext cx="2606040" cy="658368"/>
          </a:xfrm>
          <a:prstGeom prst="roundRect">
            <a:avLst>
              <a:gd name="adj" fmla="val 8333"/>
            </a:avLst>
          </a:prstGeom>
          <a:solidFill>
            <a:schemeClr val="accent1"/>
          </a:solidFill>
          <a:ln/>
        </p:spPr>
      </p:sp>
      <p:sp>
        <p:nvSpPr>
          <p:cNvPr id="33" name="Text 115"/>
          <p:cNvSpPr txBox="1"/>
          <p:nvPr/>
        </p:nvSpPr>
        <p:spPr>
          <a:xfrm>
            <a:off x="6126480" y="3547872"/>
            <a:ext cx="2331720" cy="292608"/>
          </a:xfrm>
          <a:prstGeom prst="rect">
            <a:avLst/>
          </a:prstGeom>
          <a:noFill/>
          <a:ln/>
        </p:spPr>
        <p:txBody>
          <a:bodyPr wrap="square" lIns="0" tIns="0" rIns="0" bIns="0" rtlCol="0" anchor="t"/>
          <a:lstStyle/>
          <a:p>
            <a:pPr indent="0" marL="0">
              <a:buNone/>
            </a:pPr>
            <a:r>
              <a:rPr lang="en-US" sz="1400" b="1" dirty="0">
                <a:solidFill>
                  <a:schemeClr val="bg1"/>
                </a:solidFill>
              </a:rPr>
              <a:t>Options store</a:t>
            </a:r>
            <a:endParaRPr lang="en-US" sz="1400" dirty="0"/>
          </a:p>
        </p:txBody>
      </p:sp>
      <p:sp>
        <p:nvSpPr>
          <p:cNvPr id="34" name="Text 116"/>
          <p:cNvSpPr txBox="1"/>
          <p:nvPr/>
        </p:nvSpPr>
        <p:spPr>
          <a:xfrm>
            <a:off x="6126480" y="3840480"/>
            <a:ext cx="2331720" cy="256032"/>
          </a:xfrm>
          <a:prstGeom prst="rect">
            <a:avLst/>
          </a:prstGeom>
          <a:noFill/>
          <a:ln/>
        </p:spPr>
        <p:txBody>
          <a:bodyPr wrap="square" lIns="0" tIns="0" rIns="0" bIns="0" rtlCol="0" anchor="t"/>
          <a:lstStyle/>
          <a:p>
            <a:pPr indent="0" marL="0">
              <a:buNone/>
            </a:pPr>
            <a:r>
              <a:rPr lang="en-US" sz="1200" dirty="0">
                <a:solidFill>
                  <a:schemeClr val="bg2"/>
                </a:solidFill>
              </a:rPr>
              <a:t>a Beta(α, β) per segment × offer</a:t>
            </a:r>
            <a:endParaRPr lang="en-US" sz="1200" dirty="0"/>
          </a:p>
        </p:txBody>
      </p:sp>
      <p:sp>
        <p:nvSpPr>
          <p:cNvPr id="35" name="Store 117"/>
          <p:cNvSpPr/>
          <p:nvPr/>
        </p:nvSpPr>
        <p:spPr>
          <a:xfrm>
            <a:off x="8915400" y="3474720"/>
            <a:ext cx="2606040" cy="658368"/>
          </a:xfrm>
          <a:prstGeom prst="roundRect">
            <a:avLst>
              <a:gd name="adj" fmla="val 8333"/>
            </a:avLst>
          </a:prstGeom>
          <a:solidFill>
            <a:schemeClr val="bg2"/>
          </a:solidFill>
          <a:ln w="12700">
            <a:solidFill>
              <a:schemeClr val="accent3"/>
            </a:solidFill>
            <a:prstDash val="solid"/>
          </a:ln>
        </p:spPr>
      </p:sp>
      <p:sp>
        <p:nvSpPr>
          <p:cNvPr id="36" name="Text 118"/>
          <p:cNvSpPr txBox="1"/>
          <p:nvPr/>
        </p:nvSpPr>
        <p:spPr>
          <a:xfrm>
            <a:off x="9052560" y="3547872"/>
            <a:ext cx="2331720" cy="292608"/>
          </a:xfrm>
          <a:prstGeom prst="rect">
            <a:avLst/>
          </a:prstGeom>
          <a:noFill/>
          <a:ln/>
        </p:spPr>
        <p:txBody>
          <a:bodyPr wrap="square" lIns="0" tIns="0" rIns="0" bIns="0" rtlCol="0" anchor="t"/>
          <a:lstStyle/>
          <a:p>
            <a:pPr indent="0" marL="0">
              <a:buNone/>
            </a:pPr>
            <a:r>
              <a:rPr lang="en-US" sz="1400" b="1" dirty="0">
                <a:solidFill>
                  <a:schemeClr val="tx1"/>
                </a:solidFill>
              </a:rPr>
              <a:t>Event log</a:t>
            </a:r>
            <a:endParaRPr lang="en-US" sz="1400" dirty="0"/>
          </a:p>
        </p:txBody>
      </p:sp>
      <p:sp>
        <p:nvSpPr>
          <p:cNvPr id="37" name="Text 119"/>
          <p:cNvSpPr txBox="1"/>
          <p:nvPr/>
        </p:nvSpPr>
        <p:spPr>
          <a:xfrm>
            <a:off x="9052560" y="3840480"/>
            <a:ext cx="2331720" cy="256032"/>
          </a:xfrm>
          <a:prstGeom prst="rect">
            <a:avLst/>
          </a:prstGeom>
          <a:noFill/>
          <a:ln/>
        </p:spPr>
        <p:txBody>
          <a:bodyPr wrap="square" lIns="0" tIns="0" rIns="0" bIns="0" rtlCol="0" anchor="t"/>
          <a:lstStyle/>
          <a:p>
            <a:pPr indent="0" marL="0">
              <a:buNone/>
            </a:pPr>
            <a:r>
              <a:rPr lang="en-US" sz="1200" dirty="0">
                <a:solidFill>
                  <a:schemeClr val="tx2"/>
                </a:solidFill>
              </a:rPr>
              <a:t>every app open, offer, response</a:t>
            </a:r>
            <a:endParaRPr lang="en-US" sz="1200" dirty="0"/>
          </a:p>
        </p:txBody>
      </p:sp>
      <p:sp>
        <p:nvSpPr>
          <p:cNvPr id="38" name="Arrow 120"/>
          <p:cNvSpPr/>
          <p:nvPr/>
        </p:nvSpPr>
        <p:spPr>
          <a:xfrm flipV="1">
            <a:off x="4366260" y="2880360"/>
            <a:ext cx="0" cy="594360"/>
          </a:xfrm>
          <a:prstGeom prst="line">
            <a:avLst/>
          </a:prstGeom>
          <a:noFill/>
          <a:ln w="15875">
            <a:solidFill>
              <a:schemeClr val="accent3"/>
            </a:solidFill>
            <a:prstDash val="solid"/>
            <a:tailEnd type="triangle"/>
          </a:ln>
        </p:spPr>
      </p:sp>
      <p:sp>
        <p:nvSpPr>
          <p:cNvPr id="39" name="Text 121"/>
          <p:cNvSpPr txBox="1"/>
          <p:nvPr/>
        </p:nvSpPr>
        <p:spPr>
          <a:xfrm>
            <a:off x="4439412" y="2898648"/>
            <a:ext cx="1280160" cy="256032"/>
          </a:xfrm>
          <a:prstGeom prst="rect">
            <a:avLst/>
          </a:prstGeom>
          <a:noFill/>
          <a:ln/>
        </p:spPr>
        <p:txBody>
          <a:bodyPr wrap="square" lIns="0" tIns="0" rIns="0" bIns="0" rtlCol="0" anchor="t"/>
          <a:lstStyle/>
          <a:p>
            <a:pPr indent="0" marL="0">
              <a:buNone/>
            </a:pPr>
            <a:r>
              <a:rPr lang="en-US" sz="1200" dirty="0">
                <a:solidFill>
                  <a:schemeClr val="tx2"/>
                </a:solidFill>
              </a:rPr>
              <a:t>reads profile</a:t>
            </a:r>
            <a:endParaRPr lang="en-US" sz="1200" dirty="0"/>
          </a:p>
        </p:txBody>
      </p:sp>
      <p:sp>
        <p:nvSpPr>
          <p:cNvPr id="40" name="Arrow 122"/>
          <p:cNvSpPr/>
          <p:nvPr/>
        </p:nvSpPr>
        <p:spPr>
          <a:xfrm flipV="1">
            <a:off x="7292340" y="2880360"/>
            <a:ext cx="0" cy="594360"/>
          </a:xfrm>
          <a:prstGeom prst="line">
            <a:avLst/>
          </a:prstGeom>
          <a:noFill/>
          <a:ln w="34925">
            <a:solidFill>
              <a:schemeClr val="accent1"/>
            </a:solidFill>
            <a:prstDash val="solid"/>
            <a:tailEnd type="triangle"/>
          </a:ln>
        </p:spPr>
      </p:sp>
      <p:sp>
        <p:nvSpPr>
          <p:cNvPr id="41" name="Text 123"/>
          <p:cNvSpPr txBox="1"/>
          <p:nvPr/>
        </p:nvSpPr>
        <p:spPr>
          <a:xfrm>
            <a:off x="7383780" y="2898648"/>
            <a:ext cx="1280160" cy="256032"/>
          </a:xfrm>
          <a:prstGeom prst="rect">
            <a:avLst/>
          </a:prstGeom>
          <a:noFill/>
          <a:ln/>
        </p:spPr>
        <p:txBody>
          <a:bodyPr wrap="square" lIns="0" tIns="0" rIns="0" bIns="0" rtlCol="0" anchor="t"/>
          <a:lstStyle/>
          <a:p>
            <a:pPr indent="0" marL="0">
              <a:buNone/>
            </a:pPr>
            <a:r>
              <a:rPr lang="en-US" sz="1200" b="1" dirty="0">
                <a:solidFill>
                  <a:schemeClr val="accent1"/>
                </a:solidFill>
              </a:rPr>
              <a:t>reads beliefs</a:t>
            </a:r>
            <a:endParaRPr lang="en-US" sz="1200" dirty="0"/>
          </a:p>
        </p:txBody>
      </p:sp>
      <p:sp>
        <p:nvSpPr>
          <p:cNvPr id="42" name="Arrow 124"/>
          <p:cNvSpPr/>
          <p:nvPr/>
        </p:nvSpPr>
        <p:spPr>
          <a:xfrm>
            <a:off x="10218420" y="2880360"/>
            <a:ext cx="0" cy="594360"/>
          </a:xfrm>
          <a:prstGeom prst="line">
            <a:avLst/>
          </a:prstGeom>
          <a:noFill/>
          <a:ln w="15875">
            <a:solidFill>
              <a:schemeClr val="accent3"/>
            </a:solidFill>
            <a:prstDash val="solid"/>
            <a:tailEnd type="triangle"/>
          </a:ln>
        </p:spPr>
      </p:sp>
      <p:sp>
        <p:nvSpPr>
          <p:cNvPr id="43" name="Text 125"/>
          <p:cNvSpPr txBox="1"/>
          <p:nvPr/>
        </p:nvSpPr>
        <p:spPr>
          <a:xfrm>
            <a:off x="10291572" y="2898648"/>
            <a:ext cx="731520" cy="256032"/>
          </a:xfrm>
          <a:prstGeom prst="rect">
            <a:avLst/>
          </a:prstGeom>
          <a:noFill/>
          <a:ln/>
        </p:spPr>
        <p:txBody>
          <a:bodyPr wrap="square" lIns="0" tIns="0" rIns="0" bIns="0" rtlCol="0" anchor="t"/>
          <a:lstStyle/>
          <a:p>
            <a:pPr indent="0" marL="0">
              <a:buNone/>
            </a:pPr>
            <a:r>
              <a:rPr lang="en-US" sz="1200" dirty="0">
                <a:solidFill>
                  <a:schemeClr val="tx2"/>
                </a:solidFill>
              </a:rPr>
              <a:t>writes</a:t>
            </a:r>
            <a:endParaRPr lang="en-US" sz="1200" dirty="0"/>
          </a:p>
        </p:txBody>
      </p:sp>
      <p:sp>
        <p:nvSpPr>
          <p:cNvPr id="44" name="Arrow 126"/>
          <p:cNvSpPr/>
          <p:nvPr/>
        </p:nvSpPr>
        <p:spPr>
          <a:xfrm>
            <a:off x="2011680" y="2880360"/>
            <a:ext cx="0" cy="1783080"/>
          </a:xfrm>
          <a:prstGeom prst="line">
            <a:avLst/>
          </a:prstGeom>
          <a:noFill/>
          <a:ln w="15875">
            <a:solidFill>
              <a:schemeClr val="accent3"/>
            </a:solidFill>
            <a:prstDash val="solid"/>
            <a:tailEnd type="triangle"/>
          </a:ln>
        </p:spPr>
      </p:sp>
      <p:sp>
        <p:nvSpPr>
          <p:cNvPr id="45" name="Text 127"/>
          <p:cNvSpPr txBox="1"/>
          <p:nvPr/>
        </p:nvSpPr>
        <p:spPr>
          <a:xfrm>
            <a:off x="640080" y="3611880"/>
            <a:ext cx="1298448" cy="256032"/>
          </a:xfrm>
          <a:prstGeom prst="rect">
            <a:avLst/>
          </a:prstGeom>
          <a:noFill/>
          <a:ln/>
        </p:spPr>
        <p:txBody>
          <a:bodyPr wrap="square" lIns="0" tIns="0" rIns="0" bIns="0" rtlCol="0" anchor="t"/>
          <a:lstStyle/>
          <a:p>
            <a:pPr algn="r" indent="0" marL="0">
              <a:buNone/>
            </a:pPr>
            <a:r>
              <a:rPr lang="en-US" sz="1200" dirty="0">
                <a:solidFill>
                  <a:schemeClr val="tx2"/>
                </a:solidFill>
              </a:rPr>
              <a:t>sees the top 3</a:t>
            </a:r>
            <a:endParaRPr lang="en-US" sz="1200" dirty="0"/>
          </a:p>
        </p:txBody>
      </p:sp>
      <p:sp>
        <p:nvSpPr>
          <p:cNvPr id="46" name="Step box 128"/>
          <p:cNvSpPr/>
          <p:nvPr/>
        </p:nvSpPr>
        <p:spPr>
          <a:xfrm>
            <a:off x="548640" y="4663440"/>
            <a:ext cx="1828800" cy="822960"/>
          </a:xfrm>
          <a:prstGeom prst="roundRect">
            <a:avLst>
              <a:gd name="adj" fmla="val 6667"/>
            </a:avLst>
          </a:prstGeom>
          <a:solidFill>
            <a:schemeClr val="bg2"/>
          </a:solidFill>
          <a:ln w="15875">
            <a:solidFill>
              <a:schemeClr val="tx1"/>
            </a:solidFill>
            <a:prstDash val="solid"/>
          </a:ln>
        </p:spPr>
      </p:sp>
      <p:sp>
        <p:nvSpPr>
          <p:cNvPr id="47" name="Step 129"/>
          <p:cNvSpPr txBox="1"/>
          <p:nvPr/>
        </p:nvSpPr>
        <p:spPr>
          <a:xfrm>
            <a:off x="676656" y="4782312"/>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48" name="Text 130"/>
          <p:cNvSpPr txBox="1"/>
          <p:nvPr/>
        </p:nvSpPr>
        <p:spPr>
          <a:xfrm>
            <a:off x="1078992" y="4764024"/>
            <a:ext cx="1207008" cy="329184"/>
          </a:xfrm>
          <a:prstGeom prst="rect">
            <a:avLst/>
          </a:prstGeom>
          <a:noFill/>
          <a:ln/>
        </p:spPr>
        <p:txBody>
          <a:bodyPr wrap="square" lIns="0" tIns="0" rIns="0" bIns="0" rtlCol="0" anchor="t"/>
          <a:lstStyle/>
          <a:p>
            <a:pPr indent="0" marL="0">
              <a:buNone/>
            </a:pPr>
            <a:r>
              <a:rPr lang="en-US" sz="1400" b="1" dirty="0">
                <a:solidFill>
                  <a:schemeClr val="tx1"/>
                </a:solidFill>
              </a:rPr>
              <a:t>Responds</a:t>
            </a:r>
            <a:endParaRPr lang="en-US" sz="1400" dirty="0"/>
          </a:p>
        </p:txBody>
      </p:sp>
      <p:sp>
        <p:nvSpPr>
          <p:cNvPr id="49" name="Text 131"/>
          <p:cNvSpPr txBox="1"/>
          <p:nvPr/>
        </p:nvSpPr>
        <p:spPr>
          <a:xfrm>
            <a:off x="676656" y="5138928"/>
            <a:ext cx="1609344" cy="274320"/>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POST /response</a:t>
            </a:r>
            <a:endParaRPr lang="en-US" sz="1100" dirty="0"/>
          </a:p>
        </p:txBody>
      </p:sp>
      <p:sp>
        <p:nvSpPr>
          <p:cNvPr id="50" name="Step box 132"/>
          <p:cNvSpPr/>
          <p:nvPr/>
        </p:nvSpPr>
        <p:spPr>
          <a:xfrm>
            <a:off x="8915400" y="4663440"/>
            <a:ext cx="2606040" cy="822960"/>
          </a:xfrm>
          <a:prstGeom prst="roundRect">
            <a:avLst>
              <a:gd name="adj" fmla="val 6667"/>
            </a:avLst>
          </a:prstGeom>
          <a:solidFill>
            <a:schemeClr val="bg1"/>
          </a:solidFill>
          <a:ln w="15875">
            <a:solidFill>
              <a:schemeClr val="tx1"/>
            </a:solidFill>
            <a:prstDash val="solid"/>
          </a:ln>
        </p:spPr>
      </p:sp>
      <p:sp>
        <p:nvSpPr>
          <p:cNvPr id="51" name="Step 133"/>
          <p:cNvSpPr txBox="1"/>
          <p:nvPr/>
        </p:nvSpPr>
        <p:spPr>
          <a:xfrm>
            <a:off x="9043416" y="4782312"/>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52" name="Text 134"/>
          <p:cNvSpPr txBox="1"/>
          <p:nvPr/>
        </p:nvSpPr>
        <p:spPr>
          <a:xfrm>
            <a:off x="9445752" y="4764024"/>
            <a:ext cx="1984248" cy="329184"/>
          </a:xfrm>
          <a:prstGeom prst="rect">
            <a:avLst/>
          </a:prstGeom>
          <a:noFill/>
          <a:ln/>
        </p:spPr>
        <p:txBody>
          <a:bodyPr wrap="square" lIns="0" tIns="0" rIns="0" bIns="0" rtlCol="0" anchor="t"/>
          <a:lstStyle/>
          <a:p>
            <a:pPr indent="0" marL="0">
              <a:buNone/>
            </a:pPr>
            <a:r>
              <a:rPr lang="en-US" sz="1400" b="1" dirty="0">
                <a:solidFill>
                  <a:schemeClr val="tx1"/>
                </a:solidFill>
              </a:rPr>
              <a:t>Score, log once</a:t>
            </a:r>
            <a:endParaRPr lang="en-US" sz="1400" dirty="0"/>
          </a:p>
        </p:txBody>
      </p:sp>
      <p:sp>
        <p:nvSpPr>
          <p:cNvPr id="53" name="Text 135"/>
          <p:cNvSpPr txBox="1"/>
          <p:nvPr/>
        </p:nvSpPr>
        <p:spPr>
          <a:xfrm>
            <a:off x="9043416" y="5138928"/>
            <a:ext cx="2386584" cy="274320"/>
          </a:xfrm>
          <a:prstGeom prst="rect">
            <a:avLst/>
          </a:prstGeom>
          <a:noFill/>
          <a:ln/>
        </p:spPr>
        <p:txBody>
          <a:bodyPr wrap="square" lIns="0" tIns="0" rIns="0" bIns="0" rtlCol="0" anchor="t"/>
          <a:lstStyle/>
          <a:p>
            <a:pPr indent="0" marL="0">
              <a:buNone/>
            </a:pPr>
            <a:r>
              <a:rPr lang="en-US" sz="1200" dirty="0">
                <a:solidFill>
                  <a:schemeClr val="tx2"/>
                </a:solidFill>
              </a:rPr>
              <a:t>1 · 0 · none; a repeat gets 409</a:t>
            </a:r>
            <a:endParaRPr lang="en-US" sz="1200" dirty="0"/>
          </a:p>
        </p:txBody>
      </p:sp>
      <p:sp>
        <p:nvSpPr>
          <p:cNvPr id="54" name="Step box 136"/>
          <p:cNvSpPr/>
          <p:nvPr/>
        </p:nvSpPr>
        <p:spPr>
          <a:xfrm>
            <a:off x="5989320" y="4663440"/>
            <a:ext cx="2606040" cy="822960"/>
          </a:xfrm>
          <a:prstGeom prst="roundRect">
            <a:avLst>
              <a:gd name="adj" fmla="val 6667"/>
            </a:avLst>
          </a:prstGeom>
          <a:solidFill>
            <a:schemeClr val="bg1"/>
          </a:solidFill>
          <a:ln w="15875">
            <a:solidFill>
              <a:schemeClr val="tx1"/>
            </a:solidFill>
            <a:prstDash val="solid"/>
          </a:ln>
        </p:spPr>
      </p:sp>
      <p:sp>
        <p:nvSpPr>
          <p:cNvPr id="55" name="Step 137"/>
          <p:cNvSpPr txBox="1"/>
          <p:nvPr/>
        </p:nvSpPr>
        <p:spPr>
          <a:xfrm>
            <a:off x="6117336" y="4782312"/>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56" name="Text 138"/>
          <p:cNvSpPr txBox="1"/>
          <p:nvPr/>
        </p:nvSpPr>
        <p:spPr>
          <a:xfrm>
            <a:off x="6519672" y="4764024"/>
            <a:ext cx="1984248" cy="329184"/>
          </a:xfrm>
          <a:prstGeom prst="rect">
            <a:avLst/>
          </a:prstGeom>
          <a:noFill/>
          <a:ln/>
        </p:spPr>
        <p:txBody>
          <a:bodyPr wrap="square" lIns="0" tIns="0" rIns="0" bIns="0" rtlCol="0" anchor="t"/>
          <a:lstStyle/>
          <a:p>
            <a:pPr indent="0" marL="0">
              <a:buNone/>
            </a:pPr>
            <a:r>
              <a:rPr lang="en-US" sz="1400" b="1" dirty="0">
                <a:solidFill>
                  <a:schemeClr val="tx1"/>
                </a:solidFill>
              </a:rPr>
              <a:t>Learn and forget</a:t>
            </a:r>
            <a:endParaRPr lang="en-US" sz="1400" dirty="0"/>
          </a:p>
        </p:txBody>
      </p:sp>
      <p:sp>
        <p:nvSpPr>
          <p:cNvPr id="57" name="Text 139"/>
          <p:cNvSpPr txBox="1"/>
          <p:nvPr/>
        </p:nvSpPr>
        <p:spPr>
          <a:xfrm>
            <a:off x="6117336" y="5138928"/>
            <a:ext cx="2386584" cy="274320"/>
          </a:xfrm>
          <a:prstGeom prst="rect">
            <a:avLst/>
          </a:prstGeom>
          <a:noFill/>
          <a:ln/>
        </p:spPr>
        <p:txBody>
          <a:bodyPr wrap="square" lIns="0" tIns="0" rIns="0" bIns="0" rtlCol="0" anchor="t"/>
          <a:lstStyle/>
          <a:p>
            <a:pPr indent="0" marL="0">
              <a:buNone/>
            </a:pPr>
            <a:r>
              <a:rPr lang="en-US" sz="1200" dirty="0">
                <a:solidFill>
                  <a:schemeClr val="tx2"/>
                </a:solidFill>
              </a:rPr>
              <a:t>segment × 0.9998, then + reward</a:t>
            </a:r>
            <a:endParaRPr lang="en-US" sz="1200" dirty="0"/>
          </a:p>
        </p:txBody>
      </p:sp>
      <p:sp>
        <p:nvSpPr>
          <p:cNvPr id="58" name="Arrow 140"/>
          <p:cNvSpPr/>
          <p:nvPr/>
        </p:nvSpPr>
        <p:spPr>
          <a:xfrm flipH="1">
            <a:off x="8595360" y="5074920"/>
            <a:ext cx="320040" cy="0"/>
          </a:xfrm>
          <a:prstGeom prst="line">
            <a:avLst/>
          </a:prstGeom>
          <a:noFill/>
          <a:ln w="19050">
            <a:solidFill>
              <a:schemeClr val="tx1"/>
            </a:solidFill>
            <a:prstDash val="solid"/>
            <a:tailEnd type="triangle"/>
          </a:ln>
        </p:spPr>
      </p:sp>
      <p:sp>
        <p:nvSpPr>
          <p:cNvPr id="59" name="Arrow 141"/>
          <p:cNvSpPr/>
          <p:nvPr/>
        </p:nvSpPr>
        <p:spPr>
          <a:xfrm flipV="1">
            <a:off x="7292340" y="4133088"/>
            <a:ext cx="0" cy="530352"/>
          </a:xfrm>
          <a:prstGeom prst="line">
            <a:avLst/>
          </a:prstGeom>
          <a:noFill/>
          <a:ln w="34925">
            <a:solidFill>
              <a:schemeClr val="accent1"/>
            </a:solidFill>
            <a:prstDash val="solid"/>
            <a:tailEnd type="triangle"/>
          </a:ln>
        </p:spPr>
      </p:sp>
      <p:sp>
        <p:nvSpPr>
          <p:cNvPr id="60" name="Text 142"/>
          <p:cNvSpPr txBox="1"/>
          <p:nvPr/>
        </p:nvSpPr>
        <p:spPr>
          <a:xfrm>
            <a:off x="5628132" y="4343400"/>
            <a:ext cx="1572768" cy="256032"/>
          </a:xfrm>
          <a:prstGeom prst="rect">
            <a:avLst/>
          </a:prstGeom>
          <a:noFill/>
          <a:ln/>
        </p:spPr>
        <p:txBody>
          <a:bodyPr wrap="square" lIns="0" tIns="0" rIns="0" bIns="0" rtlCol="0" anchor="t"/>
          <a:lstStyle/>
          <a:p>
            <a:pPr algn="r" indent="0" marL="0">
              <a:buNone/>
            </a:pPr>
            <a:r>
              <a:rPr lang="en-US" sz="1200" b="1" dirty="0">
                <a:solidFill>
                  <a:schemeClr val="accent1"/>
                </a:solidFill>
              </a:rPr>
              <a:t>updates the belief</a:t>
            </a:r>
            <a:endParaRPr lang="en-US" sz="1200" dirty="0"/>
          </a:p>
        </p:txBody>
      </p:sp>
      <p:sp>
        <p:nvSpPr>
          <p:cNvPr id="61" name="Arrow 143"/>
          <p:cNvSpPr/>
          <p:nvPr/>
        </p:nvSpPr>
        <p:spPr>
          <a:xfrm>
            <a:off x="9875520" y="4133088"/>
            <a:ext cx="0" cy="530352"/>
          </a:xfrm>
          <a:prstGeom prst="line">
            <a:avLst/>
          </a:prstGeom>
          <a:noFill/>
          <a:ln w="15875">
            <a:solidFill>
              <a:schemeClr val="accent3"/>
            </a:solidFill>
            <a:prstDash val="solid"/>
            <a:tailEnd type="triangle"/>
          </a:ln>
        </p:spPr>
      </p:sp>
      <p:sp>
        <p:nvSpPr>
          <p:cNvPr id="62" name="Text 144"/>
          <p:cNvSpPr txBox="1"/>
          <p:nvPr/>
        </p:nvSpPr>
        <p:spPr>
          <a:xfrm>
            <a:off x="8412480" y="4343400"/>
            <a:ext cx="1389888" cy="256032"/>
          </a:xfrm>
          <a:prstGeom prst="rect">
            <a:avLst/>
          </a:prstGeom>
          <a:noFill/>
          <a:ln/>
        </p:spPr>
        <p:txBody>
          <a:bodyPr wrap="square" lIns="0" tIns="0" rIns="0" bIns="0" rtlCol="0" anchor="t"/>
          <a:lstStyle/>
          <a:p>
            <a:pPr algn="r" indent="0" marL="0">
              <a:buNone/>
            </a:pPr>
            <a:r>
              <a:rPr lang="en-US" sz="1200" dirty="0">
                <a:solidFill>
                  <a:schemeClr val="tx2"/>
                </a:solidFill>
              </a:rPr>
              <a:t>reads context</a:t>
            </a:r>
            <a:endParaRPr lang="en-US" sz="1200" dirty="0"/>
          </a:p>
        </p:txBody>
      </p:sp>
      <p:sp>
        <p:nvSpPr>
          <p:cNvPr id="63" name="Arrow 145"/>
          <p:cNvSpPr/>
          <p:nvPr/>
        </p:nvSpPr>
        <p:spPr>
          <a:xfrm flipV="1">
            <a:off x="10607040" y="4133088"/>
            <a:ext cx="0" cy="530352"/>
          </a:xfrm>
          <a:prstGeom prst="line">
            <a:avLst/>
          </a:prstGeom>
          <a:noFill/>
          <a:ln w="15875">
            <a:solidFill>
              <a:schemeClr val="accent3"/>
            </a:solidFill>
            <a:prstDash val="solid"/>
            <a:tailEnd type="triangle"/>
          </a:ln>
        </p:spPr>
      </p:sp>
      <p:sp>
        <p:nvSpPr>
          <p:cNvPr id="64" name="Text 146"/>
          <p:cNvSpPr txBox="1"/>
          <p:nvPr/>
        </p:nvSpPr>
        <p:spPr>
          <a:xfrm>
            <a:off x="10680192" y="4343400"/>
            <a:ext cx="960120" cy="256032"/>
          </a:xfrm>
          <a:prstGeom prst="rect">
            <a:avLst/>
          </a:prstGeom>
          <a:noFill/>
          <a:ln/>
        </p:spPr>
        <p:txBody>
          <a:bodyPr wrap="square" lIns="0" tIns="0" rIns="0" bIns="0" rtlCol="0" anchor="t"/>
          <a:lstStyle/>
          <a:p>
            <a:pPr indent="0" marL="0">
              <a:buNone/>
            </a:pPr>
            <a:r>
              <a:rPr lang="en-US" sz="1200" dirty="0">
                <a:solidFill>
                  <a:schemeClr val="tx2"/>
                </a:solidFill>
              </a:rPr>
              <a:t>writes once</a:t>
            </a:r>
            <a:endParaRPr lang="en-US" sz="1200" dirty="0"/>
          </a:p>
        </p:txBody>
      </p:sp>
      <p:sp>
        <p:nvSpPr>
          <p:cNvPr id="65" name="Arrow 147"/>
          <p:cNvSpPr/>
          <p:nvPr/>
        </p:nvSpPr>
        <p:spPr>
          <a:xfrm>
            <a:off x="1463040" y="5486400"/>
            <a:ext cx="0" cy="274320"/>
          </a:xfrm>
          <a:prstGeom prst="line">
            <a:avLst/>
          </a:prstGeom>
          <a:noFill/>
          <a:ln w="19050">
            <a:solidFill>
              <a:schemeClr val="tx1"/>
            </a:solidFill>
            <a:prstDash val="solid"/>
          </a:ln>
        </p:spPr>
      </p:sp>
      <p:sp>
        <p:nvSpPr>
          <p:cNvPr id="66" name="Arrow 148"/>
          <p:cNvSpPr/>
          <p:nvPr/>
        </p:nvSpPr>
        <p:spPr>
          <a:xfrm>
            <a:off x="1463040" y="5760720"/>
            <a:ext cx="8755380" cy="0"/>
          </a:xfrm>
          <a:prstGeom prst="line">
            <a:avLst/>
          </a:prstGeom>
          <a:noFill/>
          <a:ln w="19050">
            <a:solidFill>
              <a:schemeClr val="tx1"/>
            </a:solidFill>
            <a:prstDash val="solid"/>
          </a:ln>
        </p:spPr>
      </p:sp>
      <p:sp>
        <p:nvSpPr>
          <p:cNvPr id="67" name="Arrow 149"/>
          <p:cNvSpPr/>
          <p:nvPr/>
        </p:nvSpPr>
        <p:spPr>
          <a:xfrm flipV="1">
            <a:off x="10218420" y="5486400"/>
            <a:ext cx="0" cy="274320"/>
          </a:xfrm>
          <a:prstGeom prst="line">
            <a:avLst/>
          </a:prstGeom>
          <a:noFill/>
          <a:ln w="19050">
            <a:solidFill>
              <a:schemeClr val="tx1"/>
            </a:solidFill>
            <a:prstDash val="solid"/>
            <a:tailEnd type="triangle"/>
          </a:ln>
        </p:spPr>
      </p:sp>
      <p:sp>
        <p:nvSpPr>
          <p:cNvPr id="68" name="Text 150"/>
          <p:cNvSpPr txBox="1"/>
          <p:nvPr/>
        </p:nvSpPr>
        <p:spPr>
          <a:xfrm>
            <a:off x="3291840" y="5815584"/>
            <a:ext cx="5486400" cy="256032"/>
          </a:xfrm>
          <a:prstGeom prst="rect">
            <a:avLst/>
          </a:prstGeom>
          <a:noFill/>
          <a:ln/>
        </p:spPr>
        <p:txBody>
          <a:bodyPr wrap="square" lIns="0" tIns="0" rIns="0" bIns="0" rtlCol="0" anchor="t"/>
          <a:lstStyle/>
          <a:p>
            <a:pPr algn="ctr" indent="0" marL="0">
              <a:buNone/>
            </a:pPr>
            <a:r>
              <a:rPr lang="en-US" sz="1100" dirty="0">
                <a:solidFill>
                  <a:schemeClr val="tx1"/>
                </a:solidFill>
                <a:latin typeface="Consolas" pitchFamily="34" charset="0"/>
                <a:ea typeface="Consolas" pitchFamily="34" charset="-122"/>
                <a:cs typeface="Consolas" pitchFamily="34" charset="-120"/>
              </a:rPr>
              <a:t>POST /response · invocation_id, offer_id, outcome</a:t>
            </a:r>
            <a:endParaRPr lang="en-US" sz="1100" dirty="0"/>
          </a:p>
        </p:txBody>
      </p:sp>
      <p:sp>
        <p:nvSpPr>
          <p:cNvPr id="69" name="Text 151"/>
          <p:cNvSpPr txBox="1"/>
          <p:nvPr/>
        </p:nvSpPr>
        <p:spPr>
          <a:xfrm>
            <a:off x="3063240" y="4773168"/>
            <a:ext cx="2606040" cy="640080"/>
          </a:xfrm>
          <a:prstGeom prst="rect">
            <a:avLst/>
          </a:prstGeom>
          <a:noFill/>
          <a:ln/>
        </p:spPr>
        <p:txBody>
          <a:bodyPr wrap="square" lIns="0" tIns="0" rIns="0" bIns="0" rtlCol="0" anchor="ctr"/>
          <a:lstStyle/>
          <a:p>
            <a:pPr indent="0" marL="0">
              <a:buNone/>
            </a:pPr>
            <a:r>
              <a:rPr lang="en-US" sz="1300" i="1" dirty="0">
                <a:solidFill>
                  <a:schemeClr val="accent1"/>
                </a:solidFill>
              </a:rPr>
              <a:t>The options store carries what one customer taught to the next, on every API worker.</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LEARNING OVER TIME  ·  ONE RUN OF 50,000 APP OPENS</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It overtakes early and keeps pulling away</a:t>
            </a:r>
            <a:endParaRPr lang="en-US" sz="3600" dirty="0"/>
          </a:p>
        </p:txBody>
      </p:sp>
      <p:sp>
        <p:nvSpPr>
          <p:cNvPr id="4" name="Text 152"/>
          <p:cNvSpPr txBox="1"/>
          <p:nvPr/>
        </p:nvSpPr>
        <p:spPr>
          <a:xfrm>
            <a:off x="548640" y="1600200"/>
            <a:ext cx="6949440" cy="274320"/>
          </a:xfrm>
          <a:prstGeom prst="rect">
            <a:avLst/>
          </a:prstGeom>
          <a:noFill/>
          <a:ln/>
        </p:spPr>
        <p:txBody>
          <a:bodyPr wrap="square" lIns="0" tIns="0" rIns="0" bIns="0" rtlCol="0" anchor="t"/>
          <a:lstStyle/>
          <a:p>
            <a:pPr indent="0" marL="0">
              <a:buNone/>
            </a:pPr>
            <a:r>
              <a:rPr lang="en-US" sz="1300" dirty="0">
                <a:solidFill>
                  <a:schemeClr val="tx2"/>
                </a:solidFill>
              </a:rPr>
              <a:t>Extra take-ups won over the fixed ranking, cumulative (expected values, first of the 10 runs)</a:t>
            </a:r>
            <a:endParaRPr lang="en-US" sz="1300" dirty="0"/>
          </a:p>
        </p:txBody>
      </p:sp>
      <p:graphicFrame>
        <p:nvGraphicFramePr>
          <p:cNvPr id="5" name="Learning curve chart" descr=""/>
          <p:cNvGraphicFramePr/>
          <p:nvPr/>
        </p:nvGraphicFramePr>
        <p:xfrm>
          <a:off x="548640" y="1965960"/>
          <a:ext cx="6949440" cy="4114800"/>
        </p:xfrm>
        <a:graphic xmlns:a="http://schemas.openxmlformats.org/drawingml/2006/main">
          <a:graphicData uri="http://schemas.openxmlformats.org/drawingml/2006/chart">
            <c:chart xmlns:c="http://schemas.openxmlformats.org/drawingml/2006/chart" r:id="rId1"/>
          </a:graphicData>
        </a:graphic>
      </p:graphicFrame>
      <p:sp>
        <p:nvSpPr>
          <p:cNvPr id="6" name="Arrow 153"/>
          <p:cNvSpPr/>
          <p:nvPr/>
        </p:nvSpPr>
        <p:spPr>
          <a:xfrm>
            <a:off x="757123" y="5347934"/>
            <a:ext cx="6532474" cy="0"/>
          </a:xfrm>
          <a:prstGeom prst="line">
            <a:avLst/>
          </a:prstGeom>
          <a:noFill/>
          <a:ln w="12700">
            <a:solidFill>
              <a:schemeClr val="accent3"/>
            </a:solidFill>
            <a:prstDash val="dash"/>
          </a:ln>
        </p:spPr>
      </p:sp>
      <p:sp>
        <p:nvSpPr>
          <p:cNvPr id="7" name="Text 154"/>
          <p:cNvSpPr txBox="1"/>
          <p:nvPr/>
        </p:nvSpPr>
        <p:spPr>
          <a:xfrm>
            <a:off x="5826557" y="5073614"/>
            <a:ext cx="1417320" cy="237744"/>
          </a:xfrm>
          <a:prstGeom prst="rect">
            <a:avLst/>
          </a:prstGeom>
          <a:noFill/>
          <a:ln/>
        </p:spPr>
        <p:txBody>
          <a:bodyPr wrap="square" lIns="0" tIns="0" rIns="0" bIns="0" rtlCol="0" anchor="t"/>
          <a:lstStyle/>
          <a:p>
            <a:pPr algn="r" indent="0" marL="0">
              <a:buNone/>
            </a:pPr>
            <a:r>
              <a:rPr lang="en-US" sz="1100" dirty="0">
                <a:solidFill>
                  <a:schemeClr val="tx2"/>
                </a:solidFill>
              </a:rPr>
              <a:t>the fixed ranking</a:t>
            </a:r>
            <a:endParaRPr lang="en-US" sz="1100" dirty="0"/>
          </a:p>
        </p:txBody>
      </p:sp>
      <p:sp>
        <p:nvSpPr>
          <p:cNvPr id="8" name="Arrow 155"/>
          <p:cNvSpPr/>
          <p:nvPr/>
        </p:nvSpPr>
        <p:spPr>
          <a:xfrm>
            <a:off x="4023360" y="2212848"/>
            <a:ext cx="0" cy="3291840"/>
          </a:xfrm>
          <a:prstGeom prst="line">
            <a:avLst/>
          </a:prstGeom>
          <a:noFill/>
          <a:ln w="19050">
            <a:solidFill>
              <a:schemeClr val="accent6"/>
            </a:solidFill>
            <a:prstDash val="dash"/>
          </a:ln>
        </p:spPr>
      </p:sp>
      <p:sp>
        <p:nvSpPr>
          <p:cNvPr id="9" name="Text 156"/>
          <p:cNvSpPr txBox="1"/>
          <p:nvPr/>
        </p:nvSpPr>
        <p:spPr>
          <a:xfrm>
            <a:off x="4096512" y="2212848"/>
            <a:ext cx="1280160" cy="237744"/>
          </a:xfrm>
          <a:prstGeom prst="rect">
            <a:avLst/>
          </a:prstGeom>
          <a:noFill/>
          <a:ln/>
        </p:spPr>
        <p:txBody>
          <a:bodyPr wrap="square" lIns="0" tIns="0" rIns="0" bIns="0" rtlCol="0" anchor="t"/>
          <a:lstStyle/>
          <a:p>
            <a:pPr indent="0" marL="0">
              <a:buNone/>
            </a:pPr>
            <a:r>
              <a:rPr lang="en-US" sz="1100" b="1" dirty="0">
                <a:solidFill>
                  <a:schemeClr val="accent6"/>
                </a:solidFill>
              </a:rPr>
              <a:t>behaviour shift</a:t>
            </a:r>
            <a:endParaRPr lang="en-US" sz="1100" dirty="0"/>
          </a:p>
        </p:txBody>
      </p:sp>
      <p:sp>
        <p:nvSpPr>
          <p:cNvPr id="10" name="Point 157"/>
          <p:cNvSpPr/>
          <p:nvPr/>
        </p:nvSpPr>
        <p:spPr>
          <a:xfrm>
            <a:off x="3950208" y="4250292"/>
            <a:ext cx="146304" cy="146304"/>
          </a:xfrm>
          <a:prstGeom prst="ellipse">
            <a:avLst/>
          </a:prstGeom>
          <a:solidFill>
            <a:schemeClr val="accent1"/>
          </a:solidFill>
          <a:ln w="19050">
            <a:solidFill>
              <a:schemeClr val="bg1"/>
            </a:solidFill>
            <a:prstDash val="solid"/>
          </a:ln>
        </p:spPr>
      </p:sp>
      <p:sp>
        <p:nvSpPr>
          <p:cNvPr id="11" name="Point 158"/>
          <p:cNvSpPr/>
          <p:nvPr/>
        </p:nvSpPr>
        <p:spPr>
          <a:xfrm>
            <a:off x="7184106" y="2426023"/>
            <a:ext cx="146304" cy="146304"/>
          </a:xfrm>
          <a:prstGeom prst="ellipse">
            <a:avLst/>
          </a:prstGeom>
          <a:solidFill>
            <a:schemeClr val="accent1"/>
          </a:solidFill>
          <a:ln w="19050">
            <a:solidFill>
              <a:schemeClr val="bg1"/>
            </a:solidFill>
            <a:prstDash val="solid"/>
          </a:ln>
        </p:spPr>
      </p:sp>
      <p:sp>
        <p:nvSpPr>
          <p:cNvPr id="12" name="Text 159"/>
          <p:cNvSpPr txBox="1"/>
          <p:nvPr/>
        </p:nvSpPr>
        <p:spPr>
          <a:xfrm>
            <a:off x="2011680" y="3939340"/>
            <a:ext cx="1874520" cy="274320"/>
          </a:xfrm>
          <a:prstGeom prst="rect">
            <a:avLst/>
          </a:prstGeom>
          <a:noFill/>
          <a:ln/>
        </p:spPr>
        <p:txBody>
          <a:bodyPr wrap="square" lIns="0" tIns="0" rIns="0" bIns="0" rtlCol="0" anchor="t"/>
          <a:lstStyle/>
          <a:p>
            <a:pPr algn="r" indent="0" marL="0">
              <a:buNone/>
            </a:pPr>
            <a:r>
              <a:rPr lang="en-US" sz="1300" b="1" dirty="0">
                <a:solidFill>
                  <a:schemeClr val="accent1"/>
                </a:solidFill>
              </a:rPr>
              <a:t>+1,634 by the shift</a:t>
            </a:r>
            <a:endParaRPr lang="en-US" sz="1300" dirty="0"/>
          </a:p>
        </p:txBody>
      </p:sp>
      <p:sp>
        <p:nvSpPr>
          <p:cNvPr id="13" name="Text 160"/>
          <p:cNvSpPr txBox="1"/>
          <p:nvPr/>
        </p:nvSpPr>
        <p:spPr>
          <a:xfrm>
            <a:off x="5154138" y="2206787"/>
            <a:ext cx="1920240" cy="274320"/>
          </a:xfrm>
          <a:prstGeom prst="rect">
            <a:avLst/>
          </a:prstGeom>
          <a:noFill/>
          <a:ln/>
        </p:spPr>
        <p:txBody>
          <a:bodyPr wrap="square" lIns="0" tIns="0" rIns="0" bIns="0" rtlCol="0" anchor="t"/>
          <a:lstStyle/>
          <a:p>
            <a:pPr algn="r" indent="0" marL="0">
              <a:buNone/>
            </a:pPr>
            <a:r>
              <a:rPr lang="en-US" sz="1300" b="1" dirty="0">
                <a:solidFill>
                  <a:schemeClr val="accent1"/>
                </a:solidFill>
              </a:rPr>
              <a:t>+4,543 by the end</a:t>
            </a:r>
            <a:endParaRPr lang="en-US" sz="1300" dirty="0"/>
          </a:p>
        </p:txBody>
      </p:sp>
      <p:sp>
        <p:nvSpPr>
          <p:cNvPr id="14" name="Step 161"/>
          <p:cNvSpPr txBox="1"/>
          <p:nvPr/>
        </p:nvSpPr>
        <p:spPr>
          <a:xfrm>
            <a:off x="7863840" y="1801368"/>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5" name="Text 162"/>
          <p:cNvSpPr txBox="1"/>
          <p:nvPr/>
        </p:nvSpPr>
        <p:spPr>
          <a:xfrm>
            <a:off x="8430768" y="1737360"/>
            <a:ext cx="3209544" cy="50292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698 app opens</a:t>
            </a:r>
            <a:endParaRPr lang="en-US" sz="2600" dirty="0"/>
          </a:p>
        </p:txBody>
      </p:sp>
      <p:sp>
        <p:nvSpPr>
          <p:cNvPr id="16" name="Text 163"/>
          <p:cNvSpPr txBox="1"/>
          <p:nvPr/>
        </p:nvSpPr>
        <p:spPr>
          <a:xfrm>
            <a:off x="8430768" y="2286000"/>
            <a:ext cx="3209544" cy="777240"/>
          </a:xfrm>
          <a:prstGeom prst="rect">
            <a:avLst/>
          </a:prstGeom>
          <a:noFill/>
          <a:ln/>
        </p:spPr>
        <p:txBody>
          <a:bodyPr wrap="square" lIns="0" tIns="0" rIns="0" bIns="0" rtlCol="0" anchor="t"/>
          <a:lstStyle/>
          <a:p>
            <a:pPr indent="0" marL="0">
              <a:buNone/>
            </a:pPr>
            <a:r>
              <a:rPr lang="en-US" sz="1400" dirty="0">
                <a:solidFill>
                  <a:schemeClr val="tx1"/>
                </a:solidFill>
              </a:rPr>
              <a:t>until it overtakes the fixed ranking, starting from no data at all</a:t>
            </a:r>
            <a:endParaRPr lang="en-US" sz="1400" dirty="0"/>
          </a:p>
        </p:txBody>
      </p:sp>
      <p:sp>
        <p:nvSpPr>
          <p:cNvPr id="17" name="Step 164"/>
          <p:cNvSpPr txBox="1"/>
          <p:nvPr/>
        </p:nvSpPr>
        <p:spPr>
          <a:xfrm>
            <a:off x="7863840" y="3310128"/>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8" name="Text 165"/>
          <p:cNvSpPr txBox="1"/>
          <p:nvPr/>
        </p:nvSpPr>
        <p:spPr>
          <a:xfrm>
            <a:off x="8430768" y="3246120"/>
            <a:ext cx="3209544" cy="502920"/>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+2,909 vs +1,634</a:t>
            </a:r>
            <a:endParaRPr lang="en-US" sz="2400" dirty="0"/>
          </a:p>
        </p:txBody>
      </p:sp>
      <p:sp>
        <p:nvSpPr>
          <p:cNvPr id="19" name="Text 166"/>
          <p:cNvSpPr txBox="1"/>
          <p:nvPr/>
        </p:nvSpPr>
        <p:spPr>
          <a:xfrm>
            <a:off x="8430768" y="3794760"/>
            <a:ext cx="3209544" cy="777240"/>
          </a:xfrm>
          <a:prstGeom prst="rect">
            <a:avLst/>
          </a:prstGeom>
          <a:noFill/>
          <a:ln/>
        </p:spPr>
        <p:txBody>
          <a:bodyPr wrap="square" lIns="0" tIns="0" rIns="0" bIns="0" rtlCol="0" anchor="t"/>
          <a:lstStyle/>
          <a:p>
            <a:pPr indent="0" marL="0">
              <a:buNone/>
            </a:pPr>
            <a:r>
              <a:rPr lang="en-US" sz="1400" dirty="0">
                <a:solidFill>
                  <a:schemeClr val="tx1"/>
                </a:solidFill>
              </a:rPr>
              <a:t>take-ups won after the shift against before it: the lead grows faster when tastes change</a:t>
            </a:r>
            <a:endParaRPr lang="en-US" sz="1400" dirty="0"/>
          </a:p>
        </p:txBody>
      </p:sp>
      <p:sp>
        <p:nvSpPr>
          <p:cNvPr id="20" name="Step 167"/>
          <p:cNvSpPr txBox="1"/>
          <p:nvPr/>
        </p:nvSpPr>
        <p:spPr>
          <a:xfrm>
            <a:off x="7863840" y="4818888"/>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1" name="Text 168"/>
          <p:cNvSpPr txBox="1"/>
          <p:nvPr/>
        </p:nvSpPr>
        <p:spPr>
          <a:xfrm>
            <a:off x="8430768" y="4754880"/>
            <a:ext cx="3209544" cy="50292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1,460 vs 5,601</a:t>
            </a:r>
            <a:endParaRPr lang="en-US" sz="2600" dirty="0"/>
          </a:p>
        </p:txBody>
      </p:sp>
      <p:sp>
        <p:nvSpPr>
          <p:cNvPr id="22" name="Text 169"/>
          <p:cNvSpPr txBox="1"/>
          <p:nvPr/>
        </p:nvSpPr>
        <p:spPr>
          <a:xfrm>
            <a:off x="8430768" y="5303520"/>
            <a:ext cx="3209544" cy="777240"/>
          </a:xfrm>
          <a:prstGeom prst="rect">
            <a:avLst/>
          </a:prstGeom>
          <a:noFill/>
          <a:ln/>
        </p:spPr>
        <p:txBody>
          <a:bodyPr wrap="square" lIns="0" tIns="0" rIns="0" bIns="0" rtlCol="0" anchor="t"/>
          <a:lstStyle/>
          <a:p>
            <a:pPr indent="0" marL="0">
              <a:buNone/>
            </a:pPr>
            <a:r>
              <a:rPr lang="en-US" sz="1400" dirty="0">
                <a:solidFill>
                  <a:schemeClr val="tx1"/>
                </a:solidFill>
              </a:rPr>
              <a:t>app opens to find young professionals' new favourite, with forgetting and without</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RESULTS  ·  10 SEEDS × 50,000 APP OPENS</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Learning per segment gets 93% of perfect</a:t>
            </a:r>
            <a:endParaRPr lang="en-US" sz="3600" dirty="0"/>
          </a:p>
        </p:txBody>
      </p:sp>
      <p:graphicFrame>
        <p:nvGraphicFramePr>
          <p:cNvPr id="4" name="Share of oracle chart" descr=""/>
          <p:cNvGraphicFramePr/>
          <p:nvPr/>
        </p:nvGraphicFramePr>
        <p:xfrm>
          <a:off x="548640" y="1572768"/>
          <a:ext cx="7178040" cy="4251960"/>
        </p:xfrm>
        <a:graphic xmlns:a="http://schemas.openxmlformats.org/drawingml/2006/main">
          <a:graphicData uri="http://schemas.openxmlformats.org/drawingml/2006/chart">
            <c:chart xmlns:c="http://schemas.openxmlformats.org/drawingml/2006/chart" r:id="rId1"/>
          </a:graphicData>
        </a:graphic>
      </p:graphicFrame>
      <p:sp>
        <p:nvSpPr>
          <p:cNvPr id="5" name="Text 170"/>
          <p:cNvSpPr txBox="1"/>
          <p:nvPr/>
        </p:nvSpPr>
        <p:spPr>
          <a:xfrm>
            <a:off x="548640" y="5897880"/>
            <a:ext cx="7178040" cy="274320"/>
          </a:xfrm>
          <a:prstGeom prst="rect">
            <a:avLst/>
          </a:prstGeom>
          <a:noFill/>
          <a:ln/>
        </p:spPr>
        <p:txBody>
          <a:bodyPr wrap="square" lIns="0" tIns="0" rIns="0" bIns="0" rtlCol="0" anchor="t"/>
          <a:lstStyle/>
          <a:p>
            <a:pPr indent="0" marL="0">
              <a:buNone/>
            </a:pPr>
            <a:r>
              <a:rPr lang="en-US" sz="1100" i="1" dirty="0">
                <a:solidFill>
                  <a:schemeClr val="tx2"/>
                </a:solidFill>
              </a:rPr>
              <a:t>Same 50,000 simulated app opens for every policy  ·  the oracle knows the hidden take-up rates  ·  mean of 10 seeds</a:t>
            </a:r>
            <a:endParaRPr lang="en-US" sz="1100" dirty="0"/>
          </a:p>
        </p:txBody>
      </p:sp>
      <p:sp>
        <p:nvSpPr>
          <p:cNvPr id="6" name="Card 171"/>
          <p:cNvSpPr/>
          <p:nvPr/>
        </p:nvSpPr>
        <p:spPr>
          <a:xfrm>
            <a:off x="8092440" y="1645920"/>
            <a:ext cx="3547872" cy="1371600"/>
          </a:xfrm>
          <a:prstGeom prst="roundRect">
            <a:avLst>
              <a:gd name="adj" fmla="val 5333"/>
            </a:avLst>
          </a:prstGeom>
          <a:solidFill>
            <a:schemeClr val="bg2"/>
          </a:solidFill>
          <a:ln/>
        </p:spPr>
      </p:sp>
      <p:sp>
        <p:nvSpPr>
          <p:cNvPr id="7" name="Text 172"/>
          <p:cNvSpPr txBox="1"/>
          <p:nvPr/>
        </p:nvSpPr>
        <p:spPr>
          <a:xfrm>
            <a:off x="8321040" y="1764792"/>
            <a:ext cx="3090672" cy="502920"/>
          </a:xfrm>
          <a:prstGeom prst="rect">
            <a:avLst/>
          </a:prstGeom>
          <a:noFill/>
          <a:ln/>
        </p:spPr>
        <p:txBody>
          <a:bodyPr wrap="square" lIns="0" tIns="0" rIns="0" bIns="0" rtlCol="0" anchor="t"/>
          <a:lstStyle/>
          <a:p>
            <a:pPr indent="0" marL="0">
              <a:buNone/>
            </a:pPr>
            <a:r>
              <a:rPr lang="en-US" sz="2800" b="1" dirty="0">
                <a:solidFill>
                  <a:schemeClr val="accent1"/>
                </a:solidFill>
                <a:latin typeface="+mj-lt" pitchFamily="34" charset="0"/>
                <a:ea typeface="+mj-lt" pitchFamily="34" charset="-122"/>
                <a:cs typeface="+mj-lt" pitchFamily="34" charset="-120"/>
              </a:rPr>
              <a:t>+53%</a:t>
            </a:r>
            <a:endParaRPr lang="en-US" sz="2800" dirty="0"/>
          </a:p>
        </p:txBody>
      </p:sp>
      <p:sp>
        <p:nvSpPr>
          <p:cNvPr id="8" name="Text 173"/>
          <p:cNvSpPr txBox="1"/>
          <p:nvPr/>
        </p:nvSpPr>
        <p:spPr>
          <a:xfrm>
            <a:off x="8321040" y="2286000"/>
            <a:ext cx="3090672" cy="685800"/>
          </a:xfrm>
          <a:prstGeom prst="rect">
            <a:avLst/>
          </a:prstGeom>
          <a:noFill/>
          <a:ln/>
        </p:spPr>
        <p:txBody>
          <a:bodyPr wrap="square" lIns="0" tIns="0" rIns="0" bIns="0" rtlCol="0" anchor="t"/>
          <a:lstStyle/>
          <a:p>
            <a:pPr indent="0" marL="0">
              <a:buNone/>
            </a:pPr>
            <a:r>
              <a:rPr lang="en-US" sz="1300" dirty="0">
                <a:solidFill>
                  <a:schemeClr val="tx1"/>
                </a:solidFill>
              </a:rPr>
              <a:t>take-ups per app open over the static model: 0.263 against 0.172</a:t>
            </a:r>
            <a:endParaRPr lang="en-US" sz="1300" dirty="0"/>
          </a:p>
        </p:txBody>
      </p:sp>
      <p:sp>
        <p:nvSpPr>
          <p:cNvPr id="9" name="Card 174"/>
          <p:cNvSpPr/>
          <p:nvPr/>
        </p:nvSpPr>
        <p:spPr>
          <a:xfrm>
            <a:off x="8092440" y="3182112"/>
            <a:ext cx="3547872" cy="1371600"/>
          </a:xfrm>
          <a:prstGeom prst="roundRect">
            <a:avLst>
              <a:gd name="adj" fmla="val 5333"/>
            </a:avLst>
          </a:prstGeom>
          <a:solidFill>
            <a:schemeClr val="bg2"/>
          </a:solidFill>
          <a:ln/>
        </p:spPr>
      </p:sp>
      <p:sp>
        <p:nvSpPr>
          <p:cNvPr id="10" name="Text 175"/>
          <p:cNvSpPr txBox="1"/>
          <p:nvPr/>
        </p:nvSpPr>
        <p:spPr>
          <a:xfrm>
            <a:off x="8321040" y="3300984"/>
            <a:ext cx="3090672" cy="502920"/>
          </a:xfrm>
          <a:prstGeom prst="rect">
            <a:avLst/>
          </a:prstGeom>
          <a:noFill/>
          <a:ln/>
        </p:spPr>
        <p:txBody>
          <a:bodyPr wrap="square" lIns="0" tIns="0" rIns="0" bIns="0" rtlCol="0" anchor="t"/>
          <a:lstStyle/>
          <a:p>
            <a:pPr indent="0" marL="0">
              <a:buNone/>
            </a:pPr>
            <a:r>
              <a:rPr lang="en-US" sz="2800" b="1" dirty="0">
                <a:solidFill>
                  <a:schemeClr val="accent1"/>
                </a:solidFill>
                <a:latin typeface="+mj-lt" pitchFamily="34" charset="0"/>
                <a:ea typeface="+mj-lt" pitchFamily="34" charset="-122"/>
                <a:cs typeface="+mj-lt" pitchFamily="34" charset="-120"/>
              </a:rPr>
              <a:t>92% vs 68%</a:t>
            </a:r>
            <a:endParaRPr lang="en-US" sz="2800" dirty="0"/>
          </a:p>
        </p:txBody>
      </p:sp>
      <p:sp>
        <p:nvSpPr>
          <p:cNvPr id="11" name="Text 176"/>
          <p:cNvSpPr txBox="1"/>
          <p:nvPr/>
        </p:nvSpPr>
        <p:spPr>
          <a:xfrm>
            <a:off x="8321040" y="3822192"/>
            <a:ext cx="3090672" cy="685800"/>
          </a:xfrm>
          <a:prstGeom prst="rect">
            <a:avLst/>
          </a:prstGeom>
          <a:noFill/>
          <a:ln/>
        </p:spPr>
        <p:txBody>
          <a:bodyPr wrap="square" lIns="0" tIns="0" rIns="0" bIns="0" rtlCol="0" anchor="t"/>
          <a:lstStyle/>
          <a:p>
            <a:pPr indent="0" marL="0">
              <a:buNone/>
            </a:pPr>
            <a:r>
              <a:rPr lang="en-US" sz="1300" dirty="0">
                <a:solidFill>
                  <a:schemeClr val="tx1"/>
                </a:solidFill>
              </a:rPr>
              <a:t>one belief per segment against one global belief: the biggest single lever</a:t>
            </a:r>
            <a:endParaRPr lang="en-US" sz="1300" dirty="0"/>
          </a:p>
        </p:txBody>
      </p:sp>
      <p:sp>
        <p:nvSpPr>
          <p:cNvPr id="12" name="Card 177"/>
          <p:cNvSpPr/>
          <p:nvPr/>
        </p:nvSpPr>
        <p:spPr>
          <a:xfrm>
            <a:off x="8092440" y="4718304"/>
            <a:ext cx="3547872" cy="1371600"/>
          </a:xfrm>
          <a:prstGeom prst="roundRect">
            <a:avLst>
              <a:gd name="adj" fmla="val 5333"/>
            </a:avLst>
          </a:prstGeom>
          <a:solidFill>
            <a:schemeClr val="bg2"/>
          </a:solidFill>
          <a:ln/>
        </p:spPr>
      </p:sp>
      <p:sp>
        <p:nvSpPr>
          <p:cNvPr id="13" name="Text 178"/>
          <p:cNvSpPr txBox="1"/>
          <p:nvPr/>
        </p:nvSpPr>
        <p:spPr>
          <a:xfrm>
            <a:off x="8321040" y="4837176"/>
            <a:ext cx="3090672" cy="502920"/>
          </a:xfrm>
          <a:prstGeom prst="rect">
            <a:avLst/>
          </a:prstGeom>
          <a:noFill/>
          <a:ln/>
        </p:spPr>
        <p:txBody>
          <a:bodyPr wrap="square" lIns="0" tIns="0" rIns="0" bIns="0" rtlCol="0" anchor="t"/>
          <a:lstStyle/>
          <a:p>
            <a:pPr indent="0" marL="0">
              <a:buNone/>
            </a:pPr>
            <a:r>
              <a:rPr lang="en-US" sz="2800" b="1" dirty="0">
                <a:solidFill>
                  <a:schemeClr val="accent5"/>
                </a:solidFill>
                <a:latin typeface="+mj-lt" pitchFamily="34" charset="0"/>
                <a:ea typeface="+mj-lt" pitchFamily="34" charset="-122"/>
                <a:cs typeface="+mj-lt" pitchFamily="34" charset="-120"/>
              </a:rPr>
              <a:t>94.2%</a:t>
            </a:r>
            <a:endParaRPr lang="en-US" sz="2800" dirty="0"/>
          </a:p>
        </p:txBody>
      </p:sp>
      <p:sp>
        <p:nvSpPr>
          <p:cNvPr id="14" name="Text 179"/>
          <p:cNvSpPr txBox="1"/>
          <p:nvPr/>
        </p:nvSpPr>
        <p:spPr>
          <a:xfrm>
            <a:off x="8321040" y="5358384"/>
            <a:ext cx="3090672" cy="685800"/>
          </a:xfrm>
          <a:prstGeom prst="rect">
            <a:avLst/>
          </a:prstGeom>
          <a:noFill/>
          <a:ln/>
        </p:spPr>
        <p:txBody>
          <a:bodyPr wrap="square" lIns="0" tIns="0" rIns="0" bIns="0" rtlCol="0" anchor="t"/>
          <a:lstStyle/>
          <a:p>
            <a:pPr indent="0" marL="0">
              <a:buNone/>
            </a:pPr>
            <a:r>
              <a:rPr lang="en-US" sz="1300" dirty="0">
                <a:solidFill>
                  <a:schemeClr val="tx1"/>
                </a:solidFill>
              </a:rPr>
              <a:t>customer features beat segments in 10 of 10 seeds; simulator only until the store can hold a matrix per offer</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WHAT THE EVIDENCE SAYS, AND DOESN'T</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Six findings, each with its evidence</a:t>
            </a:r>
            <a:endParaRPr lang="en-US" sz="3600" dirty="0"/>
          </a:p>
        </p:txBody>
      </p:sp>
      <p:sp>
        <p:nvSpPr>
          <p:cNvPr id="4" name="Card 180"/>
          <p:cNvSpPr/>
          <p:nvPr/>
        </p:nvSpPr>
        <p:spPr>
          <a:xfrm>
            <a:off x="548640" y="1645920"/>
            <a:ext cx="3515258" cy="2148840"/>
          </a:xfrm>
          <a:prstGeom prst="roundRect">
            <a:avLst>
              <a:gd name="adj" fmla="val 3404"/>
            </a:avLst>
          </a:prstGeom>
          <a:solidFill>
            <a:schemeClr val="bg2"/>
          </a:solidFill>
          <a:ln/>
        </p:spPr>
      </p:sp>
      <p:sp>
        <p:nvSpPr>
          <p:cNvPr id="5" name="Text 181"/>
          <p:cNvSpPr txBox="1"/>
          <p:nvPr/>
        </p:nvSpPr>
        <p:spPr>
          <a:xfrm>
            <a:off x="822960" y="1828800"/>
            <a:ext cx="2966618"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A tie</a:t>
            </a:r>
            <a:endParaRPr lang="en-US" sz="3000" dirty="0"/>
          </a:p>
        </p:txBody>
      </p:sp>
      <p:sp>
        <p:nvSpPr>
          <p:cNvPr id="6" name="Text 182"/>
          <p:cNvSpPr txBox="1"/>
          <p:nvPr/>
        </p:nvSpPr>
        <p:spPr>
          <a:xfrm>
            <a:off x="822960" y="2450592"/>
            <a:ext cx="2966618" cy="329184"/>
          </a:xfrm>
          <a:prstGeom prst="rect">
            <a:avLst/>
          </a:prstGeom>
          <a:noFill/>
          <a:ln/>
        </p:spPr>
        <p:txBody>
          <a:bodyPr wrap="square" lIns="0" tIns="0" rIns="0" bIns="0" rtlCol="0" anchor="t"/>
          <a:lstStyle/>
          <a:p>
            <a:pPr indent="0" marL="0">
              <a:buNone/>
            </a:pPr>
            <a:r>
              <a:rPr lang="en-US" sz="1600" b="1" dirty="0">
                <a:solidFill>
                  <a:schemeClr val="tx1"/>
                </a:solidFill>
              </a:rPr>
              <a:t>The top three are tied</a:t>
            </a:r>
            <a:endParaRPr lang="en-US" sz="1600" dirty="0"/>
          </a:p>
        </p:txBody>
      </p:sp>
      <p:sp>
        <p:nvSpPr>
          <p:cNvPr id="7" name="Text 183"/>
          <p:cNvSpPr txBox="1"/>
          <p:nvPr/>
        </p:nvSpPr>
        <p:spPr>
          <a:xfrm>
            <a:off x="822960" y="2816352"/>
            <a:ext cx="2966618" cy="868680"/>
          </a:xfrm>
          <a:prstGeom prst="rect">
            <a:avLst/>
          </a:prstGeom>
          <a:noFill/>
          <a:ln/>
        </p:spPr>
        <p:txBody>
          <a:bodyPr wrap="square" lIns="0" tIns="0" rIns="0" bIns="0" rtlCol="0" anchor="t"/>
          <a:lstStyle/>
          <a:p>
            <a:pPr indent="0" marL="0">
              <a:buNone/>
            </a:pPr>
            <a:r>
              <a:rPr lang="en-US" sz="1400" dirty="0">
                <a:solidFill>
                  <a:schemeClr val="tx2"/>
                </a:solidFill>
              </a:rPr>
              <a:t>The best three servable policies are within the noise between seeds, so I report a tie.</a:t>
            </a:r>
            <a:endParaRPr lang="en-US" sz="1400" dirty="0"/>
          </a:p>
        </p:txBody>
      </p:sp>
      <p:sp>
        <p:nvSpPr>
          <p:cNvPr id="8" name="Card 184"/>
          <p:cNvSpPr/>
          <p:nvPr/>
        </p:nvSpPr>
        <p:spPr>
          <a:xfrm>
            <a:off x="4338218" y="1645920"/>
            <a:ext cx="3515258" cy="2148840"/>
          </a:xfrm>
          <a:prstGeom prst="roundRect">
            <a:avLst>
              <a:gd name="adj" fmla="val 3404"/>
            </a:avLst>
          </a:prstGeom>
          <a:solidFill>
            <a:schemeClr val="bg2"/>
          </a:solidFill>
          <a:ln/>
        </p:spPr>
      </p:sp>
      <p:sp>
        <p:nvSpPr>
          <p:cNvPr id="9" name="Text 185"/>
          <p:cNvSpPr txBox="1"/>
          <p:nvPr/>
        </p:nvSpPr>
        <p:spPr>
          <a:xfrm>
            <a:off x="4612538" y="1828800"/>
            <a:ext cx="2966618"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8 of 10</a:t>
            </a:r>
            <a:endParaRPr lang="en-US" sz="3000" dirty="0"/>
          </a:p>
        </p:txBody>
      </p:sp>
      <p:sp>
        <p:nvSpPr>
          <p:cNvPr id="10" name="Text 186"/>
          <p:cNvSpPr txBox="1"/>
          <p:nvPr/>
        </p:nvSpPr>
        <p:spPr>
          <a:xfrm>
            <a:off x="4612538" y="2450592"/>
            <a:ext cx="2966618" cy="329184"/>
          </a:xfrm>
          <a:prstGeom prst="rect">
            <a:avLst/>
          </a:prstGeom>
          <a:noFill/>
          <a:ln/>
        </p:spPr>
        <p:txBody>
          <a:bodyPr wrap="square" lIns="0" tIns="0" rIns="0" bIns="0" rtlCol="0" anchor="t"/>
          <a:lstStyle/>
          <a:p>
            <a:pPr indent="0" marL="0">
              <a:buNone/>
            </a:pPr>
            <a:r>
              <a:rPr lang="en-US" sz="1600" b="1" dirty="0">
                <a:solidFill>
                  <a:schemeClr val="tx1"/>
                </a:solidFill>
              </a:rPr>
              <a:t>Thompson beats ε-greedy</a:t>
            </a:r>
            <a:endParaRPr lang="en-US" sz="1600" dirty="0"/>
          </a:p>
        </p:txBody>
      </p:sp>
      <p:sp>
        <p:nvSpPr>
          <p:cNvPr id="11" name="Text 187"/>
          <p:cNvSpPr txBox="1"/>
          <p:nvPr/>
        </p:nvSpPr>
        <p:spPr>
          <a:xfrm>
            <a:off x="4612538" y="2816352"/>
            <a:ext cx="2966618" cy="868680"/>
          </a:xfrm>
          <a:prstGeom prst="rect">
            <a:avLst/>
          </a:prstGeom>
          <a:noFill/>
          <a:ln/>
        </p:spPr>
        <p:txBody>
          <a:bodyPr wrap="square" lIns="0" tIns="0" rIns="0" bIns="0" rtlCol="0" anchor="t"/>
          <a:lstStyle/>
          <a:p>
            <a:pPr indent="0" marL="0">
              <a:buNone/>
            </a:pPr>
            <a:r>
              <a:rPr lang="en-US" sz="1400" dirty="0">
                <a:solidFill>
                  <a:schemeClr val="tx2"/>
                </a:solidFill>
              </a:rPr>
              <a:t>Same segments, 612 fewer take-ups lost (95% interval 329–885).</a:t>
            </a:r>
            <a:endParaRPr lang="en-US" sz="1400" dirty="0"/>
          </a:p>
        </p:txBody>
      </p:sp>
      <p:sp>
        <p:nvSpPr>
          <p:cNvPr id="12" name="Card 188"/>
          <p:cNvSpPr/>
          <p:nvPr/>
        </p:nvSpPr>
        <p:spPr>
          <a:xfrm>
            <a:off x="8127797" y="1645920"/>
            <a:ext cx="3515258" cy="2148840"/>
          </a:xfrm>
          <a:prstGeom prst="roundRect">
            <a:avLst>
              <a:gd name="adj" fmla="val 3404"/>
            </a:avLst>
          </a:prstGeom>
          <a:solidFill>
            <a:schemeClr val="bg2"/>
          </a:solidFill>
          <a:ln/>
        </p:spPr>
      </p:sp>
      <p:sp>
        <p:nvSpPr>
          <p:cNvPr id="13" name="Text 189"/>
          <p:cNvSpPr txBox="1"/>
          <p:nvPr/>
        </p:nvSpPr>
        <p:spPr>
          <a:xfrm>
            <a:off x="8402117" y="1828800"/>
            <a:ext cx="2966618"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+38%</a:t>
            </a:r>
            <a:endParaRPr lang="en-US" sz="3000" dirty="0"/>
          </a:p>
        </p:txBody>
      </p:sp>
      <p:sp>
        <p:nvSpPr>
          <p:cNvPr id="14" name="Text 190"/>
          <p:cNvSpPr txBox="1"/>
          <p:nvPr/>
        </p:nvSpPr>
        <p:spPr>
          <a:xfrm>
            <a:off x="8402117" y="2450592"/>
            <a:ext cx="2966618" cy="329184"/>
          </a:xfrm>
          <a:prstGeom prst="rect">
            <a:avLst/>
          </a:prstGeom>
          <a:noFill/>
          <a:ln/>
        </p:spPr>
        <p:txBody>
          <a:bodyPr wrap="square" lIns="0" tIns="0" rIns="0" bIns="0" rtlCol="0" anchor="t"/>
          <a:lstStyle/>
          <a:p>
            <a:pPr indent="0" marL="0">
              <a:buNone/>
            </a:pPr>
            <a:r>
              <a:rPr lang="en-US" sz="1600" b="1" dirty="0">
                <a:solidFill>
                  <a:schemeClr val="tx1"/>
                </a:solidFill>
              </a:rPr>
              <a:t>The reward is a business choice</a:t>
            </a:r>
            <a:endParaRPr lang="en-US" sz="1600" dirty="0"/>
          </a:p>
        </p:txBody>
      </p:sp>
      <p:sp>
        <p:nvSpPr>
          <p:cNvPr id="15" name="Text 191"/>
          <p:cNvSpPr txBox="1"/>
          <p:nvPr/>
        </p:nvSpPr>
        <p:spPr>
          <a:xfrm>
            <a:off x="8402117" y="2816352"/>
            <a:ext cx="2966618" cy="868680"/>
          </a:xfrm>
          <a:prstGeom prst="rect">
            <a:avLst/>
          </a:prstGeom>
          <a:noFill/>
          <a:ln/>
        </p:spPr>
        <p:txBody>
          <a:bodyPr wrap="square" lIns="0" tIns="0" rIns="0" bIns="0" rtlCol="0" anchor="t"/>
          <a:lstStyle/>
          <a:p>
            <a:pPr indent="0" marL="0">
              <a:buNone/>
            </a:pPr>
            <a:r>
              <a:rPr lang="en-US" sz="1400" dirty="0">
                <a:solidFill>
                  <a:schemeClr val="tx2"/>
                </a:solidFill>
              </a:rPr>
              <a:t>Learning from margin earns 38% more revenue per app open, with 22% fewer take-ups.</a:t>
            </a:r>
            <a:endParaRPr lang="en-US" sz="1400" dirty="0"/>
          </a:p>
        </p:txBody>
      </p:sp>
      <p:sp>
        <p:nvSpPr>
          <p:cNvPr id="16" name="Card 192"/>
          <p:cNvSpPr/>
          <p:nvPr/>
        </p:nvSpPr>
        <p:spPr>
          <a:xfrm>
            <a:off x="548640" y="4069080"/>
            <a:ext cx="3515258" cy="2148840"/>
          </a:xfrm>
          <a:prstGeom prst="roundRect">
            <a:avLst>
              <a:gd name="adj" fmla="val 3404"/>
            </a:avLst>
          </a:prstGeom>
          <a:solidFill>
            <a:schemeClr val="bg2"/>
          </a:solidFill>
          <a:ln/>
        </p:spPr>
      </p:sp>
      <p:sp>
        <p:nvSpPr>
          <p:cNvPr id="17" name="Text 193"/>
          <p:cNvSpPr txBox="1"/>
          <p:nvPr/>
        </p:nvSpPr>
        <p:spPr>
          <a:xfrm>
            <a:off x="822960" y="4251960"/>
            <a:ext cx="2966618"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18 of 18</a:t>
            </a:r>
            <a:endParaRPr lang="en-US" sz="3000" dirty="0"/>
          </a:p>
        </p:txBody>
      </p:sp>
      <p:sp>
        <p:nvSpPr>
          <p:cNvPr id="18" name="Text 194"/>
          <p:cNvSpPr txBox="1"/>
          <p:nvPr/>
        </p:nvSpPr>
        <p:spPr>
          <a:xfrm>
            <a:off x="822960" y="4873752"/>
            <a:ext cx="2966618" cy="329184"/>
          </a:xfrm>
          <a:prstGeom prst="rect">
            <a:avLst/>
          </a:prstGeom>
          <a:noFill/>
          <a:ln/>
        </p:spPr>
        <p:txBody>
          <a:bodyPr wrap="square" lIns="0" tIns="0" rIns="0" bIns="0" rtlCol="0" anchor="t"/>
          <a:lstStyle/>
          <a:p>
            <a:pPr indent="0" marL="0">
              <a:buNone/>
            </a:pPr>
            <a:r>
              <a:rPr lang="en-US" sz="1600" b="1" dirty="0">
                <a:solidFill>
                  <a:schemeClr val="tx1"/>
                </a:solidFill>
              </a:rPr>
              <a:t>It holds in worlds I didn't tune</a:t>
            </a:r>
            <a:endParaRPr lang="en-US" sz="1600" dirty="0"/>
          </a:p>
        </p:txBody>
      </p:sp>
      <p:sp>
        <p:nvSpPr>
          <p:cNvPr id="19" name="Text 195"/>
          <p:cNvSpPr txBox="1"/>
          <p:nvPr/>
        </p:nvSpPr>
        <p:spPr>
          <a:xfrm>
            <a:off x="822960" y="5239512"/>
            <a:ext cx="2966618" cy="868680"/>
          </a:xfrm>
          <a:prstGeom prst="rect">
            <a:avLst/>
          </a:prstGeom>
          <a:noFill/>
          <a:ln/>
        </p:spPr>
        <p:txBody>
          <a:bodyPr wrap="square" lIns="0" tIns="0" rIns="0" bIns="0" rtlCol="0" anchor="t"/>
          <a:lstStyle/>
          <a:p>
            <a:pPr indent="0" marL="0">
              <a:buNone/>
            </a:pPr>
            <a:r>
              <a:rPr lang="en-US" sz="1400" dirty="0">
                <a:solidFill>
                  <a:schemeClr val="tx2"/>
                </a:solidFill>
              </a:rPr>
              <a:t>Beats both baselines in every run across 6 rewritten worlds: 86–93% of the oracle.</a:t>
            </a:r>
            <a:endParaRPr lang="en-US" sz="1400" dirty="0"/>
          </a:p>
        </p:txBody>
      </p:sp>
      <p:sp>
        <p:nvSpPr>
          <p:cNvPr id="20" name="Card 196"/>
          <p:cNvSpPr/>
          <p:nvPr/>
        </p:nvSpPr>
        <p:spPr>
          <a:xfrm>
            <a:off x="4338218" y="4069080"/>
            <a:ext cx="3515258" cy="2148840"/>
          </a:xfrm>
          <a:prstGeom prst="roundRect">
            <a:avLst>
              <a:gd name="adj" fmla="val 3404"/>
            </a:avLst>
          </a:prstGeom>
          <a:solidFill>
            <a:schemeClr val="bg2"/>
          </a:solidFill>
          <a:ln/>
        </p:spPr>
      </p:sp>
      <p:sp>
        <p:nvSpPr>
          <p:cNvPr id="21" name="Text 197"/>
          <p:cNvSpPr txBox="1"/>
          <p:nvPr/>
        </p:nvSpPr>
        <p:spPr>
          <a:xfrm>
            <a:off x="4612538" y="4251960"/>
            <a:ext cx="2966618"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3 of 6</a:t>
            </a:r>
            <a:endParaRPr lang="en-US" sz="3000" dirty="0"/>
          </a:p>
        </p:txBody>
      </p:sp>
      <p:sp>
        <p:nvSpPr>
          <p:cNvPr id="22" name="Text 198"/>
          <p:cNvSpPr txBox="1"/>
          <p:nvPr/>
        </p:nvSpPr>
        <p:spPr>
          <a:xfrm>
            <a:off x="4612538" y="4873752"/>
            <a:ext cx="2966618" cy="329184"/>
          </a:xfrm>
          <a:prstGeom prst="rect">
            <a:avLst/>
          </a:prstGeom>
          <a:noFill/>
          <a:ln/>
        </p:spPr>
        <p:txBody>
          <a:bodyPr wrap="square" lIns="0" tIns="0" rIns="0" bIns="0" rtlCol="0" anchor="t"/>
          <a:lstStyle/>
          <a:p>
            <a:pPr indent="0" marL="0">
              <a:buNone/>
            </a:pPr>
            <a:r>
              <a:rPr lang="en-US" sz="1600" b="1" dirty="0">
                <a:solidFill>
                  <a:schemeClr val="tx1"/>
                </a:solidFill>
              </a:rPr>
              <a:t>Forgetting isn't free</a:t>
            </a:r>
            <a:endParaRPr lang="en-US" sz="1600" dirty="0"/>
          </a:p>
        </p:txBody>
      </p:sp>
      <p:sp>
        <p:nvSpPr>
          <p:cNvPr id="23" name="Text 199"/>
          <p:cNvSpPr txBox="1"/>
          <p:nvPr/>
        </p:nvSpPr>
        <p:spPr>
          <a:xfrm>
            <a:off x="4612538" y="5239512"/>
            <a:ext cx="2966618" cy="868680"/>
          </a:xfrm>
          <a:prstGeom prst="rect">
            <a:avLst/>
          </a:prstGeom>
          <a:noFill/>
          <a:ln/>
        </p:spPr>
        <p:txBody>
          <a:bodyPr wrap="square" lIns="0" tIns="0" rIns="0" bIns="0" rtlCol="0" anchor="t"/>
          <a:lstStyle/>
          <a:p>
            <a:pPr indent="0" marL="0">
              <a:buNone/>
            </a:pPr>
            <a:r>
              <a:rPr lang="en-US" sz="1400" dirty="0">
                <a:solidFill>
                  <a:schemeClr val="tx2"/>
                </a:solidFill>
              </a:rPr>
              <a:t>It pays in 3 of 6 worlds, so γ is a dial to tune on real traffic.</a:t>
            </a:r>
            <a:endParaRPr lang="en-US" sz="1400" dirty="0"/>
          </a:p>
        </p:txBody>
      </p:sp>
      <p:sp>
        <p:nvSpPr>
          <p:cNvPr id="24" name="Card 200"/>
          <p:cNvSpPr/>
          <p:nvPr/>
        </p:nvSpPr>
        <p:spPr>
          <a:xfrm>
            <a:off x="8127797" y="4069080"/>
            <a:ext cx="3515258" cy="2148840"/>
          </a:xfrm>
          <a:prstGeom prst="roundRect">
            <a:avLst>
              <a:gd name="adj" fmla="val 3404"/>
            </a:avLst>
          </a:prstGeom>
          <a:solidFill>
            <a:schemeClr val="tx1"/>
          </a:solidFill>
          <a:ln/>
        </p:spPr>
      </p:sp>
      <p:sp>
        <p:nvSpPr>
          <p:cNvPr id="25" name="Text 201"/>
          <p:cNvSpPr txBox="1"/>
          <p:nvPr/>
        </p:nvSpPr>
        <p:spPr>
          <a:xfrm>
            <a:off x="8402117" y="4251960"/>
            <a:ext cx="2966618" cy="548640"/>
          </a:xfrm>
          <a:prstGeom prst="rect">
            <a:avLst/>
          </a:prstGeom>
          <a:noFill/>
          <a:ln/>
        </p:spPr>
        <p:txBody>
          <a:bodyPr wrap="square" lIns="0" tIns="0" rIns="0" bIns="0" rtlCol="0" anchor="t"/>
          <a:lstStyle/>
          <a:p>
            <a:pPr indent="0" marL="0">
              <a:buNone/>
            </a:pPr>
            <a:r>
              <a:rPr lang="en-US" sz="3000" b="1" dirty="0">
                <a:solidFill>
                  <a:schemeClr val="accent5"/>
                </a:solidFill>
                <a:latin typeface="+mj-lt" pitchFamily="34" charset="0"/>
                <a:ea typeface="+mj-lt" pitchFamily="34" charset="-122"/>
                <a:cs typeface="+mj-lt" pitchFamily="34" charset="-120"/>
              </a:rPr>
              <a:t>Limits</a:t>
            </a:r>
            <a:endParaRPr lang="en-US" sz="3000" dirty="0"/>
          </a:p>
        </p:txBody>
      </p:sp>
      <p:sp>
        <p:nvSpPr>
          <p:cNvPr id="26" name="Text 202"/>
          <p:cNvSpPr txBox="1"/>
          <p:nvPr/>
        </p:nvSpPr>
        <p:spPr>
          <a:xfrm>
            <a:off x="8402117" y="4873752"/>
            <a:ext cx="2966618" cy="329184"/>
          </a:xfrm>
          <a:prstGeom prst="rect">
            <a:avLst/>
          </a:prstGeom>
          <a:noFill/>
          <a:ln/>
        </p:spPr>
        <p:txBody>
          <a:bodyPr wrap="square" lIns="0" tIns="0" rIns="0" bIns="0" rtlCol="0" anchor="t"/>
          <a:lstStyle/>
          <a:p>
            <a:pPr indent="0" marL="0">
              <a:buNone/>
            </a:pPr>
            <a:r>
              <a:rPr lang="en-US" sz="1600" b="1" dirty="0">
                <a:solidFill>
                  <a:schemeClr val="bg1"/>
                </a:solidFill>
              </a:rPr>
              <a:t>I wrote the world</a:t>
            </a:r>
            <a:endParaRPr lang="en-US" sz="1600" dirty="0"/>
          </a:p>
        </p:txBody>
      </p:sp>
      <p:sp>
        <p:nvSpPr>
          <p:cNvPr id="27" name="Text 203"/>
          <p:cNvSpPr txBox="1"/>
          <p:nvPr/>
        </p:nvSpPr>
        <p:spPr>
          <a:xfrm>
            <a:off x="8402117" y="5239512"/>
            <a:ext cx="2966618" cy="868680"/>
          </a:xfrm>
          <a:prstGeom prst="rect">
            <a:avLst/>
          </a:prstGeom>
          <a:noFill/>
          <a:ln/>
        </p:spPr>
        <p:txBody>
          <a:bodyPr wrap="square" lIns="0" tIns="0" rIns="0" bIns="0" rtlCol="0" anchor="t"/>
          <a:lstStyle/>
          <a:p>
            <a:pPr indent="0" marL="0">
              <a:buNone/>
            </a:pPr>
            <a:r>
              <a:rPr lang="en-US" sz="1400" dirty="0">
                <a:solidFill>
                  <a:schemeClr val="bg2"/>
                </a:solidFill>
              </a:rPr>
              <a:t>It proves the mechanism and how the parts compare, not the uplift in a real market.</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DATA ENGINEERING</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Event data built to stay correct</a:t>
            </a:r>
            <a:endParaRPr lang="en-US" sz="3600" dirty="0"/>
          </a:p>
        </p:txBody>
      </p:sp>
      <p:sp>
        <p:nvSpPr>
          <p:cNvPr id="4" name="Pipeline box 204"/>
          <p:cNvSpPr/>
          <p:nvPr/>
        </p:nvSpPr>
        <p:spPr>
          <a:xfrm>
            <a:off x="548640" y="1737360"/>
            <a:ext cx="2423160" cy="1051560"/>
          </a:xfrm>
          <a:prstGeom prst="roundRect">
            <a:avLst>
              <a:gd name="adj" fmla="val 6957"/>
            </a:avLst>
          </a:prstGeom>
          <a:solidFill>
            <a:schemeClr val="bg1"/>
          </a:solidFill>
          <a:ln w="15875">
            <a:solidFill>
              <a:schemeClr val="tx1"/>
            </a:solidFill>
            <a:prstDash val="solid"/>
          </a:ln>
        </p:spPr>
      </p:sp>
      <p:sp>
        <p:nvSpPr>
          <p:cNvPr id="5" name="Text 205"/>
          <p:cNvSpPr txBox="1"/>
          <p:nvPr/>
        </p:nvSpPr>
        <p:spPr>
          <a:xfrm>
            <a:off x="731520" y="1901952"/>
            <a:ext cx="2148840" cy="329184"/>
          </a:xfrm>
          <a:prstGeom prst="rect">
            <a:avLst/>
          </a:prstGeom>
          <a:noFill/>
          <a:ln/>
        </p:spPr>
        <p:txBody>
          <a:bodyPr wrap="square" lIns="0" tIns="0" rIns="0" bIns="0" rtlCol="0" anchor="t"/>
          <a:lstStyle/>
          <a:p>
            <a:pPr indent="0" marL="0">
              <a:buNone/>
            </a:pPr>
            <a:r>
              <a:rPr lang="en-US" sz="1600" b="1" dirty="0">
                <a:solidFill>
                  <a:schemeClr val="tx1"/>
                </a:solidFill>
              </a:rPr>
              <a:t>The API</a:t>
            </a:r>
            <a:endParaRPr lang="en-US" sz="1600" dirty="0"/>
          </a:p>
        </p:txBody>
      </p:sp>
      <p:sp>
        <p:nvSpPr>
          <p:cNvPr id="6" name="Text 206"/>
          <p:cNvSpPr txBox="1"/>
          <p:nvPr/>
        </p:nvSpPr>
        <p:spPr>
          <a:xfrm>
            <a:off x="731520" y="2286000"/>
            <a:ext cx="2057400" cy="411480"/>
          </a:xfrm>
          <a:prstGeom prst="rect">
            <a:avLst/>
          </a:prstGeom>
          <a:noFill/>
          <a:ln/>
        </p:spPr>
        <p:txBody>
          <a:bodyPr wrap="square" lIns="0" tIns="0" rIns="0" bIns="0" rtlCol="0" anchor="t"/>
          <a:lstStyle/>
          <a:p>
            <a:pPr indent="0" marL="0">
              <a:buNone/>
            </a:pPr>
            <a:r>
              <a:rPr lang="en-US" sz="1200" dirty="0">
                <a:solidFill>
                  <a:schemeClr val="tx2"/>
                </a:solidFill>
              </a:rPr>
              <a:t>writes every call, before it learns</a:t>
            </a:r>
            <a:endParaRPr lang="en-US" sz="1200" dirty="0"/>
          </a:p>
        </p:txBody>
      </p:sp>
      <p:sp>
        <p:nvSpPr>
          <p:cNvPr id="7" name="Arrow 207"/>
          <p:cNvSpPr/>
          <p:nvPr/>
        </p:nvSpPr>
        <p:spPr>
          <a:xfrm>
            <a:off x="2971800" y="2263140"/>
            <a:ext cx="467258" cy="0"/>
          </a:xfrm>
          <a:prstGeom prst="line">
            <a:avLst/>
          </a:prstGeom>
          <a:noFill/>
          <a:ln w="22225">
            <a:solidFill>
              <a:schemeClr val="tx1"/>
            </a:solidFill>
            <a:prstDash val="solid"/>
            <a:tailEnd type="triangle"/>
          </a:ln>
        </p:spPr>
      </p:sp>
      <p:sp>
        <p:nvSpPr>
          <p:cNvPr id="8" name="Pipeline box 208"/>
          <p:cNvSpPr/>
          <p:nvPr/>
        </p:nvSpPr>
        <p:spPr>
          <a:xfrm>
            <a:off x="3439058" y="1737360"/>
            <a:ext cx="2423160" cy="1051560"/>
          </a:xfrm>
          <a:prstGeom prst="roundRect">
            <a:avLst>
              <a:gd name="adj" fmla="val 6957"/>
            </a:avLst>
          </a:prstGeom>
          <a:solidFill>
            <a:schemeClr val="accent1"/>
          </a:solidFill>
          <a:ln/>
        </p:spPr>
      </p:sp>
      <p:sp>
        <p:nvSpPr>
          <p:cNvPr id="9" name="Text 209"/>
          <p:cNvSpPr txBox="1"/>
          <p:nvPr/>
        </p:nvSpPr>
        <p:spPr>
          <a:xfrm>
            <a:off x="3621938" y="1901952"/>
            <a:ext cx="2148840" cy="329184"/>
          </a:xfrm>
          <a:prstGeom prst="rect">
            <a:avLst/>
          </a:prstGeom>
          <a:noFill/>
          <a:ln/>
        </p:spPr>
        <p:txBody>
          <a:bodyPr wrap="square" lIns="0" tIns="0" rIns="0" bIns="0" rtlCol="0" anchor="t"/>
          <a:lstStyle/>
          <a:p>
            <a:pPr indent="0" marL="0">
              <a:buNone/>
            </a:pPr>
            <a:r>
              <a:rPr lang="en-US" sz="1600" b="1" dirty="0">
                <a:solidFill>
                  <a:schemeClr val="bg1"/>
                </a:solidFill>
              </a:rPr>
              <a:t>Event log</a:t>
            </a:r>
            <a:endParaRPr lang="en-US" sz="1600" dirty="0"/>
          </a:p>
        </p:txBody>
      </p:sp>
      <p:sp>
        <p:nvSpPr>
          <p:cNvPr id="10" name="Text 210"/>
          <p:cNvSpPr txBox="1"/>
          <p:nvPr/>
        </p:nvSpPr>
        <p:spPr>
          <a:xfrm>
            <a:off x="3621938" y="2286000"/>
            <a:ext cx="2057400" cy="411480"/>
          </a:xfrm>
          <a:prstGeom prst="rect">
            <a:avLst/>
          </a:prstGeom>
          <a:noFill/>
          <a:ln/>
        </p:spPr>
        <p:txBody>
          <a:bodyPr wrap="square" lIns="0" tIns="0" rIns="0" bIns="0" rtlCol="0" anchor="t"/>
          <a:lstStyle/>
          <a:p>
            <a:pPr indent="0" marL="0">
              <a:buNone/>
            </a:pPr>
            <a:r>
              <a:rPr lang="en-US" sz="1200" dirty="0">
                <a:solidFill>
                  <a:schemeClr val="bg2"/>
                </a:solidFill>
              </a:rPr>
              <a:t>invocations · impressions · responses</a:t>
            </a:r>
            <a:endParaRPr lang="en-US" sz="1200" dirty="0"/>
          </a:p>
        </p:txBody>
      </p:sp>
      <p:sp>
        <p:nvSpPr>
          <p:cNvPr id="11" name="Arrow 211"/>
          <p:cNvSpPr/>
          <p:nvPr/>
        </p:nvSpPr>
        <p:spPr>
          <a:xfrm>
            <a:off x="5862218" y="2263140"/>
            <a:ext cx="467258" cy="0"/>
          </a:xfrm>
          <a:prstGeom prst="line">
            <a:avLst/>
          </a:prstGeom>
          <a:noFill/>
          <a:ln w="22225">
            <a:solidFill>
              <a:schemeClr val="tx1"/>
            </a:solidFill>
            <a:prstDash val="solid"/>
            <a:tailEnd type="triangle"/>
          </a:ln>
        </p:spPr>
      </p:sp>
      <p:sp>
        <p:nvSpPr>
          <p:cNvPr id="12" name="Pipeline box 212"/>
          <p:cNvSpPr/>
          <p:nvPr/>
        </p:nvSpPr>
        <p:spPr>
          <a:xfrm>
            <a:off x="6329477" y="1737360"/>
            <a:ext cx="2423160" cy="1051560"/>
          </a:xfrm>
          <a:prstGeom prst="roundRect">
            <a:avLst>
              <a:gd name="adj" fmla="val 6957"/>
            </a:avLst>
          </a:prstGeom>
          <a:solidFill>
            <a:schemeClr val="bg1"/>
          </a:solidFill>
          <a:ln w="15875">
            <a:solidFill>
              <a:schemeClr val="tx1"/>
            </a:solidFill>
            <a:prstDash val="solid"/>
          </a:ln>
        </p:spPr>
      </p:sp>
      <p:sp>
        <p:nvSpPr>
          <p:cNvPr id="13" name="Text 213"/>
          <p:cNvSpPr txBox="1"/>
          <p:nvPr/>
        </p:nvSpPr>
        <p:spPr>
          <a:xfrm>
            <a:off x="6512357" y="1901952"/>
            <a:ext cx="2148840" cy="329184"/>
          </a:xfrm>
          <a:prstGeom prst="rect">
            <a:avLst/>
          </a:prstGeom>
          <a:noFill/>
          <a:ln/>
        </p:spPr>
        <p:txBody>
          <a:bodyPr wrap="square" lIns="0" tIns="0" rIns="0" bIns="0" rtlCol="0" anchor="t"/>
          <a:lstStyle/>
          <a:p>
            <a:pPr indent="0" marL="0">
              <a:buNone/>
            </a:pPr>
            <a:r>
              <a:rPr lang="en-US" sz="1600" b="1" dirty="0">
                <a:solidFill>
                  <a:schemeClr val="tx1"/>
                </a:solidFill>
              </a:rPr>
              <a:t>Nightly roll-up</a:t>
            </a:r>
            <a:endParaRPr lang="en-US" sz="1600" dirty="0"/>
          </a:p>
        </p:txBody>
      </p:sp>
      <p:sp>
        <p:nvSpPr>
          <p:cNvPr id="14" name="Text 214"/>
          <p:cNvSpPr txBox="1"/>
          <p:nvPr/>
        </p:nvSpPr>
        <p:spPr>
          <a:xfrm>
            <a:off x="6512357" y="2286000"/>
            <a:ext cx="2057400" cy="411480"/>
          </a:xfrm>
          <a:prstGeom prst="rect">
            <a:avLst/>
          </a:prstGeom>
          <a:noFill/>
          <a:ln/>
        </p:spPr>
        <p:txBody>
          <a:bodyPr wrap="square" lIns="0" tIns="0" rIns="0" bIns="0" rtlCol="0" anchor="t"/>
          <a:lstStyle/>
          <a:p>
            <a:pPr indent="0" marL="0">
              <a:buNone/>
            </a:pPr>
            <a:r>
              <a:rPr lang="en-US" sz="1200" dirty="0">
                <a:solidFill>
                  <a:schemeClr val="tx2"/>
                </a:solidFill>
              </a:rPr>
              <a:t>one day at a time: cron, or one Airflow task</a:t>
            </a:r>
            <a:endParaRPr lang="en-US" sz="1200" dirty="0"/>
          </a:p>
        </p:txBody>
      </p:sp>
      <p:sp>
        <p:nvSpPr>
          <p:cNvPr id="15" name="Arrow 215"/>
          <p:cNvSpPr/>
          <p:nvPr/>
        </p:nvSpPr>
        <p:spPr>
          <a:xfrm>
            <a:off x="8752637" y="2263140"/>
            <a:ext cx="467258" cy="0"/>
          </a:xfrm>
          <a:prstGeom prst="line">
            <a:avLst/>
          </a:prstGeom>
          <a:noFill/>
          <a:ln w="22225">
            <a:solidFill>
              <a:schemeClr val="tx1"/>
            </a:solidFill>
            <a:prstDash val="solid"/>
            <a:tailEnd type="triangle"/>
          </a:ln>
        </p:spPr>
      </p:sp>
      <p:sp>
        <p:nvSpPr>
          <p:cNvPr id="16" name="Pipeline box 216"/>
          <p:cNvSpPr/>
          <p:nvPr/>
        </p:nvSpPr>
        <p:spPr>
          <a:xfrm>
            <a:off x="9219895" y="1737360"/>
            <a:ext cx="2423160" cy="1051560"/>
          </a:xfrm>
          <a:prstGeom prst="roundRect">
            <a:avLst>
              <a:gd name="adj" fmla="val 6957"/>
            </a:avLst>
          </a:prstGeom>
          <a:solidFill>
            <a:schemeClr val="accent1"/>
          </a:solidFill>
          <a:ln/>
        </p:spPr>
      </p:sp>
      <p:sp>
        <p:nvSpPr>
          <p:cNvPr id="17" name="Text 217"/>
          <p:cNvSpPr txBox="1"/>
          <p:nvPr/>
        </p:nvSpPr>
        <p:spPr>
          <a:xfrm>
            <a:off x="9402775" y="1901952"/>
            <a:ext cx="2148840" cy="329184"/>
          </a:xfrm>
          <a:prstGeom prst="rect">
            <a:avLst/>
          </a:prstGeom>
          <a:noFill/>
          <a:ln/>
        </p:spPr>
        <p:txBody>
          <a:bodyPr wrap="square" lIns="0" tIns="0" rIns="0" bIns="0" rtlCol="0" anchor="t"/>
          <a:lstStyle/>
          <a:p>
            <a:pPr indent="0" marL="0">
              <a:buNone/>
            </a:pPr>
            <a:r>
              <a:rPr lang="en-US" sz="1400" b="1" dirty="0">
                <a:solidFill>
                  <a:schemeClr val="bg1"/>
                </a:solidFill>
                <a:latin typeface="Consolas" pitchFamily="34" charset="0"/>
                <a:ea typeface="Consolas" pitchFamily="34" charset="-122"/>
                <a:cs typeface="Consolas" pitchFamily="34" charset="-120"/>
              </a:rPr>
              <a:t>daily_offer_stats</a:t>
            </a:r>
            <a:endParaRPr lang="en-US" sz="1400" dirty="0"/>
          </a:p>
        </p:txBody>
      </p:sp>
      <p:sp>
        <p:nvSpPr>
          <p:cNvPr id="18" name="Text 218"/>
          <p:cNvSpPr txBox="1"/>
          <p:nvPr/>
        </p:nvSpPr>
        <p:spPr>
          <a:xfrm>
            <a:off x="9402775" y="2286000"/>
            <a:ext cx="2057400" cy="411480"/>
          </a:xfrm>
          <a:prstGeom prst="rect">
            <a:avLst/>
          </a:prstGeom>
          <a:noFill/>
          <a:ln/>
        </p:spPr>
        <p:txBody>
          <a:bodyPr wrap="square" lIns="0" tIns="0" rIns="0" bIns="0" rtlCol="0" anchor="t"/>
          <a:lstStyle/>
          <a:p>
            <a:pPr indent="0" marL="0">
              <a:buNone/>
            </a:pPr>
            <a:r>
              <a:rPr lang="en-US" sz="1200" dirty="0">
                <a:solidFill>
                  <a:schemeClr val="bg2"/>
                </a:solidFill>
              </a:rPr>
              <a:t>day × policy × segment × offer</a:t>
            </a:r>
            <a:endParaRPr lang="en-US" sz="1200" dirty="0"/>
          </a:p>
        </p:txBody>
      </p:sp>
      <p:sp>
        <p:nvSpPr>
          <p:cNvPr id="19" name="Text 219"/>
          <p:cNvSpPr txBox="1"/>
          <p:nvPr/>
        </p:nvSpPr>
        <p:spPr>
          <a:xfrm>
            <a:off x="9219895" y="2880360"/>
            <a:ext cx="2423160" cy="457200"/>
          </a:xfrm>
          <a:prstGeom prst="rect">
            <a:avLst/>
          </a:prstGeom>
          <a:noFill/>
          <a:ln/>
        </p:spPr>
        <p:txBody>
          <a:bodyPr wrap="square" lIns="0" tIns="0" rIns="0" bIns="0" rtlCol="0" anchor="t"/>
          <a:lstStyle/>
          <a:p>
            <a:pPr indent="0" marL="0">
              <a:buNone/>
            </a:pPr>
            <a:r>
              <a:rPr lang="en-US" sz="1200" i="1" dirty="0">
                <a:solidFill>
                  <a:schemeClr val="accent1"/>
                </a:solidFill>
              </a:rPr>
              <a:t>Reports and drift alerts read the daily table, never the raw log.</a:t>
            </a:r>
            <a:endParaRPr lang="en-US" sz="1200" dirty="0"/>
          </a:p>
        </p:txBody>
      </p:sp>
      <p:sp>
        <p:nvSpPr>
          <p:cNvPr id="20" name="Card 220"/>
          <p:cNvSpPr/>
          <p:nvPr/>
        </p:nvSpPr>
        <p:spPr>
          <a:xfrm>
            <a:off x="548640" y="3401568"/>
            <a:ext cx="5410048" cy="1243584"/>
          </a:xfrm>
          <a:prstGeom prst="roundRect">
            <a:avLst>
              <a:gd name="adj" fmla="val 5882"/>
            </a:avLst>
          </a:prstGeom>
          <a:solidFill>
            <a:schemeClr val="bg2"/>
          </a:solidFill>
          <a:ln/>
        </p:spPr>
      </p:sp>
      <p:sp>
        <p:nvSpPr>
          <p:cNvPr id="21" name="Text 221"/>
          <p:cNvSpPr txBox="1"/>
          <p:nvPr/>
        </p:nvSpPr>
        <p:spPr>
          <a:xfrm>
            <a:off x="822960" y="3547872"/>
            <a:ext cx="4861408" cy="329184"/>
          </a:xfrm>
          <a:prstGeom prst="rect">
            <a:avLst/>
          </a:prstGeom>
          <a:noFill/>
          <a:ln/>
        </p:spPr>
        <p:txBody>
          <a:bodyPr wrap="square" lIns="0" tIns="0" rIns="0" bIns="0" rtlCol="0" anchor="t"/>
          <a:lstStyle/>
          <a:p>
            <a:pPr indent="0" marL="0">
              <a:buNone/>
            </a:pPr>
            <a:r>
              <a:rPr lang="en-US" sz="1600" b="1" dirty="0">
                <a:solidFill>
                  <a:schemeClr val="accent1"/>
                </a:solidFill>
              </a:rPr>
              <a:t>Normalised</a:t>
            </a:r>
            <a:endParaRPr lang="en-US" sz="1600" dirty="0"/>
          </a:p>
        </p:txBody>
      </p:sp>
      <p:sp>
        <p:nvSpPr>
          <p:cNvPr id="22" name="Text 222"/>
          <p:cNvSpPr txBox="1"/>
          <p:nvPr/>
        </p:nvSpPr>
        <p:spPr>
          <a:xfrm>
            <a:off x="822960" y="3913632"/>
            <a:ext cx="4861408" cy="658368"/>
          </a:xfrm>
          <a:prstGeom prst="rect">
            <a:avLst/>
          </a:prstGeom>
          <a:noFill/>
          <a:ln/>
        </p:spPr>
        <p:txBody>
          <a:bodyPr wrap="square" lIns="0" tIns="0" rIns="0" bIns="0" rtlCol="0" anchor="t"/>
          <a:lstStyle/>
          <a:p>
            <a:pPr indent="0" marL="0">
              <a:buNone/>
            </a:pPr>
            <a:r>
              <a:rPr lang="en-US" sz="1400" dirty="0">
                <a:solidFill>
                  <a:schemeClr val="tx1"/>
                </a:solidFill>
              </a:rPr>
              <a:t>One row per app open, per offer shown and per response: plain SQL answers take-up by position, offer, policy or segment.</a:t>
            </a:r>
            <a:endParaRPr lang="en-US" sz="1400" dirty="0"/>
          </a:p>
        </p:txBody>
      </p:sp>
      <p:sp>
        <p:nvSpPr>
          <p:cNvPr id="23" name="Card 223"/>
          <p:cNvSpPr/>
          <p:nvPr/>
        </p:nvSpPr>
        <p:spPr>
          <a:xfrm>
            <a:off x="6233008" y="3401568"/>
            <a:ext cx="5410048" cy="1243584"/>
          </a:xfrm>
          <a:prstGeom prst="roundRect">
            <a:avLst>
              <a:gd name="adj" fmla="val 5882"/>
            </a:avLst>
          </a:prstGeom>
          <a:solidFill>
            <a:schemeClr val="bg2"/>
          </a:solidFill>
          <a:ln/>
        </p:spPr>
      </p:sp>
      <p:sp>
        <p:nvSpPr>
          <p:cNvPr id="24" name="Text 224"/>
          <p:cNvSpPr txBox="1"/>
          <p:nvPr/>
        </p:nvSpPr>
        <p:spPr>
          <a:xfrm>
            <a:off x="6507328" y="3547872"/>
            <a:ext cx="4861408" cy="329184"/>
          </a:xfrm>
          <a:prstGeom prst="rect">
            <a:avLst/>
          </a:prstGeom>
          <a:noFill/>
          <a:ln/>
        </p:spPr>
        <p:txBody>
          <a:bodyPr wrap="square" lIns="0" tIns="0" rIns="0" bIns="0" rtlCol="0" anchor="t"/>
          <a:lstStyle/>
          <a:p>
            <a:pPr indent="0" marL="0">
              <a:buNone/>
            </a:pPr>
            <a:r>
              <a:rPr lang="en-US" sz="1600" b="1" dirty="0">
                <a:solidFill>
                  <a:schemeClr val="accent1"/>
                </a:solidFill>
              </a:rPr>
              <a:t>Idempotent at the database</a:t>
            </a:r>
            <a:endParaRPr lang="en-US" sz="1600" dirty="0"/>
          </a:p>
        </p:txBody>
      </p:sp>
      <p:sp>
        <p:nvSpPr>
          <p:cNvPr id="25" name="Text 225"/>
          <p:cNvSpPr txBox="1"/>
          <p:nvPr/>
        </p:nvSpPr>
        <p:spPr>
          <a:xfrm>
            <a:off x="6507328" y="3913632"/>
            <a:ext cx="4861408" cy="658368"/>
          </a:xfrm>
          <a:prstGeom prst="rect">
            <a:avLst/>
          </a:prstGeom>
          <a:noFill/>
          <a:ln/>
        </p:spPr>
        <p:txBody>
          <a:bodyPr wrap="square" lIns="0" tIns="0" rIns="0" bIns="0" rtlCol="0" anchor="t"/>
          <a:lstStyle/>
          <a:p>
            <a:pPr indent="0" marL="0">
              <a:buNone/>
            </a:pPr>
            <a:r>
              <a:rPr lang="en-US" sz="1400" dirty="0">
                <a:solidFill>
                  <a:schemeClr val="tx1"/>
                </a:solidFill>
              </a:rPr>
              <a:t>The primary key (invocation_id, offer_id) and ON CONFLICT DO NOTHING turn a repeat into a 409, even across workers.</a:t>
            </a:r>
            <a:endParaRPr lang="en-US" sz="1400" dirty="0"/>
          </a:p>
        </p:txBody>
      </p:sp>
      <p:sp>
        <p:nvSpPr>
          <p:cNvPr id="26" name="Card 226"/>
          <p:cNvSpPr/>
          <p:nvPr/>
        </p:nvSpPr>
        <p:spPr>
          <a:xfrm>
            <a:off x="548640" y="4846320"/>
            <a:ext cx="5410048" cy="1243584"/>
          </a:xfrm>
          <a:prstGeom prst="roundRect">
            <a:avLst>
              <a:gd name="adj" fmla="val 5882"/>
            </a:avLst>
          </a:prstGeom>
          <a:solidFill>
            <a:schemeClr val="bg2"/>
          </a:solidFill>
          <a:ln/>
        </p:spPr>
      </p:sp>
      <p:sp>
        <p:nvSpPr>
          <p:cNvPr id="27" name="Text 227"/>
          <p:cNvSpPr txBox="1"/>
          <p:nvPr/>
        </p:nvSpPr>
        <p:spPr>
          <a:xfrm>
            <a:off x="822960" y="4992624"/>
            <a:ext cx="4861408" cy="329184"/>
          </a:xfrm>
          <a:prstGeom prst="rect">
            <a:avLst/>
          </a:prstGeom>
          <a:noFill/>
          <a:ln/>
        </p:spPr>
        <p:txBody>
          <a:bodyPr wrap="square" lIns="0" tIns="0" rIns="0" bIns="0" rtlCol="0" anchor="t"/>
          <a:lstStyle/>
          <a:p>
            <a:pPr indent="0" marL="0">
              <a:buNone/>
            </a:pPr>
            <a:r>
              <a:rPr lang="en-US" sz="1600" b="1" dirty="0">
                <a:solidFill>
                  <a:schemeClr val="accent1"/>
                </a:solidFill>
              </a:rPr>
              <a:t>Safe to rerun</a:t>
            </a:r>
            <a:endParaRPr lang="en-US" sz="1600" dirty="0"/>
          </a:p>
        </p:txBody>
      </p:sp>
      <p:sp>
        <p:nvSpPr>
          <p:cNvPr id="28" name="Text 228"/>
          <p:cNvSpPr txBox="1"/>
          <p:nvPr/>
        </p:nvSpPr>
        <p:spPr>
          <a:xfrm>
            <a:off x="822960" y="5358384"/>
            <a:ext cx="4861408" cy="658368"/>
          </a:xfrm>
          <a:prstGeom prst="rect">
            <a:avLst/>
          </a:prstGeom>
          <a:noFill/>
          <a:ln/>
        </p:spPr>
        <p:txBody>
          <a:bodyPr wrap="square" lIns="0" tIns="0" rIns="0" bIns="0" rtlCol="0" anchor="t"/>
          <a:lstStyle/>
          <a:p>
            <a:pPr indent="0" marL="0">
              <a:buNone/>
            </a:pPr>
            <a:r>
              <a:rPr lang="en-US" sz="1400" dirty="0">
                <a:solidFill>
                  <a:schemeClr val="tx1"/>
                </a:solidFill>
              </a:rPr>
              <a:t>A day is rebuilt in one transaction, so a rerun replaces it and picks up late responses. Days follow Johannesburg time.</a:t>
            </a:r>
            <a:endParaRPr lang="en-US" sz="1400" dirty="0"/>
          </a:p>
        </p:txBody>
      </p:sp>
      <p:sp>
        <p:nvSpPr>
          <p:cNvPr id="29" name="Card 229"/>
          <p:cNvSpPr/>
          <p:nvPr/>
        </p:nvSpPr>
        <p:spPr>
          <a:xfrm>
            <a:off x="6233008" y="4846320"/>
            <a:ext cx="5410048" cy="1243584"/>
          </a:xfrm>
          <a:prstGeom prst="roundRect">
            <a:avLst>
              <a:gd name="adj" fmla="val 5882"/>
            </a:avLst>
          </a:prstGeom>
          <a:solidFill>
            <a:schemeClr val="bg2"/>
          </a:solidFill>
          <a:ln/>
        </p:spPr>
      </p:sp>
      <p:sp>
        <p:nvSpPr>
          <p:cNvPr id="30" name="Text 230"/>
          <p:cNvSpPr txBox="1"/>
          <p:nvPr/>
        </p:nvSpPr>
        <p:spPr>
          <a:xfrm>
            <a:off x="6507328" y="4992624"/>
            <a:ext cx="4861408" cy="329184"/>
          </a:xfrm>
          <a:prstGeom prst="rect">
            <a:avLst/>
          </a:prstGeom>
          <a:noFill/>
          <a:ln/>
        </p:spPr>
        <p:txBody>
          <a:bodyPr wrap="square" lIns="0" tIns="0" rIns="0" bIns="0" rtlCol="0" anchor="t"/>
          <a:lstStyle/>
          <a:p>
            <a:pPr indent="0" marL="0">
              <a:buNone/>
            </a:pPr>
            <a:r>
              <a:rPr lang="en-US" sz="1600" b="1" dirty="0">
                <a:solidFill>
                  <a:schemeClr val="accent1"/>
                </a:solidFill>
              </a:rPr>
              <a:t>Portable</a:t>
            </a:r>
            <a:endParaRPr lang="en-US" sz="1600" dirty="0"/>
          </a:p>
        </p:txBody>
      </p:sp>
      <p:sp>
        <p:nvSpPr>
          <p:cNvPr id="31" name="Text 231"/>
          <p:cNvSpPr txBox="1"/>
          <p:nvPr/>
        </p:nvSpPr>
        <p:spPr>
          <a:xfrm>
            <a:off x="6507328" y="5358384"/>
            <a:ext cx="4861408" cy="658368"/>
          </a:xfrm>
          <a:prstGeom prst="rect">
            <a:avLst/>
          </a:prstGeom>
          <a:noFill/>
          <a:ln/>
        </p:spPr>
        <p:txBody>
          <a:bodyPr wrap="square" lIns="0" tIns="0" rIns="0" bIns="0" rtlCol="0" anchor="t"/>
          <a:lstStyle/>
          <a:p>
            <a:pPr indent="0" marL="0">
              <a:buNone/>
            </a:pPr>
            <a:r>
              <a:rPr lang="en-US" sz="1400" dirty="0">
                <a:solidFill>
                  <a:schemeClr val="tx1"/>
                </a:solidFill>
              </a:rPr>
              <a:t>Postgres in production, SQLite on a laptop: the same SQLAlchemy Core code, and the tests run on both.</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ENGINEERING</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Four bugs only measurement could catch</a:t>
            </a:r>
            <a:endParaRPr lang="en-US" sz="3600" dirty="0"/>
          </a:p>
        </p:txBody>
      </p:sp>
      <p:sp>
        <p:nvSpPr>
          <p:cNvPr id="4" name="Card 232"/>
          <p:cNvSpPr/>
          <p:nvPr/>
        </p:nvSpPr>
        <p:spPr>
          <a:xfrm>
            <a:off x="548640" y="1627632"/>
            <a:ext cx="5410048" cy="2212848"/>
          </a:xfrm>
          <a:prstGeom prst="roundRect">
            <a:avLst>
              <a:gd name="adj" fmla="val 3306"/>
            </a:avLst>
          </a:prstGeom>
          <a:solidFill>
            <a:schemeClr val="bg2"/>
          </a:solidFill>
          <a:ln/>
        </p:spPr>
      </p:sp>
      <p:sp>
        <p:nvSpPr>
          <p:cNvPr id="5" name="Step 233"/>
          <p:cNvSpPr txBox="1"/>
          <p:nvPr/>
        </p:nvSpPr>
        <p:spPr>
          <a:xfrm>
            <a:off x="822960" y="1856232"/>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 234"/>
          <p:cNvSpPr txBox="1"/>
          <p:nvPr/>
        </p:nvSpPr>
        <p:spPr>
          <a:xfrm>
            <a:off x="1371600" y="1865376"/>
            <a:ext cx="4312768" cy="365760"/>
          </a:xfrm>
          <a:prstGeom prst="rect">
            <a:avLst/>
          </a:prstGeom>
          <a:noFill/>
          <a:ln/>
        </p:spPr>
        <p:txBody>
          <a:bodyPr wrap="square" lIns="0" tIns="0" rIns="0" bIns="0" rtlCol="0" anchor="t"/>
          <a:lstStyle/>
          <a:p>
            <a:pPr indent="0" marL="0">
              <a:buNone/>
            </a:pPr>
            <a:r>
              <a:rPr lang="en-US" sz="1800" b="1" dirty="0">
                <a:solidFill>
                  <a:schemeClr val="tx1"/>
                </a:solidFill>
              </a:rPr>
              <a:t>Lost learning</a:t>
            </a:r>
            <a:endParaRPr lang="en-US" sz="1800" dirty="0"/>
          </a:p>
        </p:txBody>
      </p:sp>
      <p:sp>
        <p:nvSpPr>
          <p:cNvPr id="7" name="Text 235"/>
          <p:cNvSpPr txBox="1"/>
          <p:nvPr/>
        </p:nvSpPr>
        <p:spPr>
          <a:xfrm>
            <a:off x="822960" y="2359152"/>
            <a:ext cx="4861408" cy="1371600"/>
          </a:xfrm>
          <a:prstGeom prst="rect">
            <a:avLst/>
          </a:prstGeom>
          <a:noFill/>
          <a:ln/>
        </p:spPr>
        <p:txBody>
          <a:bodyPr wrap="square" lIns="0" tIns="0" rIns="0" bIns="0" rtlCol="0" anchor="t"/>
          <a:lstStyle/>
          <a:p>
            <a:pPr indent="0" marL="0">
              <a:spcAft>
                <a:spcPts val="500"/>
              </a:spcAft>
              <a:buNone/>
            </a:pPr>
            <a:r>
              <a:rPr lang="en-US" sz="1400" b="1" dirty="0">
                <a:solidFill>
                  <a:schemeClr val="accent1"/>
                </a:solidFill>
              </a:rPr>
              <a:t>Found  </a:t>
            </a:r>
            <a:pPr indent="0" marL="0">
              <a:spcAft>
                <a:spcPts val="500"/>
              </a:spcAft>
              <a:buNone/>
            </a:pPr>
            <a:r>
              <a:rPr lang="en-US" sz="1400" dirty="0">
                <a:solidFill>
                  <a:schemeClr val="tx1"/>
                </a:solidFill>
              </a:rPr>
              <a:t>A read-modify-write update lost 445 of 600 concurrent updates (74%).</a:t>
            </a:r>
            <a:endParaRPr lang="en-US" sz="1400" dirty="0"/>
          </a:p>
          <a:p>
            <a:pPr indent="0" marL="0">
              <a:spcAft>
                <a:spcPts val="500"/>
              </a:spcAft>
              <a:buNone/>
            </a:pPr>
            <a:r>
              <a:rPr lang="en-US" sz="1400" b="1" dirty="0">
                <a:solidFill>
                  <a:schemeClr val="accent1"/>
                </a:solidFill>
              </a:rPr>
              <a:t>Fix  </a:t>
            </a:r>
            <a:pPr indent="0" marL="0">
              <a:spcAft>
                <a:spcPts val="500"/>
              </a:spcAft>
              <a:buNone/>
            </a:pPr>
            <a:r>
              <a:rPr lang="en-US" sz="1400" dirty="0">
                <a:solidFill>
                  <a:schemeClr val="tx1"/>
                </a:solidFill>
              </a:rPr>
              <a:t>One atomic SQL statement, computed in the database.</a:t>
            </a:r>
            <a:endParaRPr lang="en-US" sz="1400" dirty="0"/>
          </a:p>
          <a:p>
            <a:pPr indent="0" marL="0">
              <a:spcAft>
                <a:spcPts val="500"/>
              </a:spcAft>
              <a:buNone/>
            </a:pPr>
            <a:r>
              <a:rPr lang="en-US" sz="1400" b="1" dirty="0">
                <a:solidFill>
                  <a:schemeClr val="accent1"/>
                </a:solidFill>
              </a:rPr>
              <a:t>Proof  </a:t>
            </a:r>
            <a:pPr indent="0" marL="0">
              <a:spcAft>
                <a:spcPts val="500"/>
              </a:spcAft>
              <a:buNone/>
            </a:pPr>
            <a:r>
              <a:rPr lang="en-US" sz="1400" dirty="0">
                <a:solidFill>
                  <a:schemeClr val="tx1"/>
                </a:solidFill>
              </a:rPr>
              <a:t>4 threads × 150 updates, none lost, on SQLite and Postgres.</a:t>
            </a:r>
            <a:endParaRPr lang="en-US" sz="1400" dirty="0"/>
          </a:p>
        </p:txBody>
      </p:sp>
      <p:sp>
        <p:nvSpPr>
          <p:cNvPr id="8" name="Card 236"/>
          <p:cNvSpPr/>
          <p:nvPr/>
        </p:nvSpPr>
        <p:spPr>
          <a:xfrm>
            <a:off x="6233008" y="1627632"/>
            <a:ext cx="5410048" cy="2212848"/>
          </a:xfrm>
          <a:prstGeom prst="roundRect">
            <a:avLst>
              <a:gd name="adj" fmla="val 3306"/>
            </a:avLst>
          </a:prstGeom>
          <a:solidFill>
            <a:schemeClr val="bg2"/>
          </a:solidFill>
          <a:ln/>
        </p:spPr>
      </p:sp>
      <p:sp>
        <p:nvSpPr>
          <p:cNvPr id="9" name="Step 237"/>
          <p:cNvSpPr txBox="1"/>
          <p:nvPr/>
        </p:nvSpPr>
        <p:spPr>
          <a:xfrm>
            <a:off x="6507328" y="1856232"/>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Text 238"/>
          <p:cNvSpPr txBox="1"/>
          <p:nvPr/>
        </p:nvSpPr>
        <p:spPr>
          <a:xfrm>
            <a:off x="7055968" y="1865376"/>
            <a:ext cx="4312768" cy="365760"/>
          </a:xfrm>
          <a:prstGeom prst="rect">
            <a:avLst/>
          </a:prstGeom>
          <a:noFill/>
          <a:ln/>
        </p:spPr>
        <p:txBody>
          <a:bodyPr wrap="square" lIns="0" tIns="0" rIns="0" bIns="0" rtlCol="0" anchor="t"/>
          <a:lstStyle/>
          <a:p>
            <a:pPr indent="0" marL="0">
              <a:buNone/>
            </a:pPr>
            <a:r>
              <a:rPr lang="en-US" sz="1800" b="1" dirty="0">
                <a:solidFill>
                  <a:schemeClr val="tx1"/>
                </a:solidFill>
              </a:rPr>
              <a:t>Learning twice</a:t>
            </a:r>
            <a:endParaRPr lang="en-US" sz="1800" dirty="0"/>
          </a:p>
        </p:txBody>
      </p:sp>
      <p:sp>
        <p:nvSpPr>
          <p:cNvPr id="11" name="Text 239"/>
          <p:cNvSpPr txBox="1"/>
          <p:nvPr/>
        </p:nvSpPr>
        <p:spPr>
          <a:xfrm>
            <a:off x="6507328" y="2359152"/>
            <a:ext cx="4861408" cy="1371600"/>
          </a:xfrm>
          <a:prstGeom prst="rect">
            <a:avLst/>
          </a:prstGeom>
          <a:noFill/>
          <a:ln/>
        </p:spPr>
        <p:txBody>
          <a:bodyPr wrap="square" lIns="0" tIns="0" rIns="0" bIns="0" rtlCol="0" anchor="t"/>
          <a:lstStyle/>
          <a:p>
            <a:pPr indent="0" marL="0">
              <a:spcAft>
                <a:spcPts val="500"/>
              </a:spcAft>
              <a:buNone/>
            </a:pPr>
            <a:r>
              <a:rPr lang="en-US" sz="1400" b="1" dirty="0">
                <a:solidFill>
                  <a:schemeClr val="accent1"/>
                </a:solidFill>
              </a:rPr>
              <a:t>Found  </a:t>
            </a:r>
            <a:pPr indent="0" marL="0">
              <a:spcAft>
                <a:spcPts val="500"/>
              </a:spcAft>
              <a:buNone/>
            </a:pPr>
            <a:r>
              <a:rPr lang="en-US" sz="1400" dirty="0">
                <a:solidFill>
                  <a:schemeClr val="tx1"/>
                </a:solidFill>
              </a:rPr>
              <a:t>Postgres reports rowcount −1 for ON CONFLICT DO NOTHING: 8 copies of one take-up were all learned.</a:t>
            </a:r>
            <a:endParaRPr lang="en-US" sz="1400" dirty="0"/>
          </a:p>
          <a:p>
            <a:pPr indent="0" marL="0">
              <a:spcAft>
                <a:spcPts val="500"/>
              </a:spcAft>
              <a:buNone/>
            </a:pPr>
            <a:r>
              <a:rPr lang="en-US" sz="1400" b="1" dirty="0">
                <a:solidFill>
                  <a:schemeClr val="accent1"/>
                </a:solidFill>
              </a:rPr>
              <a:t>Fix  </a:t>
            </a:r>
            <a:pPr indent="0" marL="0">
              <a:spcAft>
                <a:spcPts val="500"/>
              </a:spcAft>
              <a:buNone/>
            </a:pPr>
            <a:r>
              <a:rPr lang="en-US" sz="1400" dirty="0">
                <a:solidFill>
                  <a:schemeClr val="tx1"/>
                </a:solidFill>
              </a:rPr>
              <a:t>Detect a duplicate with RETURNING.</a:t>
            </a:r>
            <a:endParaRPr lang="en-US" sz="1400" dirty="0"/>
          </a:p>
          <a:p>
            <a:pPr indent="0" marL="0">
              <a:spcAft>
                <a:spcPts val="500"/>
              </a:spcAft>
              <a:buNone/>
            </a:pPr>
            <a:r>
              <a:rPr lang="en-US" sz="1400" b="1" dirty="0">
                <a:solidFill>
                  <a:schemeClr val="accent1"/>
                </a:solidFill>
              </a:rPr>
              <a:t>Proof  </a:t>
            </a:r>
            <a:pPr indent="0" marL="0">
              <a:spcAft>
                <a:spcPts val="500"/>
              </a:spcAft>
              <a:buNone/>
            </a:pPr>
            <a:r>
              <a:rPr lang="en-US" sz="1400" dirty="0">
                <a:solidFill>
                  <a:schemeClr val="tx1"/>
                </a:solidFill>
              </a:rPr>
              <a:t>8 threads send one response; exactly one is recorded.</a:t>
            </a:r>
            <a:endParaRPr lang="en-US" sz="1400" dirty="0"/>
          </a:p>
        </p:txBody>
      </p:sp>
      <p:sp>
        <p:nvSpPr>
          <p:cNvPr id="12" name="Card 240"/>
          <p:cNvSpPr/>
          <p:nvPr/>
        </p:nvSpPr>
        <p:spPr>
          <a:xfrm>
            <a:off x="548640" y="4069080"/>
            <a:ext cx="5410048" cy="2212848"/>
          </a:xfrm>
          <a:prstGeom prst="roundRect">
            <a:avLst>
              <a:gd name="adj" fmla="val 3306"/>
            </a:avLst>
          </a:prstGeom>
          <a:solidFill>
            <a:schemeClr val="bg2"/>
          </a:solidFill>
          <a:ln/>
        </p:spPr>
      </p:sp>
      <p:sp>
        <p:nvSpPr>
          <p:cNvPr id="13" name="Step 241"/>
          <p:cNvSpPr txBox="1"/>
          <p:nvPr/>
        </p:nvSpPr>
        <p:spPr>
          <a:xfrm>
            <a:off x="822960" y="4297680"/>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242"/>
          <p:cNvSpPr txBox="1"/>
          <p:nvPr/>
        </p:nvSpPr>
        <p:spPr>
          <a:xfrm>
            <a:off x="1371600" y="4306824"/>
            <a:ext cx="4312768" cy="365760"/>
          </a:xfrm>
          <a:prstGeom prst="rect">
            <a:avLst/>
          </a:prstGeom>
          <a:noFill/>
          <a:ln/>
        </p:spPr>
        <p:txBody>
          <a:bodyPr wrap="square" lIns="0" tIns="0" rIns="0" bIns="0" rtlCol="0" anchor="t"/>
          <a:lstStyle/>
          <a:p>
            <a:pPr indent="0" marL="0">
              <a:buNone/>
            </a:pPr>
            <a:r>
              <a:rPr lang="en-US" sz="1800" b="1" dirty="0">
                <a:solidFill>
                  <a:schemeClr val="tx1"/>
                </a:solidFill>
              </a:rPr>
              <a:t>Deadlock at 4 workers</a:t>
            </a:r>
            <a:endParaRPr lang="en-US" sz="1800" dirty="0"/>
          </a:p>
        </p:txBody>
      </p:sp>
      <p:sp>
        <p:nvSpPr>
          <p:cNvPr id="15" name="Text 243"/>
          <p:cNvSpPr txBox="1"/>
          <p:nvPr/>
        </p:nvSpPr>
        <p:spPr>
          <a:xfrm>
            <a:off x="822960" y="4800600"/>
            <a:ext cx="4861408" cy="1371600"/>
          </a:xfrm>
          <a:prstGeom prst="rect">
            <a:avLst/>
          </a:prstGeom>
          <a:noFill/>
          <a:ln/>
        </p:spPr>
        <p:txBody>
          <a:bodyPr wrap="square" lIns="0" tIns="0" rIns="0" bIns="0" rtlCol="0" anchor="t"/>
          <a:lstStyle/>
          <a:p>
            <a:pPr indent="0" marL="0">
              <a:spcAft>
                <a:spcPts val="500"/>
              </a:spcAft>
              <a:buNone/>
            </a:pPr>
            <a:r>
              <a:rPr lang="en-US" sz="1400" b="1" dirty="0">
                <a:solidFill>
                  <a:schemeClr val="accent1"/>
                </a:solidFill>
              </a:rPr>
              <a:t>Found  </a:t>
            </a:r>
            <a:pPr indent="0" marL="0">
              <a:spcAft>
                <a:spcPts val="500"/>
              </a:spcAft>
              <a:buNone/>
            </a:pPr>
            <a:r>
              <a:rPr lang="en-US" sz="1400" dirty="0">
                <a:solidFill>
                  <a:schemeClr val="tx1"/>
                </a:solidFill>
              </a:rPr>
              <a:t>Forgetting locked a segment's rows in different orders.</a:t>
            </a:r>
            <a:endParaRPr lang="en-US" sz="1400" dirty="0"/>
          </a:p>
          <a:p>
            <a:pPr indent="0" marL="0">
              <a:spcAft>
                <a:spcPts val="500"/>
              </a:spcAft>
              <a:buNone/>
            </a:pPr>
            <a:r>
              <a:rPr lang="en-US" sz="1400" b="1" dirty="0">
                <a:solidFill>
                  <a:schemeClr val="accent1"/>
                </a:solidFill>
              </a:rPr>
              <a:t>Fix  </a:t>
            </a:r>
            <a:pPr indent="0" marL="0">
              <a:spcAft>
                <a:spcPts val="500"/>
              </a:spcAft>
              <a:buNone/>
            </a:pPr>
            <a:r>
              <a:rPr lang="en-US" sz="1400" dirty="0">
                <a:solidFill>
                  <a:schemeClr val="tx1"/>
                </a:solidFill>
              </a:rPr>
              <a:t>A per-context advisory lock fixes the order.</a:t>
            </a:r>
            <a:endParaRPr lang="en-US" sz="1400" dirty="0"/>
          </a:p>
          <a:p>
            <a:pPr indent="0" marL="0">
              <a:spcAft>
                <a:spcPts val="500"/>
              </a:spcAft>
              <a:buNone/>
            </a:pPr>
            <a:r>
              <a:rPr lang="en-US" sz="1400" b="1" dirty="0">
                <a:solidFill>
                  <a:schemeClr val="accent1"/>
                </a:solidFill>
              </a:rPr>
              <a:t>Proof  </a:t>
            </a:r>
            <a:pPr indent="0" marL="0">
              <a:spcAft>
                <a:spcPts val="500"/>
              </a:spcAft>
              <a:buNone/>
            </a:pPr>
            <a:r>
              <a:rPr lang="en-US" sz="1400" dirty="0">
                <a:solidFill>
                  <a:schemeClr val="tx1"/>
                </a:solidFill>
              </a:rPr>
              <a:t>No deadlocks from 1 to 16 concurrent clients.</a:t>
            </a:r>
            <a:endParaRPr lang="en-US" sz="1400" dirty="0"/>
          </a:p>
        </p:txBody>
      </p:sp>
      <p:sp>
        <p:nvSpPr>
          <p:cNvPr id="16" name="Card 244"/>
          <p:cNvSpPr/>
          <p:nvPr/>
        </p:nvSpPr>
        <p:spPr>
          <a:xfrm>
            <a:off x="6233008" y="4069080"/>
            <a:ext cx="5410048" cy="2212848"/>
          </a:xfrm>
          <a:prstGeom prst="roundRect">
            <a:avLst>
              <a:gd name="adj" fmla="val 3306"/>
            </a:avLst>
          </a:prstGeom>
          <a:solidFill>
            <a:schemeClr val="bg2"/>
          </a:solidFill>
          <a:ln/>
        </p:spPr>
      </p:sp>
      <p:sp>
        <p:nvSpPr>
          <p:cNvPr id="17" name="Step 245"/>
          <p:cNvSpPr txBox="1"/>
          <p:nvPr/>
        </p:nvSpPr>
        <p:spPr>
          <a:xfrm>
            <a:off x="6507328" y="4297680"/>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8" name="Text 246"/>
          <p:cNvSpPr txBox="1"/>
          <p:nvPr/>
        </p:nvSpPr>
        <p:spPr>
          <a:xfrm>
            <a:off x="7055968" y="4306824"/>
            <a:ext cx="4312768" cy="365760"/>
          </a:xfrm>
          <a:prstGeom prst="rect">
            <a:avLst/>
          </a:prstGeom>
          <a:noFill/>
          <a:ln/>
        </p:spPr>
        <p:txBody>
          <a:bodyPr wrap="square" lIns="0" tIns="0" rIns="0" bIns="0" rtlCol="0" anchor="t"/>
          <a:lstStyle/>
          <a:p>
            <a:pPr indent="0" marL="0">
              <a:buNone/>
            </a:pPr>
            <a:r>
              <a:rPr lang="en-US" sz="1800" b="1" dirty="0">
                <a:solidFill>
                  <a:schemeClr val="tx1"/>
                </a:solidFill>
              </a:rPr>
              <a:t>Phantom latency</a:t>
            </a:r>
            <a:endParaRPr lang="en-US" sz="1800" dirty="0"/>
          </a:p>
        </p:txBody>
      </p:sp>
      <p:sp>
        <p:nvSpPr>
          <p:cNvPr id="19" name="Text 247"/>
          <p:cNvSpPr txBox="1"/>
          <p:nvPr/>
        </p:nvSpPr>
        <p:spPr>
          <a:xfrm>
            <a:off x="6507328" y="4800600"/>
            <a:ext cx="4861408" cy="1371600"/>
          </a:xfrm>
          <a:prstGeom prst="rect">
            <a:avLst/>
          </a:prstGeom>
          <a:noFill/>
          <a:ln/>
        </p:spPr>
        <p:txBody>
          <a:bodyPr wrap="square" lIns="0" tIns="0" rIns="0" bIns="0" rtlCol="0" anchor="t"/>
          <a:lstStyle/>
          <a:p>
            <a:pPr indent="0" marL="0">
              <a:spcAft>
                <a:spcPts val="500"/>
              </a:spcAft>
              <a:buNone/>
            </a:pPr>
            <a:r>
              <a:rPr lang="en-US" sz="1400" b="1" dirty="0">
                <a:solidFill>
                  <a:schemeClr val="accent1"/>
                </a:solidFill>
              </a:rPr>
              <a:t>Found  </a:t>
            </a:r>
            <a:pPr indent="0" marL="0">
              <a:spcAft>
                <a:spcPts val="500"/>
              </a:spcAft>
              <a:buNone/>
            </a:pPr>
            <a:r>
              <a:rPr lang="en-US" sz="1400" dirty="0">
                <a:solidFill>
                  <a:schemeClr val="tx1"/>
                </a:solidFill>
              </a:rPr>
              <a:t>Docker Desktop's port forwarding added about 45 ms to every POST.</a:t>
            </a:r>
            <a:endParaRPr lang="en-US" sz="1400" dirty="0"/>
          </a:p>
          <a:p>
            <a:pPr indent="0" marL="0">
              <a:spcAft>
                <a:spcPts val="500"/>
              </a:spcAft>
              <a:buNone/>
            </a:pPr>
            <a:r>
              <a:rPr lang="en-US" sz="1400" b="1" dirty="0">
                <a:solidFill>
                  <a:schemeClr val="accent1"/>
                </a:solidFill>
              </a:rPr>
              <a:t>Fix  </a:t>
            </a:r>
            <a:pPr indent="0" marL="0">
              <a:spcAft>
                <a:spcPts val="500"/>
              </a:spcAft>
              <a:buNone/>
            </a:pPr>
            <a:r>
              <a:rPr lang="en-US" sz="1400" dirty="0">
                <a:solidFill>
                  <a:schemeClr val="tx1"/>
                </a:solidFill>
              </a:rPr>
              <a:t>Measure from inside the Docker network.</a:t>
            </a:r>
            <a:endParaRPr lang="en-US" sz="1400" dirty="0"/>
          </a:p>
          <a:p>
            <a:pPr indent="0" marL="0">
              <a:spcAft>
                <a:spcPts val="500"/>
              </a:spcAft>
              <a:buNone/>
            </a:pPr>
            <a:r>
              <a:rPr lang="en-US" sz="1400" b="1" dirty="0">
                <a:solidFill>
                  <a:schemeClr val="accent1"/>
                </a:solidFill>
              </a:rPr>
              <a:t>Proof  </a:t>
            </a:r>
            <a:pPr indent="0" marL="0">
              <a:spcAft>
                <a:spcPts val="500"/>
              </a:spcAft>
              <a:buNone/>
            </a:pPr>
            <a:r>
              <a:rPr lang="en-US" sz="1400" dirty="0">
                <a:solidFill>
                  <a:schemeClr val="tx1"/>
                </a:solidFill>
              </a:rPr>
              <a:t>p95 15 ms at 1 client, 22–25 ms at 4.</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WHAT PRODUCTION NEEDS</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What I would build next</a:t>
            </a:r>
            <a:endParaRPr lang="en-US" sz="3600" dirty="0"/>
          </a:p>
        </p:txBody>
      </p:sp>
      <p:sp>
        <p:nvSpPr>
          <p:cNvPr id="4" name="Card 248"/>
          <p:cNvSpPr/>
          <p:nvPr/>
        </p:nvSpPr>
        <p:spPr>
          <a:xfrm>
            <a:off x="548640" y="1645920"/>
            <a:ext cx="3515258" cy="3794760"/>
          </a:xfrm>
          <a:prstGeom prst="roundRect">
            <a:avLst>
              <a:gd name="adj" fmla="val 2081"/>
            </a:avLst>
          </a:prstGeom>
          <a:solidFill>
            <a:schemeClr val="bg2"/>
          </a:solidFill>
          <a:ln/>
        </p:spPr>
      </p:sp>
      <p:sp>
        <p:nvSpPr>
          <p:cNvPr id="5" name="Step 249"/>
          <p:cNvSpPr txBox="1"/>
          <p:nvPr/>
        </p:nvSpPr>
        <p:spPr>
          <a:xfrm>
            <a:off x="822960" y="187452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250"/>
          <p:cNvSpPr txBox="1"/>
          <p:nvPr/>
        </p:nvSpPr>
        <p:spPr>
          <a:xfrm>
            <a:off x="1417320" y="1938528"/>
            <a:ext cx="2417978" cy="365760"/>
          </a:xfrm>
          <a:prstGeom prst="rect">
            <a:avLst/>
          </a:prstGeom>
          <a:noFill/>
          <a:ln/>
        </p:spPr>
        <p:txBody>
          <a:bodyPr wrap="square" lIns="0" tIns="0" rIns="0" bIns="0" rtlCol="0" anchor="t"/>
          <a:lstStyle/>
          <a:p>
            <a:pPr indent="0" marL="0">
              <a:buNone/>
            </a:pPr>
            <a:r>
              <a:rPr lang="en-US" sz="1900" b="1" dirty="0">
                <a:solidFill>
                  <a:schemeClr val="tx1"/>
                </a:solidFill>
              </a:rPr>
              <a:t>Harden</a:t>
            </a:r>
            <a:endParaRPr lang="en-US" sz="1900" dirty="0"/>
          </a:p>
        </p:txBody>
      </p:sp>
      <p:sp>
        <p:nvSpPr>
          <p:cNvPr id="7" name="Text 251"/>
          <p:cNvSpPr txBox="1"/>
          <p:nvPr/>
        </p:nvSpPr>
        <p:spPr>
          <a:xfrm>
            <a:off x="822960" y="2560320"/>
            <a:ext cx="2966618" cy="2743200"/>
          </a:xfrm>
          <a:prstGeom prst="rect">
            <a:avLst/>
          </a:prstGeom>
          <a:noFill/>
          <a:ln/>
        </p:spPr>
        <p:txBody>
          <a:bodyPr wrap="square" lIns="0" tIns="0" rIns="0" bIns="0" rtlCol="0" anchor="t"/>
          <a:lstStyle/>
          <a:p>
            <a:pPr marL="203200" indent="-203200">
              <a:spcAft>
                <a:spcPts val="1400"/>
              </a:spcAft>
              <a:buSzPct val="100000"/>
              <a:buChar char="•"/>
            </a:pPr>
            <a:r>
              <a:rPr lang="en-US" sz="1500" dirty="0">
                <a:solidFill>
                  <a:schemeClr val="tx1"/>
                </a:solidFill>
              </a:rPr>
              <a:t>Read beliefs outside the ranking lock: today a worker's app opens queue on one database read</a:t>
            </a:r>
            <a:endParaRPr lang="en-US" sz="1500" dirty="0"/>
          </a:p>
          <a:p>
            <a:pPr marL="203200" indent="-203200">
              <a:spcAft>
                <a:spcPts val="1400"/>
              </a:spcAft>
              <a:buSzPct val="100000"/>
              <a:buChar char="•"/>
            </a:pPr>
            <a:r>
              <a:rPr lang="en-US" sz="1500" dirty="0">
                <a:solidFill>
                  <a:schemeClr val="tx1"/>
                </a:solidFill>
              </a:rPr>
              <a:t>Log and learn in one transaction, with a tool to replay the log into the options store</a:t>
            </a:r>
            <a:endParaRPr lang="en-US" sz="1500" dirty="0"/>
          </a:p>
          <a:p>
            <a:pPr marL="203200" indent="-203200">
              <a:spcAft>
                <a:spcPts val="1400"/>
              </a:spcAft>
              <a:buSzPct val="100000"/>
              <a:buChar char="•"/>
            </a:pPr>
            <a:r>
              <a:rPr lang="en-US" sz="1500" dirty="0">
                <a:solidFill>
                  <a:schemeClr val="tx1"/>
                </a:solidFill>
              </a:rPr>
              <a:t>Version the logged context, so a deploy can't break responses in flight</a:t>
            </a:r>
            <a:endParaRPr lang="en-US" sz="1500" dirty="0"/>
          </a:p>
        </p:txBody>
      </p:sp>
      <p:sp>
        <p:nvSpPr>
          <p:cNvPr id="8" name="Card 252"/>
          <p:cNvSpPr/>
          <p:nvPr/>
        </p:nvSpPr>
        <p:spPr>
          <a:xfrm>
            <a:off x="4338218" y="1645920"/>
            <a:ext cx="3515258" cy="3794760"/>
          </a:xfrm>
          <a:prstGeom prst="roundRect">
            <a:avLst>
              <a:gd name="adj" fmla="val 2081"/>
            </a:avLst>
          </a:prstGeom>
          <a:solidFill>
            <a:schemeClr val="bg2"/>
          </a:solidFill>
          <a:ln/>
        </p:spPr>
      </p:sp>
      <p:sp>
        <p:nvSpPr>
          <p:cNvPr id="9" name="Step 253"/>
          <p:cNvSpPr txBox="1"/>
          <p:nvPr/>
        </p:nvSpPr>
        <p:spPr>
          <a:xfrm>
            <a:off x="4612538" y="187452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254"/>
          <p:cNvSpPr txBox="1"/>
          <p:nvPr/>
        </p:nvSpPr>
        <p:spPr>
          <a:xfrm>
            <a:off x="5206898" y="1938528"/>
            <a:ext cx="2417978" cy="365760"/>
          </a:xfrm>
          <a:prstGeom prst="rect">
            <a:avLst/>
          </a:prstGeom>
          <a:noFill/>
          <a:ln/>
        </p:spPr>
        <p:txBody>
          <a:bodyPr wrap="square" lIns="0" tIns="0" rIns="0" bIns="0" rtlCol="0" anchor="t"/>
          <a:lstStyle/>
          <a:p>
            <a:pPr indent="0" marL="0">
              <a:buNone/>
            </a:pPr>
            <a:r>
              <a:rPr lang="en-US" sz="1900" b="1" dirty="0">
                <a:solidFill>
                  <a:schemeClr val="tx1"/>
                </a:solidFill>
              </a:rPr>
              <a:t>Scale</a:t>
            </a:r>
            <a:endParaRPr lang="en-US" sz="1900" dirty="0"/>
          </a:p>
        </p:txBody>
      </p:sp>
      <p:sp>
        <p:nvSpPr>
          <p:cNvPr id="11" name="Text 255"/>
          <p:cNvSpPr txBox="1"/>
          <p:nvPr/>
        </p:nvSpPr>
        <p:spPr>
          <a:xfrm>
            <a:off x="4612538" y="2560320"/>
            <a:ext cx="2966618" cy="2743200"/>
          </a:xfrm>
          <a:prstGeom prst="rect">
            <a:avLst/>
          </a:prstGeom>
          <a:noFill/>
          <a:ln/>
        </p:spPr>
        <p:txBody>
          <a:bodyPr wrap="square" lIns="0" tIns="0" rIns="0" bIns="0" rtlCol="0" anchor="t"/>
          <a:lstStyle/>
          <a:p>
            <a:pPr marL="203200" indent="-203200">
              <a:spcAft>
                <a:spcPts val="1400"/>
              </a:spcAft>
              <a:buSzPct val="100000"/>
              <a:buChar char="•"/>
            </a:pPr>
            <a:r>
              <a:rPr lang="en-US" sz="1500" dirty="0">
                <a:solidFill>
                  <a:schemeClr val="tx1"/>
                </a:solidFill>
              </a:rPr>
              <a:t>Take learning off the request path: a stream or Postgres outbox, applied by a consumer</a:t>
            </a:r>
            <a:endParaRPr lang="en-US" sz="1500" dirty="0"/>
          </a:p>
          <a:p>
            <a:pPr marL="203200" indent="-203200">
              <a:spcAft>
                <a:spcPts val="1400"/>
              </a:spcAft>
              <a:buSzPct val="100000"/>
              <a:buChar char="•"/>
            </a:pPr>
            <a:r>
              <a:rPr lang="en-US" sz="1500" dirty="0">
                <a:solidFill>
                  <a:schemeClr val="tx1"/>
                </a:solidFill>
              </a:rPr>
              <a:t>Lazy forgetting, so an update writes one row instead of the whole segment</a:t>
            </a:r>
            <a:endParaRPr lang="en-US" sz="1500" dirty="0"/>
          </a:p>
          <a:p>
            <a:pPr marL="203200" indent="-203200">
              <a:spcAft>
                <a:spcPts val="1400"/>
              </a:spcAft>
              <a:buSzPct val="100000"/>
              <a:buChar char="•"/>
            </a:pPr>
            <a:r>
              <a:rPr lang="en-US" sz="1500" dirty="0">
                <a:solidFill>
                  <a:schemeClr val="tx1"/>
                </a:solidFill>
              </a:rPr>
              <a:t>Cache beliefs in memory, add PgBouncer, load-test on Linux servers</a:t>
            </a:r>
            <a:endParaRPr lang="en-US" sz="1500" dirty="0"/>
          </a:p>
        </p:txBody>
      </p:sp>
      <p:sp>
        <p:nvSpPr>
          <p:cNvPr id="12" name="Card 256"/>
          <p:cNvSpPr/>
          <p:nvPr/>
        </p:nvSpPr>
        <p:spPr>
          <a:xfrm>
            <a:off x="8127797" y="1645920"/>
            <a:ext cx="3515258" cy="3794760"/>
          </a:xfrm>
          <a:prstGeom prst="roundRect">
            <a:avLst>
              <a:gd name="adj" fmla="val 2081"/>
            </a:avLst>
          </a:prstGeom>
          <a:solidFill>
            <a:schemeClr val="bg2"/>
          </a:solidFill>
          <a:ln/>
        </p:spPr>
      </p:sp>
      <p:sp>
        <p:nvSpPr>
          <p:cNvPr id="13" name="Step 257"/>
          <p:cNvSpPr txBox="1"/>
          <p:nvPr/>
        </p:nvSpPr>
        <p:spPr>
          <a:xfrm>
            <a:off x="8402117" y="187452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258"/>
          <p:cNvSpPr txBox="1"/>
          <p:nvPr/>
        </p:nvSpPr>
        <p:spPr>
          <a:xfrm>
            <a:off x="8996477" y="1938528"/>
            <a:ext cx="2417978" cy="365760"/>
          </a:xfrm>
          <a:prstGeom prst="rect">
            <a:avLst/>
          </a:prstGeom>
          <a:noFill/>
          <a:ln/>
        </p:spPr>
        <p:txBody>
          <a:bodyPr wrap="square" lIns="0" tIns="0" rIns="0" bIns="0" rtlCol="0" anchor="t"/>
          <a:lstStyle/>
          <a:p>
            <a:pPr indent="0" marL="0">
              <a:buNone/>
            </a:pPr>
            <a:r>
              <a:rPr lang="en-US" sz="1900" b="1" dirty="0">
                <a:solidFill>
                  <a:schemeClr val="tx1"/>
                </a:solidFill>
              </a:rPr>
              <a:t>Grow the product</a:t>
            </a:r>
            <a:endParaRPr lang="en-US" sz="1900" dirty="0"/>
          </a:p>
        </p:txBody>
      </p:sp>
      <p:sp>
        <p:nvSpPr>
          <p:cNvPr id="15" name="Text 259"/>
          <p:cNvSpPr txBox="1"/>
          <p:nvPr/>
        </p:nvSpPr>
        <p:spPr>
          <a:xfrm>
            <a:off x="8402117" y="2560320"/>
            <a:ext cx="2966618" cy="2743200"/>
          </a:xfrm>
          <a:prstGeom prst="rect">
            <a:avLst/>
          </a:prstGeom>
          <a:noFill/>
          <a:ln/>
        </p:spPr>
        <p:txBody>
          <a:bodyPr wrap="square" lIns="0" tIns="0" rIns="0" bIns="0" rtlCol="0" anchor="t"/>
          <a:lstStyle/>
          <a:p>
            <a:pPr marL="203200" indent="-203200">
              <a:spcAft>
                <a:spcPts val="1400"/>
              </a:spcAft>
              <a:buSzPct val="100000"/>
              <a:buChar char="•"/>
            </a:pPr>
            <a:r>
              <a:rPr lang="en-US" sz="1500" dirty="0">
                <a:solidFill>
                  <a:schemeClr val="tx1"/>
                </a:solidFill>
              </a:rPr>
              <a:t>Serve the feature model: a store for a matrix per offer, features at request time</a:t>
            </a:r>
            <a:endParaRPr lang="en-US" sz="1500" dirty="0"/>
          </a:p>
          <a:p>
            <a:pPr marL="203200" indent="-203200">
              <a:spcAft>
                <a:spcPts val="1400"/>
              </a:spcAft>
              <a:buSzPct val="100000"/>
              <a:buChar char="•"/>
            </a:pPr>
            <a:r>
              <a:rPr lang="en-US" sz="1500" dirty="0">
                <a:solidFill>
                  <a:schemeClr val="tx1"/>
                </a:solidFill>
              </a:rPr>
              <a:t>Guardrails: fatigue caps, overrides, affordability checks for pay-later (National Credit Act)</a:t>
            </a:r>
            <a:endParaRPr lang="en-US" sz="1500" dirty="0"/>
          </a:p>
          <a:p>
            <a:pPr marL="203200" indent="-203200">
              <a:spcAft>
                <a:spcPts val="1400"/>
              </a:spcAft>
              <a:buSzPct val="100000"/>
              <a:buChar char="•"/>
            </a:pPr>
            <a:r>
              <a:rPr lang="en-US" sz="1500" dirty="0">
                <a:solidFill>
                  <a:schemeClr val="tx1"/>
                </a:solidFill>
              </a:rPr>
              <a:t>An always-on holdout, logged propensities for offline evaluation, an attribution window</a:t>
            </a:r>
            <a:endParaRPr lang="en-US" sz="1500" dirty="0"/>
          </a:p>
        </p:txBody>
      </p:sp>
      <p:sp>
        <p:nvSpPr>
          <p:cNvPr id="16" name="Text 260"/>
          <p:cNvSpPr txBox="1"/>
          <p:nvPr/>
        </p:nvSpPr>
        <p:spPr>
          <a:xfrm>
            <a:off x="548640" y="5669280"/>
            <a:ext cx="11094415" cy="502920"/>
          </a:xfrm>
          <a:prstGeom prst="rect">
            <a:avLst/>
          </a:prstGeom>
          <a:noFill/>
          <a:ln/>
        </p:spPr>
        <p:txBody>
          <a:bodyPr wrap="square" lIns="0" tIns="0" rIns="0" bIns="0" rtlCol="0" anchor="t"/>
          <a:lstStyle/>
          <a:p>
            <a:pPr indent="0" marL="0">
              <a:buNone/>
            </a:pPr>
            <a:r>
              <a:rPr lang="en-US" sz="1400" i="1" dirty="0">
                <a:solidFill>
                  <a:schemeClr val="accent1"/>
                </a:solidFill>
              </a:rPr>
              <a:t>These come from reviewing my own architecture as if someone else had written it. The per-segment policy stays as the fallback and the baseline throughout.</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777240"/>
          </a:xfrm>
          <a:prstGeom prst="rect">
            <a:avLst/>
          </a:prstGeom>
          <a:noFill/>
          <a:ln/>
        </p:spPr>
        <p:txBody>
          <a:bodyPr wrap="square" lIns="0" tIns="0" rIns="0" bIns="0" rtlCol="0" anchor="t"/>
          <a:lstStyle/>
          <a:p>
            <a:pPr algn="l" indent="0" marL="0">
              <a:buNone/>
            </a:pPr>
            <a:r>
              <a:rPr lang="en-US" sz="3600" b="1" dirty="0">
                <a:solidFill>
                  <a:schemeClr val="bg1"/>
                </a:solidFill>
              </a:rPr>
              <a:t>What I would bring to the team</a:t>
            </a:r>
            <a:endParaRPr lang="en-US" sz="3600" dirty="0"/>
          </a:p>
        </p:txBody>
      </p:sp>
      <p:sp>
        <p:nvSpPr>
          <p:cNvPr id="3" name="Card 261"/>
          <p:cNvSpPr/>
          <p:nvPr/>
        </p:nvSpPr>
        <p:spPr>
          <a:xfrm>
            <a:off x="548640" y="1828800"/>
            <a:ext cx="3515258" cy="2331720"/>
          </a:xfrm>
          <a:prstGeom prst="roundRect">
            <a:avLst>
              <a:gd name="adj" fmla="val 3137"/>
            </a:avLst>
          </a:prstGeom>
          <a:solidFill>
            <a:schemeClr val="bg1">
              <a:alpha val="10000"/>
            </a:schemeClr>
          </a:solidFill>
          <a:ln/>
        </p:spPr>
      </p:sp>
      <p:sp>
        <p:nvSpPr>
          <p:cNvPr id="4" name="Step 262"/>
          <p:cNvSpPr txBox="1"/>
          <p:nvPr/>
        </p:nvSpPr>
        <p:spPr>
          <a:xfrm>
            <a:off x="868680" y="210312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5" name="Text 263"/>
          <p:cNvSpPr txBox="1"/>
          <p:nvPr/>
        </p:nvSpPr>
        <p:spPr>
          <a:xfrm>
            <a:off x="868680" y="2788920"/>
            <a:ext cx="2875178" cy="411480"/>
          </a:xfrm>
          <a:prstGeom prst="rect">
            <a:avLst/>
          </a:prstGeom>
          <a:noFill/>
          <a:ln/>
        </p:spPr>
        <p:txBody>
          <a:bodyPr wrap="square" lIns="0" tIns="0" rIns="0" bIns="0" rtlCol="0" anchor="t"/>
          <a:lstStyle/>
          <a:p>
            <a:pPr indent="0" marL="0">
              <a:buNone/>
            </a:pPr>
            <a:r>
              <a:rPr lang="en-US" sz="2000" b="1" dirty="0">
                <a:solidFill>
                  <a:schemeClr val="bg1"/>
                </a:solidFill>
              </a:rPr>
              <a:t>Data that stays correct</a:t>
            </a:r>
            <a:endParaRPr lang="en-US" sz="2000" dirty="0"/>
          </a:p>
        </p:txBody>
      </p:sp>
      <p:sp>
        <p:nvSpPr>
          <p:cNvPr id="6" name="Text 264"/>
          <p:cNvSpPr txBox="1"/>
          <p:nvPr/>
        </p:nvSpPr>
        <p:spPr>
          <a:xfrm>
            <a:off x="868680" y="3246120"/>
            <a:ext cx="2875178" cy="777240"/>
          </a:xfrm>
          <a:prstGeom prst="rect">
            <a:avLst/>
          </a:prstGeom>
          <a:noFill/>
          <a:ln/>
        </p:spPr>
        <p:txBody>
          <a:bodyPr wrap="square" lIns="0" tIns="0" rIns="0" bIns="0" rtlCol="0" anchor="t"/>
          <a:lstStyle/>
          <a:p>
            <a:pPr indent="0" marL="0">
              <a:buNone/>
            </a:pPr>
            <a:r>
              <a:rPr lang="en-US" sz="1500" dirty="0">
                <a:solidFill>
                  <a:schemeClr val="bg2"/>
                </a:solidFill>
              </a:rPr>
              <a:t>Event logs, idempotent writes and rerunnable roll-ups that hold up under load and late data.</a:t>
            </a:r>
            <a:endParaRPr lang="en-US" sz="1500" dirty="0"/>
          </a:p>
        </p:txBody>
      </p:sp>
      <p:sp>
        <p:nvSpPr>
          <p:cNvPr id="7" name="Card 265"/>
          <p:cNvSpPr/>
          <p:nvPr/>
        </p:nvSpPr>
        <p:spPr>
          <a:xfrm>
            <a:off x="4338218" y="1828800"/>
            <a:ext cx="3515258" cy="2331720"/>
          </a:xfrm>
          <a:prstGeom prst="roundRect">
            <a:avLst>
              <a:gd name="adj" fmla="val 3137"/>
            </a:avLst>
          </a:prstGeom>
          <a:solidFill>
            <a:schemeClr val="bg1">
              <a:alpha val="10000"/>
            </a:schemeClr>
          </a:solidFill>
          <a:ln/>
        </p:spPr>
      </p:sp>
      <p:sp>
        <p:nvSpPr>
          <p:cNvPr id="8" name="Step 266"/>
          <p:cNvSpPr txBox="1"/>
          <p:nvPr/>
        </p:nvSpPr>
        <p:spPr>
          <a:xfrm>
            <a:off x="4658258" y="210312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9" name="Text 267"/>
          <p:cNvSpPr txBox="1"/>
          <p:nvPr/>
        </p:nvSpPr>
        <p:spPr>
          <a:xfrm>
            <a:off x="4658258" y="2788920"/>
            <a:ext cx="2875178" cy="411480"/>
          </a:xfrm>
          <a:prstGeom prst="rect">
            <a:avLst/>
          </a:prstGeom>
          <a:noFill/>
          <a:ln/>
        </p:spPr>
        <p:txBody>
          <a:bodyPr wrap="square" lIns="0" tIns="0" rIns="0" bIns="0" rtlCol="0" anchor="t"/>
          <a:lstStyle/>
          <a:p>
            <a:pPr indent="0" marL="0">
              <a:buNone/>
            </a:pPr>
            <a:r>
              <a:rPr lang="en-US" sz="2000" b="1" dirty="0">
                <a:solidFill>
                  <a:schemeClr val="bg1"/>
                </a:solidFill>
              </a:rPr>
              <a:t>Evidence before claims</a:t>
            </a:r>
            <a:endParaRPr lang="en-US" sz="2000" dirty="0"/>
          </a:p>
        </p:txBody>
      </p:sp>
      <p:sp>
        <p:nvSpPr>
          <p:cNvPr id="10" name="Text 268"/>
          <p:cNvSpPr txBox="1"/>
          <p:nvPr/>
        </p:nvSpPr>
        <p:spPr>
          <a:xfrm>
            <a:off x="4658258" y="3246120"/>
            <a:ext cx="2875178" cy="777240"/>
          </a:xfrm>
          <a:prstGeom prst="rect">
            <a:avLst/>
          </a:prstGeom>
          <a:noFill/>
          <a:ln/>
        </p:spPr>
        <p:txBody>
          <a:bodyPr wrap="square" lIns="0" tIns="0" rIns="0" bIns="0" rtlCol="0" anchor="t"/>
          <a:lstStyle/>
          <a:p>
            <a:pPr indent="0" marL="0">
              <a:buNone/>
            </a:pPr>
            <a:r>
              <a:rPr lang="en-US" sz="1500" dirty="0">
                <a:solidFill>
                  <a:schemeClr val="bg2"/>
                </a:solidFill>
              </a:rPr>
              <a:t>Paired seeds, intervals, and a tie called a tie.</a:t>
            </a:r>
            <a:endParaRPr lang="en-US" sz="1500" dirty="0"/>
          </a:p>
        </p:txBody>
      </p:sp>
      <p:sp>
        <p:nvSpPr>
          <p:cNvPr id="11" name="Card 269"/>
          <p:cNvSpPr/>
          <p:nvPr/>
        </p:nvSpPr>
        <p:spPr>
          <a:xfrm>
            <a:off x="8127797" y="1828800"/>
            <a:ext cx="3515258" cy="2331720"/>
          </a:xfrm>
          <a:prstGeom prst="roundRect">
            <a:avLst>
              <a:gd name="adj" fmla="val 3137"/>
            </a:avLst>
          </a:prstGeom>
          <a:solidFill>
            <a:schemeClr val="bg1">
              <a:alpha val="10000"/>
            </a:schemeClr>
          </a:solidFill>
          <a:ln/>
        </p:spPr>
      </p:sp>
      <p:sp>
        <p:nvSpPr>
          <p:cNvPr id="12" name="Step 270"/>
          <p:cNvSpPr txBox="1"/>
          <p:nvPr/>
        </p:nvSpPr>
        <p:spPr>
          <a:xfrm>
            <a:off x="8447837" y="210312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3" name="Text 271"/>
          <p:cNvSpPr txBox="1"/>
          <p:nvPr/>
        </p:nvSpPr>
        <p:spPr>
          <a:xfrm>
            <a:off x="8447837" y="2788920"/>
            <a:ext cx="2875178" cy="411480"/>
          </a:xfrm>
          <a:prstGeom prst="rect">
            <a:avLst/>
          </a:prstGeom>
          <a:noFill/>
          <a:ln/>
        </p:spPr>
        <p:txBody>
          <a:bodyPr wrap="square" lIns="0" tIns="0" rIns="0" bIns="0" rtlCol="0" anchor="t"/>
          <a:lstStyle/>
          <a:p>
            <a:pPr indent="0" marL="0">
              <a:buNone/>
            </a:pPr>
            <a:r>
              <a:rPr lang="en-US" sz="2000" b="1" dirty="0">
                <a:solidFill>
                  <a:schemeClr val="bg1"/>
                </a:solidFill>
              </a:rPr>
              <a:t>Production instincts</a:t>
            </a:r>
            <a:endParaRPr lang="en-US" sz="2000" dirty="0"/>
          </a:p>
        </p:txBody>
      </p:sp>
      <p:sp>
        <p:nvSpPr>
          <p:cNvPr id="14" name="Text 272"/>
          <p:cNvSpPr txBox="1"/>
          <p:nvPr/>
        </p:nvSpPr>
        <p:spPr>
          <a:xfrm>
            <a:off x="8447837" y="3246120"/>
            <a:ext cx="2875178" cy="777240"/>
          </a:xfrm>
          <a:prstGeom prst="rect">
            <a:avLst/>
          </a:prstGeom>
          <a:noFill/>
          <a:ln/>
        </p:spPr>
        <p:txBody>
          <a:bodyPr wrap="square" lIns="0" tIns="0" rIns="0" bIns="0" rtlCol="0" anchor="t"/>
          <a:lstStyle/>
          <a:p>
            <a:pPr indent="0" marL="0">
              <a:buNone/>
            </a:pPr>
            <a:r>
              <a:rPr lang="en-US" sz="1500" dirty="0">
                <a:solidFill>
                  <a:schemeClr val="bg2"/>
                </a:solidFill>
              </a:rPr>
              <a:t>Concurrency, latency and failure modes measured, not assumed.</a:t>
            </a:r>
            <a:endParaRPr lang="en-US" sz="1500" dirty="0"/>
          </a:p>
        </p:txBody>
      </p:sp>
      <p:sp>
        <p:nvSpPr>
          <p:cNvPr id="15" name="Text 273"/>
          <p:cNvSpPr txBox="1"/>
          <p:nvPr/>
        </p:nvSpPr>
        <p:spPr>
          <a:xfrm>
            <a:off x="548640" y="4617720"/>
            <a:ext cx="11094415" cy="640080"/>
          </a:xfrm>
          <a:prstGeom prst="rect">
            <a:avLst/>
          </a:prstGeom>
          <a:noFill/>
          <a:ln/>
        </p:spPr>
        <p:txBody>
          <a:bodyPr wrap="square" lIns="0" tIns="0" rIns="0" bIns="0" rtlCol="0" anchor="t"/>
          <a:lstStyle/>
          <a:p>
            <a:pPr indent="0" marL="0">
              <a:buNone/>
            </a:pPr>
            <a:r>
              <a:rPr lang="en-US" sz="3200" b="1" dirty="0">
                <a:solidFill>
                  <a:schemeClr val="bg1"/>
                </a:solidFill>
                <a:latin typeface="+mj-lt" pitchFamily="34" charset="0"/>
                <a:ea typeface="+mj-lt" pitchFamily="34" charset="-122"/>
                <a:cs typeface="+mj-lt" pitchFamily="34" charset="-120"/>
              </a:rPr>
              <a:t>Thank you. Questions?</a:t>
            </a:r>
            <a:endParaRPr lang="en-US" sz="3200" dirty="0"/>
          </a:p>
        </p:txBody>
      </p:sp>
      <p:sp>
        <p:nvSpPr>
          <p:cNvPr id="16" name="Text 274"/>
          <p:cNvSpPr txBox="1"/>
          <p:nvPr/>
        </p:nvSpPr>
        <p:spPr>
          <a:xfrm>
            <a:off x="548640" y="5349240"/>
            <a:ext cx="11094415" cy="365760"/>
          </a:xfrm>
          <a:prstGeom prst="rect">
            <a:avLst/>
          </a:prstGeom>
          <a:noFill/>
          <a:ln/>
        </p:spPr>
        <p:txBody>
          <a:bodyPr wrap="square" lIns="0" tIns="0" rIns="0" bIns="0" rtlCol="0" anchor="t"/>
          <a:lstStyle/>
          <a:p>
            <a:pPr indent="0" marL="0">
              <a:buNone/>
            </a:pPr>
            <a:r>
              <a:rPr lang="en-US" sz="1600" b="1" dirty="0">
                <a:solidFill>
                  <a:schemeClr val="accent5"/>
                </a:solidFill>
              </a:rPr>
              <a:t>Sean Mukariri  ·  mukaririsean@gmail.com</a:t>
            </a:r>
            <a:endParaRPr lang="en-US" sz="1600" dirty="0"/>
          </a:p>
        </p:txBody>
      </p:sp>
      <p:sp>
        <p:nvSpPr>
          <p:cNvPr id="17" name="Text 275"/>
          <p:cNvSpPr txBox="1"/>
          <p:nvPr/>
        </p:nvSpPr>
        <p:spPr>
          <a:xfrm>
            <a:off x="548640" y="5760720"/>
            <a:ext cx="11094415" cy="320040"/>
          </a:xfrm>
          <a:prstGeom prst="rect">
            <a:avLst/>
          </a:prstGeom>
          <a:noFill/>
          <a:ln/>
        </p:spPr>
        <p:txBody>
          <a:bodyPr wrap="square" lIns="0" tIns="0" rIns="0" bIns="0" rtlCol="0" anchor="t"/>
          <a:lstStyle/>
          <a:p>
            <a:pPr indent="0" marL="0">
              <a:buNone/>
            </a:pPr>
            <a:r>
              <a:rPr lang="en-US" sz="1300" dirty="0">
                <a:solidFill>
                  <a:schemeClr val="bg2"/>
                </a:solidFill>
              </a:rPr>
              <a:t>In the repository: WRITEUP.md (two pages)  ·  DECISIONS.md (98 decisions)  ·  docs/how-it-works.html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777240"/>
          </a:xfrm>
          <a:prstGeom prst="rect">
            <a:avLst/>
          </a:prstGeom>
          <a:noFill/>
          <a:ln/>
        </p:spPr>
        <p:txBody>
          <a:bodyPr wrap="square" lIns="0" tIns="0" rIns="0" bIns="0" rtlCol="0" anchor="t"/>
          <a:lstStyle/>
          <a:p>
            <a:pPr algn="l" indent="0" marL="0">
              <a:buNone/>
            </a:pPr>
            <a:r>
              <a:rPr lang="en-US" sz="3600" b="1" dirty="0">
                <a:solidFill>
                  <a:schemeClr val="bg1"/>
                </a:solidFill>
              </a:rPr>
              <a:t>Backup slides</a:t>
            </a:r>
            <a:endParaRPr lang="en-US" sz="3600" dirty="0"/>
          </a:p>
        </p:txBody>
      </p:sp>
      <p:sp>
        <p:nvSpPr>
          <p:cNvPr id="3" name="Step 276"/>
          <p:cNvSpPr txBox="1"/>
          <p:nvPr/>
        </p:nvSpPr>
        <p:spPr>
          <a:xfrm>
            <a:off x="548640" y="1828800"/>
            <a:ext cx="548640" cy="54864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tx1"/>
                </a:solidFill>
              </a:rPr>
              <a:t>B1</a:t>
            </a:r>
            <a:endParaRPr lang="en-US" sz="1400" dirty="0"/>
          </a:p>
        </p:txBody>
      </p:sp>
      <p:sp>
        <p:nvSpPr>
          <p:cNvPr id="4" name="Text 277"/>
          <p:cNvSpPr txBox="1"/>
          <p:nvPr/>
        </p:nvSpPr>
        <p:spPr>
          <a:xfrm>
            <a:off x="1325880" y="1938528"/>
            <a:ext cx="4663440" cy="365760"/>
          </a:xfrm>
          <a:prstGeom prst="rect">
            <a:avLst/>
          </a:prstGeom>
          <a:noFill/>
          <a:ln/>
        </p:spPr>
        <p:txBody>
          <a:bodyPr wrap="square" lIns="0" tIns="0" rIns="0" bIns="0" rtlCol="0" anchor="t"/>
          <a:lstStyle/>
          <a:p>
            <a:pPr indent="0" marL="0">
              <a:buNone/>
            </a:pPr>
            <a:r>
              <a:rPr lang="en-US" sz="2000" dirty="0">
                <a:solidFill>
                  <a:schemeClr val="bg1"/>
                </a:solidFill>
              </a:rPr>
              <a:t>Thompson sampling, explained</a:t>
            </a:r>
            <a:endParaRPr lang="en-US" sz="2000" dirty="0"/>
          </a:p>
        </p:txBody>
      </p:sp>
      <p:sp>
        <p:nvSpPr>
          <p:cNvPr id="5" name="Step 278"/>
          <p:cNvSpPr txBox="1"/>
          <p:nvPr/>
        </p:nvSpPr>
        <p:spPr>
          <a:xfrm>
            <a:off x="6217920" y="1828800"/>
            <a:ext cx="548640" cy="54864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tx1"/>
                </a:solidFill>
              </a:rPr>
              <a:t>B2</a:t>
            </a:r>
            <a:endParaRPr lang="en-US" sz="1400" dirty="0"/>
          </a:p>
        </p:txBody>
      </p:sp>
      <p:sp>
        <p:nvSpPr>
          <p:cNvPr id="6" name="Text 279"/>
          <p:cNvSpPr txBox="1"/>
          <p:nvPr/>
        </p:nvSpPr>
        <p:spPr>
          <a:xfrm>
            <a:off x="6995160" y="1938528"/>
            <a:ext cx="4663440" cy="365760"/>
          </a:xfrm>
          <a:prstGeom prst="rect">
            <a:avLst/>
          </a:prstGeom>
          <a:noFill/>
          <a:ln/>
        </p:spPr>
        <p:txBody>
          <a:bodyPr wrap="square" lIns="0" tIns="0" rIns="0" bIns="0" rtlCol="0" anchor="t"/>
          <a:lstStyle/>
          <a:p>
            <a:pPr indent="0" marL="0">
              <a:buNone/>
            </a:pPr>
            <a:r>
              <a:rPr lang="en-US" sz="2000" dirty="0">
                <a:solidFill>
                  <a:schemeClr val="bg1"/>
                </a:solidFill>
              </a:rPr>
              <a:t>The test bench: a known answer</a:t>
            </a:r>
            <a:endParaRPr lang="en-US" sz="2000" dirty="0"/>
          </a:p>
        </p:txBody>
      </p:sp>
      <p:sp>
        <p:nvSpPr>
          <p:cNvPr id="7" name="Step 280"/>
          <p:cNvSpPr txBox="1"/>
          <p:nvPr/>
        </p:nvSpPr>
        <p:spPr>
          <a:xfrm>
            <a:off x="548640" y="2926080"/>
            <a:ext cx="548640" cy="54864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tx1"/>
                </a:solidFill>
              </a:rPr>
              <a:t>B3</a:t>
            </a:r>
            <a:endParaRPr lang="en-US" sz="1400" dirty="0"/>
          </a:p>
        </p:txBody>
      </p:sp>
      <p:sp>
        <p:nvSpPr>
          <p:cNvPr id="8" name="Text 281"/>
          <p:cNvSpPr txBox="1"/>
          <p:nvPr/>
        </p:nvSpPr>
        <p:spPr>
          <a:xfrm>
            <a:off x="1325880" y="3035808"/>
            <a:ext cx="4663440" cy="365760"/>
          </a:xfrm>
          <a:prstGeom prst="rect">
            <a:avLst/>
          </a:prstGeom>
          <a:noFill/>
          <a:ln/>
        </p:spPr>
        <p:txBody>
          <a:bodyPr wrap="square" lIns="0" tIns="0" rIns="0" bIns="0" rtlCol="0" anchor="t"/>
          <a:lstStyle/>
          <a:p>
            <a:pPr indent="0" marL="0">
              <a:buNone/>
            </a:pPr>
            <a:r>
              <a:rPr lang="en-US" sz="2000" dirty="0">
                <a:solidFill>
                  <a:schemeClr val="bg1"/>
                </a:solidFill>
              </a:rPr>
              <a:t>Take-up before and after the shift</a:t>
            </a:r>
            <a:endParaRPr lang="en-US" sz="2000" dirty="0"/>
          </a:p>
        </p:txBody>
      </p:sp>
      <p:sp>
        <p:nvSpPr>
          <p:cNvPr id="9" name="Step 282"/>
          <p:cNvSpPr txBox="1"/>
          <p:nvPr/>
        </p:nvSpPr>
        <p:spPr>
          <a:xfrm>
            <a:off x="6217920" y="2926080"/>
            <a:ext cx="548640" cy="54864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tx1"/>
                </a:solidFill>
              </a:rPr>
              <a:t>B4</a:t>
            </a:r>
            <a:endParaRPr lang="en-US" sz="1400" dirty="0"/>
          </a:p>
        </p:txBody>
      </p:sp>
      <p:sp>
        <p:nvSpPr>
          <p:cNvPr id="10" name="Text 283"/>
          <p:cNvSpPr txBox="1"/>
          <p:nvPr/>
        </p:nvSpPr>
        <p:spPr>
          <a:xfrm>
            <a:off x="6995160" y="3035808"/>
            <a:ext cx="4663440" cy="365760"/>
          </a:xfrm>
          <a:prstGeom prst="rect">
            <a:avLst/>
          </a:prstGeom>
          <a:noFill/>
          <a:ln/>
        </p:spPr>
        <p:txBody>
          <a:bodyPr wrap="square" lIns="0" tIns="0" rIns="0" bIns="0" rtlCol="0" anchor="t"/>
          <a:lstStyle/>
          <a:p>
            <a:pPr indent="0" marL="0">
              <a:buNone/>
            </a:pPr>
            <a:r>
              <a:rPr lang="en-US" sz="2000" dirty="0">
                <a:solidFill>
                  <a:schemeClr val="bg1"/>
                </a:solidFill>
              </a:rPr>
              <a:t>Engineering and measured latency</a:t>
            </a:r>
            <a:endParaRPr lang="en-US" sz="2000" dirty="0"/>
          </a:p>
        </p:txBody>
      </p:sp>
      <p:sp>
        <p:nvSpPr>
          <p:cNvPr id="11" name="Step 284"/>
          <p:cNvSpPr txBox="1"/>
          <p:nvPr/>
        </p:nvSpPr>
        <p:spPr>
          <a:xfrm>
            <a:off x="548640" y="4023360"/>
            <a:ext cx="548640" cy="54864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tx1"/>
                </a:solidFill>
              </a:rPr>
              <a:t>B5</a:t>
            </a:r>
            <a:endParaRPr lang="en-US" sz="1400" dirty="0"/>
          </a:p>
        </p:txBody>
      </p:sp>
      <p:sp>
        <p:nvSpPr>
          <p:cNvPr id="12" name="Text 285"/>
          <p:cNvSpPr txBox="1"/>
          <p:nvPr/>
        </p:nvSpPr>
        <p:spPr>
          <a:xfrm>
            <a:off x="1325880" y="4133088"/>
            <a:ext cx="4663440" cy="365760"/>
          </a:xfrm>
          <a:prstGeom prst="rect">
            <a:avLst/>
          </a:prstGeom>
          <a:noFill/>
          <a:ln/>
        </p:spPr>
        <p:txBody>
          <a:bodyPr wrap="square" lIns="0" tIns="0" rIns="0" bIns="0" rtlCol="0" anchor="t"/>
          <a:lstStyle/>
          <a:p>
            <a:pPr indent="0" marL="0">
              <a:buNone/>
            </a:pPr>
            <a:r>
              <a:rPr lang="en-US" sz="2000" dirty="0">
                <a:solidFill>
                  <a:schemeClr val="bg1"/>
                </a:solidFill>
              </a:rPr>
              <a:t>The demo</a:t>
            </a:r>
            <a:endParaRPr lang="en-US" sz="2000" dirty="0"/>
          </a:p>
        </p:txBody>
      </p:sp>
      <p:sp>
        <p:nvSpPr>
          <p:cNvPr id="13" name="Step 286"/>
          <p:cNvSpPr txBox="1"/>
          <p:nvPr/>
        </p:nvSpPr>
        <p:spPr>
          <a:xfrm>
            <a:off x="6217920" y="4023360"/>
            <a:ext cx="548640" cy="54864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tx1"/>
                </a:solidFill>
              </a:rPr>
              <a:t>B6</a:t>
            </a:r>
            <a:endParaRPr lang="en-US" sz="1400" dirty="0"/>
          </a:p>
        </p:txBody>
      </p:sp>
      <p:sp>
        <p:nvSpPr>
          <p:cNvPr id="14" name="Text 287"/>
          <p:cNvSpPr txBox="1"/>
          <p:nvPr/>
        </p:nvSpPr>
        <p:spPr>
          <a:xfrm>
            <a:off x="6995160" y="4133088"/>
            <a:ext cx="4663440" cy="365760"/>
          </a:xfrm>
          <a:prstGeom prst="rect">
            <a:avLst/>
          </a:prstGeom>
          <a:noFill/>
          <a:ln/>
        </p:spPr>
        <p:txBody>
          <a:bodyPr wrap="square" lIns="0" tIns="0" rIns="0" bIns="0" rtlCol="0" anchor="t"/>
          <a:lstStyle/>
          <a:p>
            <a:pPr indent="0" marL="0">
              <a:buNone/>
            </a:pPr>
            <a:r>
              <a:rPr lang="en-US" sz="2000" dirty="0">
                <a:solidFill>
                  <a:schemeClr val="bg1"/>
                </a:solidFill>
              </a:rPr>
              <a:t>The brief's concepts, mapped to the code</a:t>
            </a:r>
            <a:endParaRPr lang="en-US" sz="2000" dirty="0"/>
          </a:p>
        </p:txBody>
      </p:sp>
      <p:sp>
        <p:nvSpPr>
          <p:cNvPr id="15" name="Text 288"/>
          <p:cNvSpPr txBox="1"/>
          <p:nvPr/>
        </p:nvSpPr>
        <p:spPr>
          <a:xfrm>
            <a:off x="548640" y="5349240"/>
            <a:ext cx="11094415" cy="365760"/>
          </a:xfrm>
          <a:prstGeom prst="rect">
            <a:avLst/>
          </a:prstGeom>
          <a:noFill/>
          <a:ln/>
        </p:spPr>
        <p:txBody>
          <a:bodyPr wrap="square" lIns="0" tIns="0" rIns="0" bIns="0" rtlCol="0" anchor="t"/>
          <a:lstStyle/>
          <a:p>
            <a:pPr indent="0" marL="0">
              <a:buNone/>
            </a:pPr>
            <a:r>
              <a:rPr lang="en-US" sz="1500" i="1" dirty="0">
                <a:solidFill>
                  <a:schemeClr val="accent5"/>
                </a:solidFill>
              </a:rPr>
              <a:t>Detail for questions; not part of the talk.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B1  ·  THE MODEL</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Exploration in proportion to doubt</a:t>
            </a:r>
            <a:endParaRPr lang="en-US" sz="3600" dirty="0"/>
          </a:p>
        </p:txBody>
      </p:sp>
      <p:graphicFrame>
        <p:nvGraphicFramePr>
          <p:cNvPr id="4" name="Beta beliefs chart" descr=""/>
          <p:cNvGraphicFramePr/>
          <p:nvPr/>
        </p:nvGraphicFramePr>
        <p:xfrm>
          <a:off x="548640" y="1600200"/>
          <a:ext cx="6035040" cy="4526280"/>
        </p:xfrm>
        <a:graphic xmlns:a="http://schemas.openxmlformats.org/drawingml/2006/main">
          <a:graphicData uri="http://schemas.openxmlformats.org/drawingml/2006/chart">
            <c:chart xmlns:c="http://schemas.openxmlformats.org/drawingml/2006/chart" r:id="rId1"/>
          </a:graphicData>
        </a:graphic>
      </p:graphicFrame>
      <p:sp>
        <p:nvSpPr>
          <p:cNvPr id="5" name="Step 289"/>
          <p:cNvSpPr txBox="1"/>
          <p:nvPr/>
        </p:nvSpPr>
        <p:spPr>
          <a:xfrm>
            <a:off x="6949440" y="1645920"/>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 290"/>
          <p:cNvSpPr txBox="1"/>
          <p:nvPr/>
        </p:nvSpPr>
        <p:spPr>
          <a:xfrm>
            <a:off x="7498080" y="1664208"/>
            <a:ext cx="4142232" cy="310896"/>
          </a:xfrm>
          <a:prstGeom prst="rect">
            <a:avLst/>
          </a:prstGeom>
          <a:noFill/>
          <a:ln/>
        </p:spPr>
        <p:txBody>
          <a:bodyPr wrap="square" lIns="0" tIns="0" rIns="0" bIns="0" rtlCol="0" anchor="t"/>
          <a:lstStyle/>
          <a:p>
            <a:pPr indent="0" marL="0">
              <a:buNone/>
            </a:pPr>
            <a:r>
              <a:rPr lang="en-US" sz="1500" b="1" dirty="0">
                <a:solidFill>
                  <a:schemeClr val="tx1"/>
                </a:solidFill>
              </a:rPr>
              <a:t>A belief per segment and offer</a:t>
            </a:r>
            <a:endParaRPr lang="en-US" sz="1500" dirty="0"/>
          </a:p>
        </p:txBody>
      </p:sp>
      <p:sp>
        <p:nvSpPr>
          <p:cNvPr id="7" name="Text 291"/>
          <p:cNvSpPr txBox="1"/>
          <p:nvPr/>
        </p:nvSpPr>
        <p:spPr>
          <a:xfrm>
            <a:off x="7498080" y="1993392"/>
            <a:ext cx="4142232" cy="713232"/>
          </a:xfrm>
          <a:prstGeom prst="rect">
            <a:avLst/>
          </a:prstGeom>
          <a:noFill/>
          <a:ln/>
        </p:spPr>
        <p:txBody>
          <a:bodyPr wrap="square" lIns="0" tIns="0" rIns="0" bIns="0" rtlCol="0" anchor="t"/>
          <a:lstStyle/>
          <a:p>
            <a:pPr indent="0" marL="0">
              <a:buNone/>
            </a:pPr>
            <a:r>
              <a:rPr lang="en-US" sz="1400" dirty="0">
                <a:solidFill>
                  <a:schemeClr val="tx2"/>
                </a:solidFill>
              </a:rPr>
              <a:t>Beta(α, β): α grows with take-ups, β with views that didn't convert. Every offer starts at Beta(1, 1).</a:t>
            </a:r>
            <a:endParaRPr lang="en-US" sz="1400" dirty="0"/>
          </a:p>
        </p:txBody>
      </p:sp>
      <p:sp>
        <p:nvSpPr>
          <p:cNvPr id="8" name="Step 292"/>
          <p:cNvSpPr txBox="1"/>
          <p:nvPr/>
        </p:nvSpPr>
        <p:spPr>
          <a:xfrm>
            <a:off x="6949440" y="2761488"/>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Text 293"/>
          <p:cNvSpPr txBox="1"/>
          <p:nvPr/>
        </p:nvSpPr>
        <p:spPr>
          <a:xfrm>
            <a:off x="7498080" y="2779776"/>
            <a:ext cx="4142232" cy="310896"/>
          </a:xfrm>
          <a:prstGeom prst="rect">
            <a:avLst/>
          </a:prstGeom>
          <a:noFill/>
          <a:ln/>
        </p:spPr>
        <p:txBody>
          <a:bodyPr wrap="square" lIns="0" tIns="0" rIns="0" bIns="0" rtlCol="0" anchor="t"/>
          <a:lstStyle/>
          <a:p>
            <a:pPr indent="0" marL="0">
              <a:buNone/>
            </a:pPr>
            <a:r>
              <a:rPr lang="en-US" sz="1500" b="1" dirty="0">
                <a:solidFill>
                  <a:schemeClr val="tx1"/>
                </a:solidFill>
              </a:rPr>
              <a:t>Draw, then rank</a:t>
            </a:r>
            <a:endParaRPr lang="en-US" sz="1500" dirty="0"/>
          </a:p>
        </p:txBody>
      </p:sp>
      <p:sp>
        <p:nvSpPr>
          <p:cNvPr id="10" name="Text 294"/>
          <p:cNvSpPr txBox="1"/>
          <p:nvPr/>
        </p:nvSpPr>
        <p:spPr>
          <a:xfrm>
            <a:off x="7498080" y="3108960"/>
            <a:ext cx="4142232" cy="713232"/>
          </a:xfrm>
          <a:prstGeom prst="rect">
            <a:avLst/>
          </a:prstGeom>
          <a:noFill/>
          <a:ln/>
        </p:spPr>
        <p:txBody>
          <a:bodyPr wrap="square" lIns="0" tIns="0" rIns="0" bIns="0" rtlCol="0" anchor="t"/>
          <a:lstStyle/>
          <a:p>
            <a:pPr indent="0" marL="0">
              <a:buNone/>
            </a:pPr>
            <a:r>
              <a:rPr lang="en-US" sz="1400" dirty="0">
                <a:solidFill>
                  <a:schemeClr val="tx2"/>
                </a:solidFill>
              </a:rPr>
              <a:t>One sample from each eligible offer's belief; show the three highest. No ε to tune.</a:t>
            </a:r>
            <a:endParaRPr lang="en-US" sz="1400" dirty="0"/>
          </a:p>
        </p:txBody>
      </p:sp>
      <p:sp>
        <p:nvSpPr>
          <p:cNvPr id="11" name="Step 295"/>
          <p:cNvSpPr txBox="1"/>
          <p:nvPr/>
        </p:nvSpPr>
        <p:spPr>
          <a:xfrm>
            <a:off x="6949440" y="3877056"/>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Text 296"/>
          <p:cNvSpPr txBox="1"/>
          <p:nvPr/>
        </p:nvSpPr>
        <p:spPr>
          <a:xfrm>
            <a:off x="7498080" y="3895344"/>
            <a:ext cx="4142232" cy="310896"/>
          </a:xfrm>
          <a:prstGeom prst="rect">
            <a:avLst/>
          </a:prstGeom>
          <a:noFill/>
          <a:ln/>
        </p:spPr>
        <p:txBody>
          <a:bodyPr wrap="square" lIns="0" tIns="0" rIns="0" bIns="0" rtlCol="0" anchor="t"/>
          <a:lstStyle/>
          <a:p>
            <a:pPr indent="0" marL="0">
              <a:buNone/>
            </a:pPr>
            <a:r>
              <a:rPr lang="en-US" sz="1500" b="1" dirty="0">
                <a:solidFill>
                  <a:schemeClr val="tx1"/>
                </a:solidFill>
              </a:rPr>
              <a:t>Doubt buys exploration</a:t>
            </a:r>
            <a:endParaRPr lang="en-US" sz="1500" dirty="0"/>
          </a:p>
        </p:txBody>
      </p:sp>
      <p:sp>
        <p:nvSpPr>
          <p:cNvPr id="13" name="Text 297"/>
          <p:cNvSpPr txBox="1"/>
          <p:nvPr/>
        </p:nvSpPr>
        <p:spPr>
          <a:xfrm>
            <a:off x="7498080" y="4224528"/>
            <a:ext cx="4142232" cy="713232"/>
          </a:xfrm>
          <a:prstGeom prst="rect">
            <a:avLst/>
          </a:prstGeom>
          <a:noFill/>
          <a:ln/>
        </p:spPr>
        <p:txBody>
          <a:bodyPr wrap="square" lIns="0" tIns="0" rIns="0" bIns="0" rtlCol="0" anchor="t"/>
          <a:lstStyle/>
          <a:p>
            <a:pPr indent="0" marL="0">
              <a:buNone/>
            </a:pPr>
            <a:r>
              <a:rPr lang="en-US" sz="1400" dirty="0">
                <a:solidFill>
                  <a:schemeClr val="tx2"/>
                </a:solidFill>
              </a:rPr>
              <a:t>Barely tried, offer C draws wide and comes first in 15% of app opens. B, known to be weaker, almost never does.</a:t>
            </a:r>
            <a:endParaRPr lang="en-US" sz="1400" dirty="0"/>
          </a:p>
        </p:txBody>
      </p:sp>
      <p:sp>
        <p:nvSpPr>
          <p:cNvPr id="14" name="Step 298"/>
          <p:cNvSpPr txBox="1"/>
          <p:nvPr/>
        </p:nvSpPr>
        <p:spPr>
          <a:xfrm>
            <a:off x="6949440" y="4992624"/>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Text 299"/>
          <p:cNvSpPr txBox="1"/>
          <p:nvPr/>
        </p:nvSpPr>
        <p:spPr>
          <a:xfrm>
            <a:off x="7498080" y="5010912"/>
            <a:ext cx="4142232" cy="310896"/>
          </a:xfrm>
          <a:prstGeom prst="rect">
            <a:avLst/>
          </a:prstGeom>
          <a:noFill/>
          <a:ln/>
        </p:spPr>
        <p:txBody>
          <a:bodyPr wrap="square" lIns="0" tIns="0" rIns="0" bIns="0" rtlCol="0" anchor="t"/>
          <a:lstStyle/>
          <a:p>
            <a:pPr indent="0" marL="0">
              <a:buNone/>
            </a:pPr>
            <a:r>
              <a:rPr lang="en-US" sz="1500" b="1" dirty="0">
                <a:solidFill>
                  <a:schemeClr val="tx1"/>
                </a:solidFill>
              </a:rPr>
              <a:t>Forget a little</a:t>
            </a:r>
            <a:endParaRPr lang="en-US" sz="1500" dirty="0"/>
          </a:p>
        </p:txBody>
      </p:sp>
      <p:sp>
        <p:nvSpPr>
          <p:cNvPr id="16" name="Text 300"/>
          <p:cNvSpPr txBox="1"/>
          <p:nvPr/>
        </p:nvSpPr>
        <p:spPr>
          <a:xfrm>
            <a:off x="7498080" y="5340096"/>
            <a:ext cx="4142232" cy="713232"/>
          </a:xfrm>
          <a:prstGeom prst="rect">
            <a:avLst/>
          </a:prstGeom>
          <a:noFill/>
          <a:ln/>
        </p:spPr>
        <p:txBody>
          <a:bodyPr wrap="square" lIns="0" tIns="0" rIns="0" bIns="0" rtlCol="0" anchor="t"/>
          <a:lstStyle/>
          <a:p>
            <a:pPr indent="0" marL="0">
              <a:buNone/>
            </a:pPr>
            <a:r>
              <a:rPr lang="en-US" sz="1400" dirty="0">
                <a:solidFill>
                  <a:schemeClr val="tx2"/>
                </a:solidFill>
              </a:rPr>
              <a:t>Each update shrinks the segment's evidence by γ = 0.9998, a memory of about 5,000 responses.</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B2  ·  THE TEST BENCH</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A world with a known answer</a:t>
            </a:r>
            <a:endParaRPr lang="en-US" sz="3600" dirty="0"/>
          </a:p>
        </p:txBody>
      </p:sp>
      <p:sp>
        <p:nvSpPr>
          <p:cNvPr id="4" name="Card 301"/>
          <p:cNvSpPr/>
          <p:nvPr/>
        </p:nvSpPr>
        <p:spPr>
          <a:xfrm>
            <a:off x="548640" y="1645920"/>
            <a:ext cx="11094415" cy="1051560"/>
          </a:xfrm>
          <a:prstGeom prst="roundRect">
            <a:avLst>
              <a:gd name="adj" fmla="val 6957"/>
            </a:avLst>
          </a:prstGeom>
          <a:solidFill>
            <a:schemeClr val="bg2"/>
          </a:solidFill>
          <a:ln/>
        </p:spPr>
      </p:sp>
      <p:sp>
        <p:nvSpPr>
          <p:cNvPr id="5" name="Text 302"/>
          <p:cNvSpPr txBox="1"/>
          <p:nvPr/>
        </p:nvSpPr>
        <p:spPr>
          <a:xfrm>
            <a:off x="822960" y="1737360"/>
            <a:ext cx="1853123"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5,000</a:t>
            </a:r>
            <a:endParaRPr lang="en-US" sz="3000" dirty="0"/>
          </a:p>
        </p:txBody>
      </p:sp>
      <p:sp>
        <p:nvSpPr>
          <p:cNvPr id="6" name="Text 303"/>
          <p:cNvSpPr txBox="1"/>
          <p:nvPr/>
        </p:nvSpPr>
        <p:spPr>
          <a:xfrm>
            <a:off x="822960" y="2286000"/>
            <a:ext cx="1853123" cy="274320"/>
          </a:xfrm>
          <a:prstGeom prst="rect">
            <a:avLst/>
          </a:prstGeom>
          <a:noFill/>
          <a:ln/>
        </p:spPr>
        <p:txBody>
          <a:bodyPr wrap="square" lIns="0" tIns="0" rIns="0" bIns="0" rtlCol="0" anchor="t"/>
          <a:lstStyle/>
          <a:p>
            <a:pPr indent="0" marL="0">
              <a:buNone/>
            </a:pPr>
            <a:r>
              <a:rPr lang="en-US" sz="1300" dirty="0">
                <a:solidFill>
                  <a:schemeClr val="tx2"/>
                </a:solidFill>
              </a:rPr>
              <a:t>synthetic customers</a:t>
            </a:r>
            <a:endParaRPr lang="en-US" sz="1300" dirty="0"/>
          </a:p>
        </p:txBody>
      </p:sp>
      <p:sp>
        <p:nvSpPr>
          <p:cNvPr id="7" name="Text 304"/>
          <p:cNvSpPr txBox="1"/>
          <p:nvPr/>
        </p:nvSpPr>
        <p:spPr>
          <a:xfrm>
            <a:off x="3041843" y="1737360"/>
            <a:ext cx="1853123"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5</a:t>
            </a:r>
            <a:endParaRPr lang="en-US" sz="3000" dirty="0"/>
          </a:p>
        </p:txBody>
      </p:sp>
      <p:sp>
        <p:nvSpPr>
          <p:cNvPr id="8" name="Text 305"/>
          <p:cNvSpPr txBox="1"/>
          <p:nvPr/>
        </p:nvSpPr>
        <p:spPr>
          <a:xfrm>
            <a:off x="3041843" y="2286000"/>
            <a:ext cx="1853123" cy="274320"/>
          </a:xfrm>
          <a:prstGeom prst="rect">
            <a:avLst/>
          </a:prstGeom>
          <a:noFill/>
          <a:ln/>
        </p:spPr>
        <p:txBody>
          <a:bodyPr wrap="square" lIns="0" tIns="0" rIns="0" bIns="0" rtlCol="0" anchor="t"/>
          <a:lstStyle/>
          <a:p>
            <a:pPr indent="0" marL="0">
              <a:buNone/>
            </a:pPr>
            <a:r>
              <a:rPr lang="en-US" sz="1300" dirty="0">
                <a:solidFill>
                  <a:schemeClr val="tx2"/>
                </a:solidFill>
              </a:rPr>
              <a:t>segments</a:t>
            </a:r>
            <a:endParaRPr lang="en-US" sz="1300" dirty="0"/>
          </a:p>
        </p:txBody>
      </p:sp>
      <p:sp>
        <p:nvSpPr>
          <p:cNvPr id="9" name="Text 306"/>
          <p:cNvSpPr txBox="1"/>
          <p:nvPr/>
        </p:nvSpPr>
        <p:spPr>
          <a:xfrm>
            <a:off x="5260726" y="1737360"/>
            <a:ext cx="1853123"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12</a:t>
            </a:r>
            <a:endParaRPr lang="en-US" sz="3000" dirty="0"/>
          </a:p>
        </p:txBody>
      </p:sp>
      <p:sp>
        <p:nvSpPr>
          <p:cNvPr id="10" name="Text 307"/>
          <p:cNvSpPr txBox="1"/>
          <p:nvPr/>
        </p:nvSpPr>
        <p:spPr>
          <a:xfrm>
            <a:off x="5260726" y="2286000"/>
            <a:ext cx="1853123" cy="274320"/>
          </a:xfrm>
          <a:prstGeom prst="rect">
            <a:avLst/>
          </a:prstGeom>
          <a:noFill/>
          <a:ln/>
        </p:spPr>
        <p:txBody>
          <a:bodyPr wrap="square" lIns="0" tIns="0" rIns="0" bIns="0" rtlCol="0" anchor="t"/>
          <a:lstStyle/>
          <a:p>
            <a:pPr indent="0" marL="0">
              <a:buNone/>
            </a:pPr>
            <a:r>
              <a:rPr lang="en-US" sz="1300" dirty="0">
                <a:solidFill>
                  <a:schemeClr val="tx2"/>
                </a:solidFill>
              </a:rPr>
              <a:t>offers</a:t>
            </a:r>
            <a:endParaRPr lang="en-US" sz="1300" dirty="0"/>
          </a:p>
        </p:txBody>
      </p:sp>
      <p:sp>
        <p:nvSpPr>
          <p:cNvPr id="11" name="Text 308"/>
          <p:cNvSpPr txBox="1"/>
          <p:nvPr/>
        </p:nvSpPr>
        <p:spPr>
          <a:xfrm>
            <a:off x="7479609" y="1737360"/>
            <a:ext cx="1853123"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14</a:t>
            </a:r>
            <a:endParaRPr lang="en-US" sz="3000" dirty="0"/>
          </a:p>
        </p:txBody>
      </p:sp>
      <p:sp>
        <p:nvSpPr>
          <p:cNvPr id="12" name="Text 309"/>
          <p:cNvSpPr txBox="1"/>
          <p:nvPr/>
        </p:nvSpPr>
        <p:spPr>
          <a:xfrm>
            <a:off x="7479609" y="2286000"/>
            <a:ext cx="1853123" cy="274320"/>
          </a:xfrm>
          <a:prstGeom prst="rect">
            <a:avLst/>
          </a:prstGeom>
          <a:noFill/>
          <a:ln/>
        </p:spPr>
        <p:txBody>
          <a:bodyPr wrap="square" lIns="0" tIns="0" rIns="0" bIns="0" rtlCol="0" anchor="t"/>
          <a:lstStyle/>
          <a:p>
            <a:pPr indent="0" marL="0">
              <a:buNone/>
            </a:pPr>
            <a:r>
              <a:rPr lang="en-US" sz="1300" dirty="0">
                <a:solidFill>
                  <a:schemeClr val="tx2"/>
                </a:solidFill>
              </a:rPr>
              <a:t>context effects</a:t>
            </a:r>
            <a:endParaRPr lang="en-US" sz="1300" dirty="0"/>
          </a:p>
        </p:txBody>
      </p:sp>
      <p:sp>
        <p:nvSpPr>
          <p:cNvPr id="13" name="Text 310"/>
          <p:cNvSpPr txBox="1"/>
          <p:nvPr/>
        </p:nvSpPr>
        <p:spPr>
          <a:xfrm>
            <a:off x="9698492" y="1737360"/>
            <a:ext cx="1853123"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60</a:t>
            </a:r>
            <a:endParaRPr lang="en-US" sz="3000" dirty="0"/>
          </a:p>
        </p:txBody>
      </p:sp>
      <p:sp>
        <p:nvSpPr>
          <p:cNvPr id="14" name="Text 311"/>
          <p:cNvSpPr txBox="1"/>
          <p:nvPr/>
        </p:nvSpPr>
        <p:spPr>
          <a:xfrm>
            <a:off x="9698492" y="2286000"/>
            <a:ext cx="1853123" cy="274320"/>
          </a:xfrm>
          <a:prstGeom prst="rect">
            <a:avLst/>
          </a:prstGeom>
          <a:noFill/>
          <a:ln/>
        </p:spPr>
        <p:txBody>
          <a:bodyPr wrap="square" lIns="0" tIns="0" rIns="0" bIns="0" rtlCol="0" anchor="t"/>
          <a:lstStyle/>
          <a:p>
            <a:pPr indent="0" marL="0">
              <a:buNone/>
            </a:pPr>
            <a:r>
              <a:rPr lang="en-US" sz="1300" dirty="0">
                <a:solidFill>
                  <a:schemeClr val="tx2"/>
                </a:solidFill>
              </a:rPr>
              <a:t>simulated days</a:t>
            </a:r>
            <a:endParaRPr lang="en-US" sz="1300" dirty="0"/>
          </a:p>
        </p:txBody>
      </p:sp>
      <p:sp>
        <p:nvSpPr>
          <p:cNvPr id="15" name="Card 312"/>
          <p:cNvSpPr/>
          <p:nvPr/>
        </p:nvSpPr>
        <p:spPr>
          <a:xfrm>
            <a:off x="548640" y="2971800"/>
            <a:ext cx="5410048" cy="3154680"/>
          </a:xfrm>
          <a:prstGeom prst="roundRect">
            <a:avLst>
              <a:gd name="adj" fmla="val 2319"/>
            </a:avLst>
          </a:prstGeom>
          <a:solidFill>
            <a:schemeClr val="accent2">
              <a:alpha val="15000"/>
            </a:schemeClr>
          </a:solidFill>
          <a:ln/>
        </p:spPr>
      </p:sp>
      <p:sp>
        <p:nvSpPr>
          <p:cNvPr id="16" name="Text 313"/>
          <p:cNvSpPr txBox="1"/>
          <p:nvPr/>
        </p:nvSpPr>
        <p:spPr>
          <a:xfrm>
            <a:off x="868680" y="3154680"/>
            <a:ext cx="4769968" cy="365760"/>
          </a:xfrm>
          <a:prstGeom prst="rect">
            <a:avLst/>
          </a:prstGeom>
          <a:noFill/>
          <a:ln/>
        </p:spPr>
        <p:txBody>
          <a:bodyPr wrap="square" lIns="0" tIns="0" rIns="0" bIns="0" rtlCol="0" anchor="t"/>
          <a:lstStyle/>
          <a:p>
            <a:pPr indent="0" marL="0">
              <a:buNone/>
            </a:pPr>
            <a:r>
              <a:rPr lang="en-US" sz="1800" b="1" dirty="0">
                <a:solidFill>
                  <a:schemeClr val="accent6"/>
                </a:solidFill>
              </a:rPr>
              <a:t>Hidden from the recommender</a:t>
            </a:r>
            <a:endParaRPr lang="en-US" sz="1800" dirty="0"/>
          </a:p>
        </p:txBody>
      </p:sp>
      <p:sp>
        <p:nvSpPr>
          <p:cNvPr id="17" name="Text 314"/>
          <p:cNvSpPr txBox="1"/>
          <p:nvPr/>
        </p:nvSpPr>
        <p:spPr>
          <a:xfrm>
            <a:off x="868680" y="3611880"/>
            <a:ext cx="4769968" cy="23774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True take-up for every segment, offer and moment: payday, time of day, device, contract</a:t>
            </a:r>
            <a:endParaRPr lang="en-US" sz="1400" dirty="0"/>
          </a:p>
          <a:p>
            <a:pPr marL="203200" indent="-203200">
              <a:spcAft>
                <a:spcPts val="800"/>
              </a:spcAft>
              <a:buSzPct val="100000"/>
              <a:buChar char="•"/>
            </a:pPr>
            <a:r>
              <a:rPr lang="en-US" sz="1400" dirty="0">
                <a:solidFill>
                  <a:schemeClr val="tx1"/>
                </a:solidFill>
              </a:rPr>
              <a:t>Customers read top-down, with attention 1.0, 0.6 and 0.4, and take up one offer at most</a:t>
            </a:r>
            <a:endParaRPr lang="en-US" sz="1400" dirty="0"/>
          </a:p>
          <a:p>
            <a:pPr marL="203200" indent="-203200">
              <a:spcAft>
                <a:spcPts val="800"/>
              </a:spcAft>
              <a:buSzPct val="100000"/>
              <a:buChar char="•"/>
            </a:pPr>
            <a:r>
              <a:rPr lang="en-US" sz="1400" dirty="0">
                <a:solidFill>
                  <a:schemeClr val="tx1"/>
                </a:solidFill>
              </a:rPr>
              <a:t>Halfway through, tastes shift: streaming goes viral, electricity overtakes funeral cover</a:t>
            </a:r>
            <a:endParaRPr lang="en-US" sz="1400" dirty="0"/>
          </a:p>
          <a:p>
            <a:pPr marL="203200" indent="-203200">
              <a:spcAft>
                <a:spcPts val="800"/>
              </a:spcAft>
              <a:buSzPct val="100000"/>
              <a:buChar char="•"/>
            </a:pPr>
            <a:r>
              <a:rPr lang="en-US" sz="1400" dirty="0">
                <a:solidFill>
                  <a:schemeClr val="tx1"/>
                </a:solidFill>
              </a:rPr>
              <a:t>A test fails if any recommender code imports the simulator or opens its files</a:t>
            </a:r>
            <a:endParaRPr lang="en-US" sz="1400" dirty="0"/>
          </a:p>
        </p:txBody>
      </p:sp>
      <p:sp>
        <p:nvSpPr>
          <p:cNvPr id="18" name="Card 315"/>
          <p:cNvSpPr/>
          <p:nvPr/>
        </p:nvSpPr>
        <p:spPr>
          <a:xfrm>
            <a:off x="6233008" y="2971800"/>
            <a:ext cx="5410048" cy="3154680"/>
          </a:xfrm>
          <a:prstGeom prst="roundRect">
            <a:avLst>
              <a:gd name="adj" fmla="val 2319"/>
            </a:avLst>
          </a:prstGeom>
          <a:solidFill>
            <a:schemeClr val="bg2"/>
          </a:solidFill>
          <a:ln/>
        </p:spPr>
      </p:sp>
      <p:sp>
        <p:nvSpPr>
          <p:cNvPr id="19" name="Text 316"/>
          <p:cNvSpPr txBox="1"/>
          <p:nvPr/>
        </p:nvSpPr>
        <p:spPr>
          <a:xfrm>
            <a:off x="6553048" y="3154680"/>
            <a:ext cx="4769968" cy="365760"/>
          </a:xfrm>
          <a:prstGeom prst="rect">
            <a:avLst/>
          </a:prstGeom>
          <a:noFill/>
          <a:ln/>
        </p:spPr>
        <p:txBody>
          <a:bodyPr wrap="square" lIns="0" tIns="0" rIns="0" bIns="0" rtlCol="0" anchor="t"/>
          <a:lstStyle/>
          <a:p>
            <a:pPr indent="0" marL="0">
              <a:buNone/>
            </a:pPr>
            <a:r>
              <a:rPr lang="en-US" sz="1800" b="1" dirty="0">
                <a:solidFill>
                  <a:schemeClr val="accent1"/>
                </a:solidFill>
              </a:rPr>
              <a:t>A fair race</a:t>
            </a:r>
            <a:endParaRPr lang="en-US" sz="1800" dirty="0"/>
          </a:p>
        </p:txBody>
      </p:sp>
      <p:sp>
        <p:nvSpPr>
          <p:cNvPr id="20" name="Text 317"/>
          <p:cNvSpPr txBox="1"/>
          <p:nvPr/>
        </p:nvSpPr>
        <p:spPr>
          <a:xfrm>
            <a:off x="6553048" y="3611880"/>
            <a:ext cx="4769968" cy="23774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Every policy faces the identical 50,000 app opens in each seed</a:t>
            </a:r>
            <a:endParaRPr lang="en-US" sz="1400" dirty="0"/>
          </a:p>
          <a:p>
            <a:pPr marL="203200" indent="-203200">
              <a:spcAft>
                <a:spcPts val="800"/>
              </a:spcAft>
              <a:buSzPct val="100000"/>
              <a:buChar char="•"/>
            </a:pPr>
            <a:r>
              <a:rPr lang="en-US" sz="1400" dirty="0">
                <a:solidFill>
                  <a:schemeClr val="tx1"/>
                </a:solidFill>
              </a:rPr>
              <a:t>Regret is take-ups lost against an oracle that knows the truth, from expected values</a:t>
            </a:r>
            <a:endParaRPr lang="en-US" sz="1400" dirty="0"/>
          </a:p>
          <a:p>
            <a:pPr marL="203200" indent="-203200">
              <a:spcAft>
                <a:spcPts val="800"/>
              </a:spcAft>
              <a:buSzPct val="100000"/>
              <a:buChar char="•"/>
            </a:pPr>
            <a:r>
              <a:rPr lang="en-US" sz="1400" dirty="0">
                <a:solidFill>
                  <a:schemeClr val="tx1"/>
                </a:solidFill>
              </a:rPr>
              <a:t>10 seeds, compared in pairs, with 95% bootstrap intervals</a:t>
            </a:r>
            <a:endParaRPr lang="en-US" sz="1400" dirty="0"/>
          </a:p>
          <a:p>
            <a:pPr marL="203200" indent="-203200">
              <a:spcAft>
                <a:spcPts val="800"/>
              </a:spcAft>
              <a:buSzPct val="100000"/>
              <a:buChar char="•"/>
            </a:pPr>
            <a:r>
              <a:rPr lang="en-US" sz="1400" dirty="0">
                <a:solidFill>
                  <a:schemeClr val="tx1"/>
                </a:solidFill>
              </a:rPr>
              <a:t>The static model gets a month of history to fit on; the learners start from nothing</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B3  ·  THE BEHAVIOUR SHIFT</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When tastes change, it follows</a:t>
            </a:r>
            <a:endParaRPr lang="en-US" sz="3600" dirty="0"/>
          </a:p>
        </p:txBody>
      </p:sp>
      <p:graphicFrame>
        <p:nvGraphicFramePr>
          <p:cNvPr id="4" name="Before and after chart" descr=""/>
          <p:cNvGraphicFramePr/>
          <p:nvPr/>
        </p:nvGraphicFramePr>
        <p:xfrm>
          <a:off x="548640" y="1572768"/>
          <a:ext cx="6583680" cy="4617720"/>
        </p:xfrm>
        <a:graphic xmlns:a="http://schemas.openxmlformats.org/drawingml/2006/main">
          <a:graphicData uri="http://schemas.openxmlformats.org/drawingml/2006/chart">
            <c:chart xmlns:c="http://schemas.openxmlformats.org/drawingml/2006/chart" r:id="rId1"/>
          </a:graphicData>
        </a:graphic>
      </p:graphicFrame>
      <p:sp>
        <p:nvSpPr>
          <p:cNvPr id="5" name="Step 318"/>
          <p:cNvSpPr txBox="1"/>
          <p:nvPr/>
        </p:nvSpPr>
        <p:spPr>
          <a:xfrm>
            <a:off x="7498080" y="1755648"/>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 319"/>
          <p:cNvSpPr txBox="1"/>
          <p:nvPr/>
        </p:nvSpPr>
        <p:spPr>
          <a:xfrm>
            <a:off x="8065008" y="1691640"/>
            <a:ext cx="3575304" cy="50292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1,460 vs 5,601</a:t>
            </a:r>
            <a:endParaRPr lang="en-US" sz="2600" dirty="0"/>
          </a:p>
        </p:txBody>
      </p:sp>
      <p:sp>
        <p:nvSpPr>
          <p:cNvPr id="7" name="Text 320"/>
          <p:cNvSpPr txBox="1"/>
          <p:nvPr/>
        </p:nvSpPr>
        <p:spPr>
          <a:xfrm>
            <a:off x="8065008" y="2240280"/>
            <a:ext cx="3575304" cy="777240"/>
          </a:xfrm>
          <a:prstGeom prst="rect">
            <a:avLst/>
          </a:prstGeom>
          <a:noFill/>
          <a:ln/>
        </p:spPr>
        <p:txBody>
          <a:bodyPr wrap="square" lIns="0" tIns="0" rIns="0" bIns="0" rtlCol="0" anchor="t"/>
          <a:lstStyle/>
          <a:p>
            <a:pPr indent="0" marL="0">
              <a:buNone/>
            </a:pPr>
            <a:r>
              <a:rPr lang="en-US" sz="1400" dirty="0">
                <a:solidFill>
                  <a:schemeClr val="tx1"/>
                </a:solidFill>
              </a:rPr>
              <a:t>app opens until young professionals' new favourite led: with forgetting, and without</a:t>
            </a:r>
            <a:endParaRPr lang="en-US" sz="1400" dirty="0"/>
          </a:p>
        </p:txBody>
      </p:sp>
      <p:sp>
        <p:nvSpPr>
          <p:cNvPr id="8" name="Step 321"/>
          <p:cNvSpPr txBox="1"/>
          <p:nvPr/>
        </p:nvSpPr>
        <p:spPr>
          <a:xfrm>
            <a:off x="7498080" y="3291840"/>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Text 322"/>
          <p:cNvSpPr txBox="1"/>
          <p:nvPr/>
        </p:nvSpPr>
        <p:spPr>
          <a:xfrm>
            <a:off x="8065008" y="3227832"/>
            <a:ext cx="3575304" cy="50292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7,980 vs never</a:t>
            </a:r>
            <a:endParaRPr lang="en-US" sz="2600" dirty="0"/>
          </a:p>
        </p:txBody>
      </p:sp>
      <p:sp>
        <p:nvSpPr>
          <p:cNvPr id="10" name="Text 323"/>
          <p:cNvSpPr txBox="1"/>
          <p:nvPr/>
        </p:nvSpPr>
        <p:spPr>
          <a:xfrm>
            <a:off x="8065008" y="3776472"/>
            <a:ext cx="3575304" cy="777240"/>
          </a:xfrm>
          <a:prstGeom prst="rect">
            <a:avLst/>
          </a:prstGeom>
          <a:noFill/>
          <a:ln/>
        </p:spPr>
        <p:txBody>
          <a:bodyPr wrap="square" lIns="0" tIns="0" rIns="0" bIns="0" rtlCol="0" anchor="t"/>
          <a:lstStyle/>
          <a:p>
            <a:pPr indent="0" marL="0">
              <a:buNone/>
            </a:pPr>
            <a:r>
              <a:rPr lang="en-US" sz="1400" dirty="0">
                <a:solidFill>
                  <a:schemeClr val="tx1"/>
                </a:solidFill>
              </a:rPr>
              <a:t>for families, whose old favourite was well known. The static model adapts for neither</a:t>
            </a:r>
            <a:endParaRPr lang="en-US" sz="1400" dirty="0"/>
          </a:p>
        </p:txBody>
      </p:sp>
      <p:sp>
        <p:nvSpPr>
          <p:cNvPr id="11" name="Step 324"/>
          <p:cNvSpPr txBox="1"/>
          <p:nvPr/>
        </p:nvSpPr>
        <p:spPr>
          <a:xfrm>
            <a:off x="7498080" y="4828032"/>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Text 325"/>
          <p:cNvSpPr txBox="1"/>
          <p:nvPr/>
        </p:nvSpPr>
        <p:spPr>
          <a:xfrm>
            <a:off x="8065008" y="4764024"/>
            <a:ext cx="3575304" cy="50292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10 of 10</a:t>
            </a:r>
            <a:endParaRPr lang="en-US" sz="2600" dirty="0"/>
          </a:p>
        </p:txBody>
      </p:sp>
      <p:sp>
        <p:nvSpPr>
          <p:cNvPr id="13" name="Text 326"/>
          <p:cNvSpPr txBox="1"/>
          <p:nvPr/>
        </p:nvSpPr>
        <p:spPr>
          <a:xfrm>
            <a:off x="8065008" y="5312664"/>
            <a:ext cx="3575304" cy="777240"/>
          </a:xfrm>
          <a:prstGeom prst="rect">
            <a:avLst/>
          </a:prstGeom>
          <a:noFill/>
          <a:ln/>
        </p:spPr>
        <p:txBody>
          <a:bodyPr wrap="square" lIns="0" tIns="0" rIns="0" bIns="0" rtlCol="0" anchor="t"/>
          <a:lstStyle/>
          <a:p>
            <a:pPr indent="0" marL="0">
              <a:buNone/>
            </a:pPr>
            <a:r>
              <a:rPr lang="en-US" sz="1400" dirty="0">
                <a:solidFill>
                  <a:schemeClr val="tx1"/>
                </a:solidFill>
              </a:rPr>
              <a:t>seeds where forgetting cut regret after the shift, by 130 take-ups; it cost 93 before</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B4  ·  ENGINEERING</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Built to run, not just to demo</a:t>
            </a:r>
            <a:endParaRPr lang="en-US" sz="3600" dirty="0"/>
          </a:p>
        </p:txBody>
      </p:sp>
      <p:sp>
        <p:nvSpPr>
          <p:cNvPr id="4" name="Step 327"/>
          <p:cNvSpPr txBox="1"/>
          <p:nvPr/>
        </p:nvSpPr>
        <p:spPr>
          <a:xfrm>
            <a:off x="548640" y="1728216"/>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5" name="Text 328"/>
          <p:cNvSpPr txBox="1"/>
          <p:nvPr/>
        </p:nvSpPr>
        <p:spPr>
          <a:xfrm>
            <a:off x="1097280" y="1691640"/>
            <a:ext cx="6309360" cy="640080"/>
          </a:xfrm>
          <a:prstGeom prst="rect">
            <a:avLst/>
          </a:prstGeom>
          <a:noFill/>
          <a:ln/>
        </p:spPr>
        <p:txBody>
          <a:bodyPr wrap="square" lIns="0" tIns="0" rIns="0" bIns="0" rtlCol="0" anchor="t"/>
          <a:lstStyle/>
          <a:p>
            <a:pPr indent="0" marL="0">
              <a:buNone/>
            </a:pPr>
            <a:r>
              <a:rPr lang="en-US" sz="1400" b="1" dirty="0">
                <a:solidFill>
                  <a:schemeClr val="tx1"/>
                </a:solidFill>
              </a:rPr>
              <a:t>Idempotent  </a:t>
            </a:r>
            <a:pPr indent="0" marL="0">
              <a:buNone/>
            </a:pPr>
            <a:r>
              <a:rPr lang="en-US" sz="1400" dirty="0">
                <a:solidFill>
                  <a:schemeClr val="tx2"/>
                </a:solidFill>
              </a:rPr>
              <a:t>the database's primary key rejects a repeated response with 409, even across workers</a:t>
            </a:r>
            <a:endParaRPr lang="en-US" sz="1400" dirty="0"/>
          </a:p>
        </p:txBody>
      </p:sp>
      <p:sp>
        <p:nvSpPr>
          <p:cNvPr id="6" name="Step 329"/>
          <p:cNvSpPr txBox="1"/>
          <p:nvPr/>
        </p:nvSpPr>
        <p:spPr>
          <a:xfrm>
            <a:off x="548640" y="2459736"/>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7" name="Text 330"/>
          <p:cNvSpPr txBox="1"/>
          <p:nvPr/>
        </p:nvSpPr>
        <p:spPr>
          <a:xfrm>
            <a:off x="1097280" y="2423160"/>
            <a:ext cx="6309360" cy="640080"/>
          </a:xfrm>
          <a:prstGeom prst="rect">
            <a:avLst/>
          </a:prstGeom>
          <a:noFill/>
          <a:ln/>
        </p:spPr>
        <p:txBody>
          <a:bodyPr wrap="square" lIns="0" tIns="0" rIns="0" bIns="0" rtlCol="0" anchor="t"/>
          <a:lstStyle/>
          <a:p>
            <a:pPr indent="0" marL="0">
              <a:buNone/>
            </a:pPr>
            <a:r>
              <a:rPr lang="en-US" sz="1400" b="1" dirty="0">
                <a:solidFill>
                  <a:schemeClr val="tx1"/>
                </a:solidFill>
              </a:rPr>
              <a:t>Atomic learning  </a:t>
            </a:r>
            <a:pPr indent="0" marL="0">
              <a:buNone/>
            </a:pPr>
            <a:r>
              <a:rPr lang="en-US" sz="1400" dirty="0">
                <a:solidFill>
                  <a:schemeClr val="tx2"/>
                </a:solidFill>
              </a:rPr>
              <a:t>each update is computed inside the database, so concurrent responses never overwrite each other</a:t>
            </a:r>
            <a:endParaRPr lang="en-US" sz="1400" dirty="0"/>
          </a:p>
        </p:txBody>
      </p:sp>
      <p:sp>
        <p:nvSpPr>
          <p:cNvPr id="8" name="Step 331"/>
          <p:cNvSpPr txBox="1"/>
          <p:nvPr/>
        </p:nvSpPr>
        <p:spPr>
          <a:xfrm>
            <a:off x="548640" y="3191256"/>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9" name="Text 332"/>
          <p:cNvSpPr txBox="1"/>
          <p:nvPr/>
        </p:nvSpPr>
        <p:spPr>
          <a:xfrm>
            <a:off x="1097280" y="3154680"/>
            <a:ext cx="6309360" cy="640080"/>
          </a:xfrm>
          <a:prstGeom prst="rect">
            <a:avLst/>
          </a:prstGeom>
          <a:noFill/>
          <a:ln/>
        </p:spPr>
        <p:txBody>
          <a:bodyPr wrap="square" lIns="0" tIns="0" rIns="0" bIns="0" rtlCol="0" anchor="t"/>
          <a:lstStyle/>
          <a:p>
            <a:pPr indent="0" marL="0">
              <a:buNone/>
            </a:pPr>
            <a:r>
              <a:rPr lang="en-US" sz="1400" b="1" dirty="0">
                <a:solidFill>
                  <a:schemeClr val="tx1"/>
                </a:solidFill>
              </a:rPr>
              <a:t>Log first  </a:t>
            </a:r>
            <a:pPr indent="0" marL="0">
              <a:buNone/>
            </a:pPr>
            <a:r>
              <a:rPr lang="en-US" sz="1400" dirty="0">
                <a:solidFill>
                  <a:schemeClr val="tx2"/>
                </a:solidFill>
              </a:rPr>
              <a:t>every app open, offer shown and response is written before the model learns from it</a:t>
            </a:r>
            <a:endParaRPr lang="en-US" sz="1400" dirty="0"/>
          </a:p>
        </p:txBody>
      </p:sp>
      <p:sp>
        <p:nvSpPr>
          <p:cNvPr id="10" name="Step 333"/>
          <p:cNvSpPr txBox="1"/>
          <p:nvPr/>
        </p:nvSpPr>
        <p:spPr>
          <a:xfrm>
            <a:off x="548640" y="3922776"/>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1" name="Text 334"/>
          <p:cNvSpPr txBox="1"/>
          <p:nvPr/>
        </p:nvSpPr>
        <p:spPr>
          <a:xfrm>
            <a:off x="1097280" y="3886200"/>
            <a:ext cx="6309360" cy="640080"/>
          </a:xfrm>
          <a:prstGeom prst="rect">
            <a:avLst/>
          </a:prstGeom>
          <a:noFill/>
          <a:ln/>
        </p:spPr>
        <p:txBody>
          <a:bodyPr wrap="square" lIns="0" tIns="0" rIns="0" bIns="0" rtlCol="0" anchor="t"/>
          <a:lstStyle/>
          <a:p>
            <a:pPr indent="0" marL="0">
              <a:buNone/>
            </a:pPr>
            <a:r>
              <a:rPr lang="en-US" sz="1400" b="1" dirty="0">
                <a:solidFill>
                  <a:schemeClr val="tx1"/>
                </a:solidFill>
              </a:rPr>
              <a:t>One command  </a:t>
            </a:r>
            <a:pPr indent="0" marL="0">
              <a:buNone/>
            </a:pPr>
            <a:r>
              <a:rPr lang="en-US" sz="1400" dirty="0">
                <a:solidFill>
                  <a:schemeClr val="tx2"/>
                </a:solidFill>
              </a:rPr>
              <a:t>docker compose up: Postgres, the API with 4 workers, the dashboard and a first simulation</a:t>
            </a:r>
            <a:endParaRPr lang="en-US" sz="1400" dirty="0"/>
          </a:p>
        </p:txBody>
      </p:sp>
      <p:sp>
        <p:nvSpPr>
          <p:cNvPr id="12" name="Step 335"/>
          <p:cNvSpPr txBox="1"/>
          <p:nvPr/>
        </p:nvSpPr>
        <p:spPr>
          <a:xfrm>
            <a:off x="548640" y="4654296"/>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3" name="Text 336"/>
          <p:cNvSpPr txBox="1"/>
          <p:nvPr/>
        </p:nvSpPr>
        <p:spPr>
          <a:xfrm>
            <a:off x="1097280" y="4617720"/>
            <a:ext cx="6309360" cy="640080"/>
          </a:xfrm>
          <a:prstGeom prst="rect">
            <a:avLst/>
          </a:prstGeom>
          <a:noFill/>
          <a:ln/>
        </p:spPr>
        <p:txBody>
          <a:bodyPr wrap="square" lIns="0" tIns="0" rIns="0" bIns="0" rtlCol="0" anchor="t"/>
          <a:lstStyle/>
          <a:p>
            <a:pPr indent="0" marL="0">
              <a:buNone/>
            </a:pPr>
            <a:r>
              <a:rPr lang="en-US" sz="1400" b="1" dirty="0">
                <a:solidFill>
                  <a:schemeClr val="tx1"/>
                </a:solidFill>
              </a:rPr>
              <a:t>Quality gates  </a:t>
            </a:r>
            <a:pPr indent="0" marL="0">
              <a:buNone/>
            </a:pPr>
            <a:r>
              <a:rPr lang="en-US" sz="1400" dirty="0">
                <a:solidFill>
                  <a:schemeClr val="tx2"/>
                </a:solidFill>
              </a:rPr>
              <a:t>ruff, mypy, 252 tests on SQLite and Postgres in CI, and docs that fail the build when stale</a:t>
            </a:r>
            <a:endParaRPr lang="en-US" sz="1400" dirty="0"/>
          </a:p>
        </p:txBody>
      </p:sp>
      <p:sp>
        <p:nvSpPr>
          <p:cNvPr id="14" name="Step 337"/>
          <p:cNvSpPr txBox="1"/>
          <p:nvPr/>
        </p:nvSpPr>
        <p:spPr>
          <a:xfrm>
            <a:off x="548640" y="5385816"/>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5" name="Text 338"/>
          <p:cNvSpPr txBox="1"/>
          <p:nvPr/>
        </p:nvSpPr>
        <p:spPr>
          <a:xfrm>
            <a:off x="1097280" y="5349240"/>
            <a:ext cx="6309360" cy="640080"/>
          </a:xfrm>
          <a:prstGeom prst="rect">
            <a:avLst/>
          </a:prstGeom>
          <a:noFill/>
          <a:ln/>
        </p:spPr>
        <p:txBody>
          <a:bodyPr wrap="square" lIns="0" tIns="0" rIns="0" bIns="0" rtlCol="0" anchor="t"/>
          <a:lstStyle/>
          <a:p>
            <a:pPr indent="0" marL="0">
              <a:buNone/>
            </a:pPr>
            <a:r>
              <a:rPr lang="en-US" sz="1400" b="1" dirty="0">
                <a:solidFill>
                  <a:schemeClr val="tx1"/>
                </a:solidFill>
              </a:rPr>
              <a:t>Decisions on record  </a:t>
            </a:r>
            <a:pPr indent="0" marL="0">
              <a:buNone/>
            </a:pPr>
            <a:r>
              <a:rPr lang="en-US" sz="1400" dirty="0">
                <a:solidFill>
                  <a:schemeClr val="tx2"/>
                </a:solidFill>
              </a:rPr>
              <a:t>98 judgement calls written down with their reasons in DECISIONS.md</a:t>
            </a:r>
            <a:endParaRPr lang="en-US" sz="1400" dirty="0"/>
          </a:p>
        </p:txBody>
      </p:sp>
      <p:sp>
        <p:nvSpPr>
          <p:cNvPr id="16" name="Card 339"/>
          <p:cNvSpPr/>
          <p:nvPr/>
        </p:nvSpPr>
        <p:spPr>
          <a:xfrm>
            <a:off x="7680960" y="1691640"/>
            <a:ext cx="3959352" cy="1298448"/>
          </a:xfrm>
          <a:prstGeom prst="roundRect">
            <a:avLst>
              <a:gd name="adj" fmla="val 5634"/>
            </a:avLst>
          </a:prstGeom>
          <a:solidFill>
            <a:schemeClr val="bg2"/>
          </a:solidFill>
          <a:ln/>
        </p:spPr>
      </p:sp>
      <p:sp>
        <p:nvSpPr>
          <p:cNvPr id="17" name="Text 340"/>
          <p:cNvSpPr txBox="1"/>
          <p:nvPr/>
        </p:nvSpPr>
        <p:spPr>
          <a:xfrm>
            <a:off x="7955280" y="1819656"/>
            <a:ext cx="3410712" cy="548640"/>
          </a:xfrm>
          <a:prstGeom prst="rect">
            <a:avLst/>
          </a:prstGeom>
          <a:noFill/>
          <a:ln/>
        </p:spPr>
        <p:txBody>
          <a:bodyPr wrap="square" lIns="0" tIns="0" rIns="0" bIns="0" rtlCol="0" anchor="t"/>
          <a:lstStyle/>
          <a:p>
            <a:pPr indent="0" marL="0">
              <a:buNone/>
            </a:pPr>
            <a:r>
              <a:rPr lang="en-US" sz="3200" b="1" dirty="0">
                <a:solidFill>
                  <a:schemeClr val="accent1"/>
                </a:solidFill>
                <a:latin typeface="+mj-lt" pitchFamily="34" charset="0"/>
                <a:ea typeface="+mj-lt" pitchFamily="34" charset="-122"/>
                <a:cs typeface="+mj-lt" pitchFamily="34" charset="-120"/>
              </a:rPr>
              <a:t>11 ms</a:t>
            </a:r>
            <a:endParaRPr lang="en-US" sz="3200" dirty="0"/>
          </a:p>
        </p:txBody>
      </p:sp>
      <p:sp>
        <p:nvSpPr>
          <p:cNvPr id="18" name="Text 341"/>
          <p:cNvSpPr txBox="1"/>
          <p:nvPr/>
        </p:nvSpPr>
        <p:spPr>
          <a:xfrm>
            <a:off x="7955280" y="2404872"/>
            <a:ext cx="3410712" cy="512064"/>
          </a:xfrm>
          <a:prstGeom prst="rect">
            <a:avLst/>
          </a:prstGeom>
          <a:noFill/>
          <a:ln/>
        </p:spPr>
        <p:txBody>
          <a:bodyPr wrap="square" lIns="0" tIns="0" rIns="0" bIns="0" rtlCol="0" anchor="t"/>
          <a:lstStyle/>
          <a:p>
            <a:pPr indent="0" marL="0">
              <a:buNone/>
            </a:pPr>
            <a:r>
              <a:rPr lang="en-US" sz="1300" dirty="0">
                <a:solidFill>
                  <a:schemeClr val="tx1"/>
                </a:solidFill>
              </a:rPr>
              <a:t>p95 to rank an app open, one worker, real HTTP and Postgres</a:t>
            </a:r>
            <a:endParaRPr lang="en-US" sz="1300" dirty="0"/>
          </a:p>
        </p:txBody>
      </p:sp>
      <p:sp>
        <p:nvSpPr>
          <p:cNvPr id="19" name="Card 342"/>
          <p:cNvSpPr/>
          <p:nvPr/>
        </p:nvSpPr>
        <p:spPr>
          <a:xfrm>
            <a:off x="7680960" y="3154680"/>
            <a:ext cx="3959352" cy="1298448"/>
          </a:xfrm>
          <a:prstGeom prst="roundRect">
            <a:avLst>
              <a:gd name="adj" fmla="val 5634"/>
            </a:avLst>
          </a:prstGeom>
          <a:solidFill>
            <a:schemeClr val="bg2"/>
          </a:solidFill>
          <a:ln/>
        </p:spPr>
      </p:sp>
      <p:sp>
        <p:nvSpPr>
          <p:cNvPr id="20" name="Text 343"/>
          <p:cNvSpPr txBox="1"/>
          <p:nvPr/>
        </p:nvSpPr>
        <p:spPr>
          <a:xfrm>
            <a:off x="7955280" y="3282696"/>
            <a:ext cx="3410712" cy="548640"/>
          </a:xfrm>
          <a:prstGeom prst="rect">
            <a:avLst/>
          </a:prstGeom>
          <a:noFill/>
          <a:ln/>
        </p:spPr>
        <p:txBody>
          <a:bodyPr wrap="square" lIns="0" tIns="0" rIns="0" bIns="0" rtlCol="0" anchor="t"/>
          <a:lstStyle/>
          <a:p>
            <a:pPr indent="0" marL="0">
              <a:buNone/>
            </a:pPr>
            <a:r>
              <a:rPr lang="en-US" sz="3200" b="1" dirty="0">
                <a:solidFill>
                  <a:schemeClr val="accent1"/>
                </a:solidFill>
                <a:latin typeface="+mj-lt" pitchFamily="34" charset="0"/>
                <a:ea typeface="+mj-lt" pitchFamily="34" charset="-122"/>
                <a:cs typeface="+mj-lt" pitchFamily="34" charset="-120"/>
              </a:rPr>
              <a:t>224 req/s</a:t>
            </a:r>
            <a:endParaRPr lang="en-US" sz="3200" dirty="0"/>
          </a:p>
        </p:txBody>
      </p:sp>
      <p:sp>
        <p:nvSpPr>
          <p:cNvPr id="21" name="Text 344"/>
          <p:cNvSpPr txBox="1"/>
          <p:nvPr/>
        </p:nvSpPr>
        <p:spPr>
          <a:xfrm>
            <a:off x="7955280" y="3867912"/>
            <a:ext cx="3410712" cy="512064"/>
          </a:xfrm>
          <a:prstGeom prst="rect">
            <a:avLst/>
          </a:prstGeom>
          <a:noFill/>
          <a:ln/>
        </p:spPr>
        <p:txBody>
          <a:bodyPr wrap="square" lIns="0" tIns="0" rIns="0" bIns="0" rtlCol="0" anchor="t"/>
          <a:lstStyle/>
          <a:p>
            <a:pPr indent="0" marL="0">
              <a:buNone/>
            </a:pPr>
            <a:r>
              <a:rPr lang="en-US" sz="1300" dirty="0">
                <a:solidFill>
                  <a:schemeClr val="tx1"/>
                </a:solidFill>
              </a:rPr>
              <a:t>with 4 workers in Docker, p95 under 25 ms up to 4 concurrent clients</a:t>
            </a:r>
            <a:endParaRPr lang="en-US" sz="1300" dirty="0"/>
          </a:p>
        </p:txBody>
      </p:sp>
      <p:sp>
        <p:nvSpPr>
          <p:cNvPr id="22" name="Card 345"/>
          <p:cNvSpPr/>
          <p:nvPr/>
        </p:nvSpPr>
        <p:spPr>
          <a:xfrm>
            <a:off x="7680960" y="4617720"/>
            <a:ext cx="3959352" cy="1298448"/>
          </a:xfrm>
          <a:prstGeom prst="roundRect">
            <a:avLst>
              <a:gd name="adj" fmla="val 5634"/>
            </a:avLst>
          </a:prstGeom>
          <a:solidFill>
            <a:schemeClr val="bg2"/>
          </a:solidFill>
          <a:ln/>
        </p:spPr>
      </p:sp>
      <p:sp>
        <p:nvSpPr>
          <p:cNvPr id="23" name="Text 346"/>
          <p:cNvSpPr txBox="1"/>
          <p:nvPr/>
        </p:nvSpPr>
        <p:spPr>
          <a:xfrm>
            <a:off x="7955280" y="4745736"/>
            <a:ext cx="3410712" cy="548640"/>
          </a:xfrm>
          <a:prstGeom prst="rect">
            <a:avLst/>
          </a:prstGeom>
          <a:noFill/>
          <a:ln/>
        </p:spPr>
        <p:txBody>
          <a:bodyPr wrap="square" lIns="0" tIns="0" rIns="0" bIns="0" rtlCol="0" anchor="t"/>
          <a:lstStyle/>
          <a:p>
            <a:pPr indent="0" marL="0">
              <a:buNone/>
            </a:pPr>
            <a:r>
              <a:rPr lang="en-US" sz="3200" b="1" dirty="0">
                <a:solidFill>
                  <a:schemeClr val="accent1"/>
                </a:solidFill>
                <a:latin typeface="+mj-lt" pitchFamily="34" charset="0"/>
                <a:ea typeface="+mj-lt" pitchFamily="34" charset="-122"/>
                <a:cs typeface="+mj-lt" pitchFamily="34" charset="-120"/>
              </a:rPr>
              <a:t>252</a:t>
            </a:r>
            <a:endParaRPr lang="en-US" sz="3200" dirty="0"/>
          </a:p>
        </p:txBody>
      </p:sp>
      <p:sp>
        <p:nvSpPr>
          <p:cNvPr id="24" name="Text 347"/>
          <p:cNvSpPr txBox="1"/>
          <p:nvPr/>
        </p:nvSpPr>
        <p:spPr>
          <a:xfrm>
            <a:off x="7955280" y="5330952"/>
            <a:ext cx="3410712" cy="512064"/>
          </a:xfrm>
          <a:prstGeom prst="rect">
            <a:avLst/>
          </a:prstGeom>
          <a:noFill/>
          <a:ln/>
        </p:spPr>
        <p:txBody>
          <a:bodyPr wrap="square" lIns="0" tIns="0" rIns="0" bIns="0" rtlCol="0" anchor="t"/>
          <a:lstStyle/>
          <a:p>
            <a:pPr indent="0" marL="0">
              <a:buNone/>
            </a:pPr>
            <a:r>
              <a:rPr lang="en-US" sz="1300" dirty="0">
                <a:solidFill>
                  <a:schemeClr val="tx1"/>
                </a:solidFill>
              </a:rPr>
              <a:t>automated tests, from the domain rules to every dashboard page</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B5  ·  SEE IT RUN</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Be the customer, watch the belief move</a:t>
            </a:r>
            <a:endParaRPr lang="en-US" sz="3600" dirty="0"/>
          </a:p>
        </p:txBody>
      </p:sp>
      <p:sp>
        <p:nvSpPr>
          <p:cNvPr id="4" name="Screenshot frame"/>
          <p:cNvSpPr/>
          <p:nvPr/>
        </p:nvSpPr>
        <p:spPr>
          <a:xfrm>
            <a:off x="530352" y="1627632"/>
            <a:ext cx="6437376" cy="4471416"/>
          </a:xfrm>
          <a:prstGeom prst="rect">
            <a:avLst/>
          </a:prstGeom>
          <a:solidFill>
            <a:schemeClr val="bg1"/>
          </a:solidFill>
          <a:ln w="12700">
            <a:solidFill>
              <a:schemeClr val="accent3"/>
            </a:solidFill>
            <a:prstDash val="solid"/>
          </a:ln>
        </p:spPr>
      </p:sp>
      <p:pic>
        <p:nvPicPr>
          <p:cNvPr id="5" name="Try it screenshot" descr="The dashboard's Try it page: a student is shown three offers, and taking up the first moves its mean take-up from 5.0% to 9.5%.">    </p:cNvPr>
          <p:cNvPicPr>
            <a:picLocks noChangeAspect="1"/>
          </p:cNvPicPr>
          <p:nvPr/>
        </p:nvPicPr>
        <p:blipFill>
          <a:blip r:embed="rId1"/>
          <a:stretch>
            <a:fillRect/>
          </a:stretch>
        </p:blipFill>
        <p:spPr>
          <a:xfrm>
            <a:off x="548640" y="1645920"/>
            <a:ext cx="6400800" cy="4416552"/>
          </a:xfrm>
          <a:prstGeom prst="rect">
            <a:avLst/>
          </a:prstGeom>
        </p:spPr>
      </p:pic>
      <p:sp>
        <p:nvSpPr>
          <p:cNvPr id="6" name="Text 348"/>
          <p:cNvSpPr txBox="1"/>
          <p:nvPr/>
        </p:nvSpPr>
        <p:spPr>
          <a:xfrm>
            <a:off x="7406640" y="1645920"/>
            <a:ext cx="4233672" cy="365760"/>
          </a:xfrm>
          <a:prstGeom prst="rect">
            <a:avLst/>
          </a:prstGeom>
          <a:noFill/>
          <a:ln/>
        </p:spPr>
        <p:txBody>
          <a:bodyPr wrap="square" lIns="0" tIns="0" rIns="0" bIns="0" rtlCol="0" anchor="t"/>
          <a:lstStyle/>
          <a:p>
            <a:pPr indent="0" marL="0">
              <a:buNone/>
            </a:pPr>
            <a:r>
              <a:rPr lang="en-US" sz="1800" b="1" dirty="0">
                <a:solidFill>
                  <a:schemeClr val="tx1"/>
                </a:solidFill>
              </a:rPr>
              <a:t>The demo, in about three minutes</a:t>
            </a:r>
            <a:endParaRPr lang="en-US" sz="1800" dirty="0"/>
          </a:p>
        </p:txBody>
      </p:sp>
      <p:sp>
        <p:nvSpPr>
          <p:cNvPr id="7" name="Step 349"/>
          <p:cNvSpPr txBox="1"/>
          <p:nvPr/>
        </p:nvSpPr>
        <p:spPr>
          <a:xfrm>
            <a:off x="7406640" y="2148840"/>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350"/>
          <p:cNvSpPr txBox="1"/>
          <p:nvPr/>
        </p:nvSpPr>
        <p:spPr>
          <a:xfrm>
            <a:off x="7936992" y="2176272"/>
            <a:ext cx="3703320" cy="292608"/>
          </a:xfrm>
          <a:prstGeom prst="rect">
            <a:avLst/>
          </a:prstGeom>
          <a:noFill/>
          <a:ln/>
        </p:spPr>
        <p:txBody>
          <a:bodyPr wrap="square" lIns="0" tIns="0" rIns="0" bIns="0" rtlCol="0" anchor="t"/>
          <a:lstStyle/>
          <a:p>
            <a:pPr indent="0" marL="0">
              <a:buNone/>
            </a:pPr>
            <a:r>
              <a:rPr lang="en-US" sz="1300" b="1" dirty="0">
                <a:solidFill>
                  <a:schemeClr val="tx1"/>
                </a:solidFill>
                <a:latin typeface="Consolas" pitchFamily="34" charset="0"/>
                <a:ea typeface="Consolas" pitchFamily="34" charset="-122"/>
                <a:cs typeface="Consolas" pitchFamily="34" charset="-120"/>
              </a:rPr>
              <a:t>python manage.py runserver</a:t>
            </a:r>
            <a:endParaRPr lang="en-US" sz="1300" dirty="0"/>
          </a:p>
        </p:txBody>
      </p:sp>
      <p:sp>
        <p:nvSpPr>
          <p:cNvPr id="9" name="Text 351"/>
          <p:cNvSpPr txBox="1"/>
          <p:nvPr/>
        </p:nvSpPr>
        <p:spPr>
          <a:xfrm>
            <a:off x="7936992" y="2487168"/>
            <a:ext cx="3703320" cy="548640"/>
          </a:xfrm>
          <a:prstGeom prst="rect">
            <a:avLst/>
          </a:prstGeom>
          <a:noFill/>
          <a:ln/>
        </p:spPr>
        <p:txBody>
          <a:bodyPr wrap="square" lIns="0" tIns="0" rIns="0" bIns="0" rtlCol="0" anchor="t"/>
          <a:lstStyle/>
          <a:p>
            <a:pPr indent="0" marL="0">
              <a:buNone/>
            </a:pPr>
            <a:r>
              <a:rPr lang="en-US" sz="1300" dirty="0">
                <a:solidFill>
                  <a:schemeClr val="tx2"/>
                </a:solidFill>
              </a:rPr>
              <a:t>the API on :8000 and the dashboard on :8501</a:t>
            </a:r>
            <a:endParaRPr lang="en-US" sz="1300" dirty="0"/>
          </a:p>
        </p:txBody>
      </p:sp>
      <p:sp>
        <p:nvSpPr>
          <p:cNvPr id="10" name="Step 352"/>
          <p:cNvSpPr txBox="1"/>
          <p:nvPr/>
        </p:nvSpPr>
        <p:spPr>
          <a:xfrm>
            <a:off x="7406640" y="3044952"/>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353"/>
          <p:cNvSpPr txBox="1"/>
          <p:nvPr/>
        </p:nvSpPr>
        <p:spPr>
          <a:xfrm>
            <a:off x="7936992" y="3072384"/>
            <a:ext cx="3703320" cy="292608"/>
          </a:xfrm>
          <a:prstGeom prst="rect">
            <a:avLst/>
          </a:prstGeom>
          <a:noFill/>
          <a:ln/>
        </p:spPr>
        <p:txBody>
          <a:bodyPr wrap="square" lIns="0" tIns="0" rIns="0" bIns="0" rtlCol="0" anchor="t"/>
          <a:lstStyle/>
          <a:p>
            <a:pPr indent="0" marL="0">
              <a:buNone/>
            </a:pPr>
            <a:r>
              <a:rPr lang="en-US" sz="1500" b="1" dirty="0">
                <a:solidFill>
                  <a:schemeClr val="tx1"/>
                </a:solidFill>
              </a:rPr>
              <a:t>Try it</a:t>
            </a:r>
            <a:endParaRPr lang="en-US" sz="1500" dirty="0"/>
          </a:p>
        </p:txBody>
      </p:sp>
      <p:sp>
        <p:nvSpPr>
          <p:cNvPr id="12" name="Text 354"/>
          <p:cNvSpPr txBox="1"/>
          <p:nvPr/>
        </p:nvSpPr>
        <p:spPr>
          <a:xfrm>
            <a:off x="7936992" y="3383280"/>
            <a:ext cx="3703320" cy="548640"/>
          </a:xfrm>
          <a:prstGeom prst="rect">
            <a:avLst/>
          </a:prstGeom>
          <a:noFill/>
          <a:ln/>
        </p:spPr>
        <p:txBody>
          <a:bodyPr wrap="square" lIns="0" tIns="0" rIns="0" bIns="0" rtlCol="0" anchor="t"/>
          <a:lstStyle/>
          <a:p>
            <a:pPr indent="0" marL="0">
              <a:buNone/>
            </a:pPr>
            <a:r>
              <a:rPr lang="en-US" sz="1300" dirty="0">
                <a:solidFill>
                  <a:schemeClr val="tx2"/>
                </a:solidFill>
              </a:rPr>
              <a:t>a student opens the app; take up the top offer and its mean take-up moves from 5.0% to 9.5%</a:t>
            </a:r>
            <a:endParaRPr lang="en-US" sz="1300" dirty="0"/>
          </a:p>
        </p:txBody>
      </p:sp>
      <p:sp>
        <p:nvSpPr>
          <p:cNvPr id="13" name="Step 355"/>
          <p:cNvSpPr txBox="1"/>
          <p:nvPr/>
        </p:nvSpPr>
        <p:spPr>
          <a:xfrm>
            <a:off x="7406640" y="3941064"/>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356"/>
          <p:cNvSpPr txBox="1"/>
          <p:nvPr/>
        </p:nvSpPr>
        <p:spPr>
          <a:xfrm>
            <a:off x="7936992" y="3968496"/>
            <a:ext cx="3703320" cy="292608"/>
          </a:xfrm>
          <a:prstGeom prst="rect">
            <a:avLst/>
          </a:prstGeom>
          <a:noFill/>
          <a:ln/>
        </p:spPr>
        <p:txBody>
          <a:bodyPr wrap="square" lIns="0" tIns="0" rIns="0" bIns="0" rtlCol="0" anchor="t"/>
          <a:lstStyle/>
          <a:p>
            <a:pPr indent="0" marL="0">
              <a:buNone/>
            </a:pPr>
            <a:r>
              <a:rPr lang="en-US" sz="1500" b="1" dirty="0">
                <a:solidFill>
                  <a:schemeClr val="tx1"/>
                </a:solidFill>
              </a:rPr>
              <a:t>Live view</a:t>
            </a:r>
            <a:endParaRPr lang="en-US" sz="1500" dirty="0"/>
          </a:p>
        </p:txBody>
      </p:sp>
      <p:sp>
        <p:nvSpPr>
          <p:cNvPr id="15" name="Text 357"/>
          <p:cNvSpPr txBox="1"/>
          <p:nvPr/>
        </p:nvSpPr>
        <p:spPr>
          <a:xfrm>
            <a:off x="7936992" y="4279392"/>
            <a:ext cx="3703320" cy="548640"/>
          </a:xfrm>
          <a:prstGeom prst="rect">
            <a:avLst/>
          </a:prstGeom>
          <a:noFill/>
          <a:ln/>
        </p:spPr>
        <p:txBody>
          <a:bodyPr wrap="square" lIns="0" tIns="0" rIns="0" bIns="0" rtlCol="0" anchor="t"/>
          <a:lstStyle/>
          <a:p>
            <a:pPr indent="0" marL="0">
              <a:buNone/>
            </a:pPr>
            <a:r>
              <a:rPr lang="en-US" sz="1300" dirty="0">
                <a:solidFill>
                  <a:schemeClr val="tx2"/>
                </a:solidFill>
              </a:rPr>
              <a:t>app opens and outcomes arriving through the API</a:t>
            </a:r>
            <a:endParaRPr lang="en-US" sz="1300" dirty="0"/>
          </a:p>
        </p:txBody>
      </p:sp>
      <p:sp>
        <p:nvSpPr>
          <p:cNvPr id="16" name="Step 358"/>
          <p:cNvSpPr txBox="1"/>
          <p:nvPr/>
        </p:nvSpPr>
        <p:spPr>
          <a:xfrm>
            <a:off x="7406640" y="4837176"/>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7" name="Text 359"/>
          <p:cNvSpPr txBox="1"/>
          <p:nvPr/>
        </p:nvSpPr>
        <p:spPr>
          <a:xfrm>
            <a:off x="7936992" y="4864608"/>
            <a:ext cx="3703320" cy="292608"/>
          </a:xfrm>
          <a:prstGeom prst="rect">
            <a:avLst/>
          </a:prstGeom>
          <a:noFill/>
          <a:ln/>
        </p:spPr>
        <p:txBody>
          <a:bodyPr wrap="square" lIns="0" tIns="0" rIns="0" bIns="0" rtlCol="0" anchor="t"/>
          <a:lstStyle/>
          <a:p>
            <a:pPr indent="0" marL="0">
              <a:buNone/>
            </a:pPr>
            <a:r>
              <a:rPr lang="en-US" sz="1500" b="1" dirty="0">
                <a:solidFill>
                  <a:schemeClr val="tx1"/>
                </a:solidFill>
              </a:rPr>
              <a:t>Algorithm comparison</a:t>
            </a:r>
            <a:endParaRPr lang="en-US" sz="1500" dirty="0"/>
          </a:p>
        </p:txBody>
      </p:sp>
      <p:sp>
        <p:nvSpPr>
          <p:cNvPr id="18" name="Text 360"/>
          <p:cNvSpPr txBox="1"/>
          <p:nvPr/>
        </p:nvSpPr>
        <p:spPr>
          <a:xfrm>
            <a:off x="7936992" y="5175504"/>
            <a:ext cx="3703320" cy="548640"/>
          </a:xfrm>
          <a:prstGeom prst="rect">
            <a:avLst/>
          </a:prstGeom>
          <a:noFill/>
          <a:ln/>
        </p:spPr>
        <p:txBody>
          <a:bodyPr wrap="square" lIns="0" tIns="0" rIns="0" bIns="0" rtlCol="0" anchor="t"/>
          <a:lstStyle/>
          <a:p>
            <a:pPr indent="0" marL="0">
              <a:buNone/>
            </a:pPr>
            <a:r>
              <a:rPr lang="en-US" sz="1300" dirty="0">
                <a:solidFill>
                  <a:schemeClr val="tx2"/>
                </a:solidFill>
              </a:rPr>
              <a:t>the results, told as a story with the charts</a:t>
            </a:r>
            <a:endParaRPr lang="en-US" sz="1300" dirty="0"/>
          </a:p>
        </p:txBody>
      </p:sp>
      <p:sp>
        <p:nvSpPr>
          <p:cNvPr id="19" name="Text 361"/>
          <p:cNvSpPr txBox="1"/>
          <p:nvPr/>
        </p:nvSpPr>
        <p:spPr>
          <a:xfrm>
            <a:off x="7406640" y="5715000"/>
            <a:ext cx="4233672" cy="457200"/>
          </a:xfrm>
          <a:prstGeom prst="rect">
            <a:avLst/>
          </a:prstGeom>
          <a:noFill/>
          <a:ln/>
        </p:spPr>
        <p:txBody>
          <a:bodyPr wrap="square" lIns="0" tIns="0" rIns="0" bIns="0" rtlCol="0" anchor="t"/>
          <a:lstStyle/>
          <a:p>
            <a:pPr indent="0" marL="0">
              <a:buNone/>
            </a:pPr>
            <a:r>
              <a:rPr lang="en-US" sz="1200" i="1" dirty="0">
                <a:solidFill>
                  <a:schemeClr val="accent1"/>
                </a:solidFill>
              </a:rPr>
              <a:t>Works with nothing installed but Python: SQLite, and the API in-process when no server is running.</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B6  ·  THE BRIEF'S CONCEPTS</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The brief's concepts, from first principles</a:t>
            </a:r>
            <a:endParaRPr lang="en-US" sz="3600" dirty="0"/>
          </a:p>
        </p:txBody>
      </p:sp>
      <p:graphicFrame>
        <p:nvGraphicFramePr>
          <p:cNvPr id="20" name="Concept 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429000"/>
                <a:gridCol w="7665415"/>
              </a:tblGrid>
              <a:tr h="566928">
                <a:tc>
                  <a:txBody>
                    <a:bodyPr/>
                    <a:lstStyle/>
                    <a:p>
                      <a:pPr indent="0" marL="0">
                        <a:buNone/>
                      </a:pPr>
                      <a:r>
                        <a:rPr lang="en-US" sz="1400" b="1" dirty="0">
                          <a:solidFill>
                            <a:schemeClr val="bg1"/>
                          </a:solidFill>
                        </a:rPr>
                        <a:t>Concept</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Where it lives in this project</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r>
              <a:tr h="566928">
                <a:tc>
                  <a:txBody>
                    <a:bodyPr/>
                    <a:lstStyle/>
                    <a:p>
                      <a:pPr indent="0" marL="0">
                        <a:buNone/>
                      </a:pPr>
                      <a:r>
                        <a:rPr lang="en-US" sz="1400" b="1" dirty="0">
                          <a:solidFill>
                            <a:schemeClr val="tx1"/>
                          </a:solidFill>
                        </a:rPr>
                        <a:t>Dynamic recommender, real-time scoring</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POST /invocations ranks from the current beliefs on every request, with no batch step</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Options store</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One row per policy, context and offer; the database computes α and β, so they can't disagree with the counts</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Real-time feedback</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POST /response updates the belief before it returns; the next app open uses it</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Epsilon-greedy and Thompson sampling</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Both, with global, per-segment and per-segment-and-payday contexts, compared like for like</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Forgetting</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Discounted evidence per context, measured before and after a behaviour shift and across 6 worlds</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Presentation and response logging</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Every app open with its context, every offer shown and its position, every response</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r>
            </a:tbl>
          </a:graphicData>
        </a:graphic>
      </p:graphicFrame>
      <p:sp>
        <p:nvSpPr>
          <p:cNvPr id="5" name="Text 362"/>
          <p:cNvSpPr txBox="1"/>
          <p:nvPr/>
        </p:nvSpPr>
        <p:spPr>
          <a:xfrm>
            <a:off x="548640" y="5806440"/>
            <a:ext cx="11094415" cy="320040"/>
          </a:xfrm>
          <a:prstGeom prst="rect">
            <a:avLst/>
          </a:prstGeom>
          <a:noFill/>
          <a:ln/>
        </p:spPr>
        <p:txBody>
          <a:bodyPr wrap="square" lIns="0" tIns="0" rIns="0" bIns="0" rtlCol="0" anchor="t"/>
          <a:lstStyle/>
          <a:p>
            <a:pPr indent="0" marL="0">
              <a:buNone/>
            </a:pPr>
            <a:r>
              <a:rPr lang="en-US" sz="1200" i="1" dirty="0">
                <a:solidFill>
                  <a:schemeClr val="tx2"/>
                </a:solidFill>
              </a:rPr>
              <a:t>Implemented from scratch in Python. It does not use ecosystem.Ai's product or APIs.</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Recommender">
  <a:themeElements>
    <a:clrScheme name="Recommender">
      <a:dk1>
        <a:srgbClr val="13202A"/>
      </a:dk1>
      <a:lt1>
        <a:srgbClr val="FFFFFF"/>
      </a:lt1>
      <a:dk2>
        <a:srgbClr val="566773"/>
      </a:dk2>
      <a:lt2>
        <a:srgbClr val="EAF2F5"/>
      </a:lt2>
      <a:accent1>
        <a:srgbClr val="0D6987"/>
      </a:accent1>
      <a:accent2>
        <a:srgbClr val="D98E2B"/>
      </a:accent2>
      <a:accent3>
        <a:srgbClr val="9AA9B4"/>
      </a:accent3>
      <a:accent4>
        <a:srgbClr val="2B7A4B"/>
      </a:accent4>
      <a:accent5>
        <a:srgbClr val="5BB6D6"/>
      </a:accent5>
      <a:accent6>
        <a:srgbClr val="A35F08"/>
      </a:accent6>
      <a:hlink>
        <a:srgbClr val="0D6987"/>
      </a:hlink>
      <a:folHlink>
        <a:srgbClr val="566773"/>
      </a:folHlink>
    </a:clrScheme>
    <a:fontScheme name="Recommend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Sean Mukariri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recommender that learns from every tap</dc:title>
  <dc:subject>Real-time dynamic offer recommender: portfolio project (revised)</dc:subject>
  <dc:creator>Sean Mukariri</dc:creator>
  <cp:lastModifiedBy>Sean Mukariri</cp:lastModifiedBy>
  <cp:revision>1</cp:revision>
  <dcterms:created xsi:type="dcterms:W3CDTF">2026-10-21T11:46:18Z</dcterms:created>
  <dcterms:modified xsi:type="dcterms:W3CDTF">2026-10-21T11:46:18Z</dcterms:modified>
</cp:coreProperties>
</file>